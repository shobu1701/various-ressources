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2.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0" r:id="rId2"/>
  </p:sldMasterIdLst>
  <p:notesMasterIdLst>
    <p:notesMasterId r:id="rId63"/>
  </p:notesMasterIdLst>
  <p:handoutMasterIdLst>
    <p:handoutMasterId r:id="rId64"/>
  </p:handoutMasterIdLst>
  <p:sldIdLst>
    <p:sldId id="357" r:id="rId3"/>
    <p:sldId id="476" r:id="rId4"/>
    <p:sldId id="477" r:id="rId5"/>
    <p:sldId id="630" r:id="rId6"/>
    <p:sldId id="622" r:id="rId7"/>
    <p:sldId id="626" r:id="rId8"/>
    <p:sldId id="627" r:id="rId9"/>
    <p:sldId id="628" r:id="rId10"/>
    <p:sldId id="625" r:id="rId11"/>
    <p:sldId id="671" r:id="rId12"/>
    <p:sldId id="623" r:id="rId13"/>
    <p:sldId id="624" r:id="rId14"/>
    <p:sldId id="679" r:id="rId15"/>
    <p:sldId id="629" r:id="rId16"/>
    <p:sldId id="661" r:id="rId17"/>
    <p:sldId id="660" r:id="rId18"/>
    <p:sldId id="662" r:id="rId19"/>
    <p:sldId id="673" r:id="rId20"/>
    <p:sldId id="654" r:id="rId21"/>
    <p:sldId id="650" r:id="rId22"/>
    <p:sldId id="674" r:id="rId23"/>
    <p:sldId id="675" r:id="rId24"/>
    <p:sldId id="676" r:id="rId25"/>
    <p:sldId id="677" r:id="rId26"/>
    <p:sldId id="678" r:id="rId27"/>
    <p:sldId id="478" r:id="rId28"/>
    <p:sldId id="479" r:id="rId29"/>
    <p:sldId id="616" r:id="rId30"/>
    <p:sldId id="680" r:id="rId31"/>
    <p:sldId id="681" r:id="rId32"/>
    <p:sldId id="682" r:id="rId33"/>
    <p:sldId id="683" r:id="rId34"/>
    <p:sldId id="684" r:id="rId35"/>
    <p:sldId id="685" r:id="rId36"/>
    <p:sldId id="686" r:id="rId37"/>
    <p:sldId id="687" r:id="rId38"/>
    <p:sldId id="688" r:id="rId39"/>
    <p:sldId id="689" r:id="rId40"/>
    <p:sldId id="690" r:id="rId41"/>
    <p:sldId id="691" r:id="rId42"/>
    <p:sldId id="692" r:id="rId43"/>
    <p:sldId id="480" r:id="rId44"/>
    <p:sldId id="493" r:id="rId45"/>
    <p:sldId id="483" r:id="rId46"/>
    <p:sldId id="484" r:id="rId47"/>
    <p:sldId id="485" r:id="rId48"/>
    <p:sldId id="486" r:id="rId49"/>
    <p:sldId id="620" r:id="rId50"/>
    <p:sldId id="487" r:id="rId51"/>
    <p:sldId id="488" r:id="rId52"/>
    <p:sldId id="697" r:id="rId53"/>
    <p:sldId id="693" r:id="rId54"/>
    <p:sldId id="694" r:id="rId55"/>
    <p:sldId id="695" r:id="rId56"/>
    <p:sldId id="696" r:id="rId57"/>
    <p:sldId id="492" r:id="rId58"/>
    <p:sldId id="600" r:id="rId59"/>
    <p:sldId id="631" r:id="rId60"/>
    <p:sldId id="698" r:id="rId61"/>
    <p:sldId id="374" r:id="rId62"/>
  </p:sldIdLst>
  <p:sldSz cx="12192000" cy="6858000"/>
  <p:notesSz cx="6807200" cy="99393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9F43"/>
    <a:srgbClr val="B10B1F"/>
    <a:srgbClr val="FFFFFE"/>
    <a:srgbClr val="919191"/>
    <a:srgbClr val="3C3E4C"/>
    <a:srgbClr val="141519"/>
    <a:srgbClr val="C3C5D4"/>
    <a:srgbClr val="EDEDED"/>
    <a:srgbClr val="E7E5E6"/>
    <a:srgbClr val="0F10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94659" autoAdjust="0"/>
  </p:normalViewPr>
  <p:slideViewPr>
    <p:cSldViewPr snapToGrid="0">
      <p:cViewPr varScale="1">
        <p:scale>
          <a:sx n="108" d="100"/>
          <a:sy n="108" d="100"/>
        </p:scale>
        <p:origin x="678" y="11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73" d="100"/>
        <a:sy n="73"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5E3EAF57-5712-4660-ACF9-F76BE0745D82}" type="datetimeFigureOut">
              <a:rPr lang="zh-CN" altLang="en-US" smtClean="0"/>
              <a:t>2024/4/17</a:t>
            </a:fld>
            <a:endParaRPr lang="zh-CN" altLang="en-US"/>
          </a:p>
        </p:txBody>
      </p:sp>
      <p:sp>
        <p:nvSpPr>
          <p:cNvPr id="4" name="页脚占位符 3"/>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CF079471-7E16-4E52-8C8C-3F5FA1304A45}" type="slidenum">
              <a:rPr lang="zh-CN" altLang="en-US" smtClean="0"/>
              <a:t>‹#›</a:t>
            </a:fld>
            <a:endParaRPr lang="zh-CN" altLang="en-US"/>
          </a:p>
        </p:txBody>
      </p:sp>
    </p:spTree>
    <p:extLst>
      <p:ext uri="{BB962C8B-B14F-4D97-AF65-F5344CB8AC3E}">
        <p14:creationId xmlns:p14="http://schemas.microsoft.com/office/powerpoint/2010/main" val="32802010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ea typeface="微软雅黑" panose="020B0503020204020204" pitchFamily="34" charset="-122"/>
              </a:defRPr>
            </a:lvl1pPr>
          </a:lstStyle>
          <a:p>
            <a:fld id="{3D2472AF-A0E2-497A-9C64-CEEA312F355D}" type="datetimeFigureOut">
              <a:rPr lang="zh-CN" altLang="en-US" smtClean="0"/>
              <a:pPr/>
              <a:t>2024/4/17</a:t>
            </a:fld>
            <a:endParaRPr lang="zh-CN" altLang="en-US" dirty="0"/>
          </a:p>
        </p:txBody>
      </p:sp>
      <p:sp>
        <p:nvSpPr>
          <p:cNvPr id="4" name="幻灯片图像占位符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6" name="页脚占位符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ea typeface="微软雅黑" panose="020B0503020204020204" pitchFamily="34" charset="-122"/>
              </a:defRPr>
            </a:lvl1pPr>
          </a:lstStyle>
          <a:p>
            <a:fld id="{0DAA9E1F-4E78-4B42-AA19-9F57A79F734E}" type="slidenum">
              <a:rPr lang="zh-CN" altLang="en-US" smtClean="0"/>
              <a:pPr/>
              <a:t>‹#›</a:t>
            </a:fld>
            <a:endParaRPr lang="zh-CN" altLang="en-US" dirty="0"/>
          </a:p>
        </p:txBody>
      </p:sp>
    </p:spTree>
    <p:extLst>
      <p:ext uri="{BB962C8B-B14F-4D97-AF65-F5344CB8AC3E}">
        <p14:creationId xmlns:p14="http://schemas.microsoft.com/office/powerpoint/2010/main" val="1167158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panose="020B0503020204020204" pitchFamily="34" charset="-122"/>
        <a:cs typeface="+mn-cs"/>
      </a:defRPr>
    </a:lvl1pPr>
    <a:lvl2pPr marL="457200" algn="l" defTabSz="914400" rtl="0" eaLnBrk="1" latinLnBrk="0" hangingPunct="1">
      <a:defRPr sz="1200" kern="1200">
        <a:solidFill>
          <a:schemeClr val="tx1"/>
        </a:solidFill>
        <a:latin typeface="+mn-lt"/>
        <a:ea typeface="微软雅黑" panose="020B0503020204020204" pitchFamily="34" charset="-122"/>
        <a:cs typeface="+mn-cs"/>
      </a:defRPr>
    </a:lvl2pPr>
    <a:lvl3pPr marL="914400" algn="l" defTabSz="914400" rtl="0" eaLnBrk="1" latinLnBrk="0" hangingPunct="1">
      <a:defRPr sz="1200" kern="1200">
        <a:solidFill>
          <a:schemeClr val="tx1"/>
        </a:solidFill>
        <a:latin typeface="+mn-lt"/>
        <a:ea typeface="微软雅黑" panose="020B0503020204020204" pitchFamily="34" charset="-122"/>
        <a:cs typeface="+mn-cs"/>
      </a:defRPr>
    </a:lvl3pPr>
    <a:lvl4pPr marL="1371600" algn="l" defTabSz="914400" rtl="0" eaLnBrk="1" latinLnBrk="0" hangingPunct="1">
      <a:defRPr sz="1200" kern="1200">
        <a:solidFill>
          <a:schemeClr val="tx1"/>
        </a:solidFill>
        <a:latin typeface="+mn-lt"/>
        <a:ea typeface="微软雅黑" panose="020B0503020204020204" pitchFamily="34" charset="-122"/>
        <a:cs typeface="+mn-cs"/>
      </a:defRPr>
    </a:lvl4pPr>
    <a:lvl5pPr marL="1828800" algn="l" defTabSz="914400" rtl="0" eaLnBrk="1" latinLnBrk="0" hangingPunct="1">
      <a:defRPr sz="1200" kern="1200">
        <a:solidFill>
          <a:schemeClr val="tx1"/>
        </a:solidFill>
        <a:latin typeface="+mn-lt"/>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0" dirty="0" smtClean="0">
                <a:solidFill>
                  <a:prstClr val="black">
                    <a:lumMod val="85000"/>
                    <a:lumOff val="15000"/>
                  </a:prstClr>
                </a:solidFill>
                <a:latin typeface="楷体" panose="02010609060101010101" pitchFamily="49" charset="-122"/>
                <a:ea typeface="楷体" panose="02010609060101010101" pitchFamily="49" charset="-122"/>
              </a:rPr>
              <a:t>（问题是，不懂打牌的人，牺牲了也白牺牲，却抢不到头游。）</a:t>
            </a:r>
            <a:endParaRPr lang="en-US" altLang="zh-CN" sz="1200" kern="0" dirty="0" smtClean="0">
              <a:solidFill>
                <a:prstClr val="black">
                  <a:lumMod val="85000"/>
                  <a:lumOff val="15000"/>
                </a:prstClr>
              </a:solidFill>
              <a:latin typeface="楷体" panose="02010609060101010101" pitchFamily="49" charset="-122"/>
              <a:ea typeface="楷体" panose="02010609060101010101" pitchFamily="49" charset="-122"/>
            </a:endParaRPr>
          </a:p>
          <a:p>
            <a:endParaRPr lang="zh-CN" altLang="en-US" dirty="0"/>
          </a:p>
        </p:txBody>
      </p:sp>
      <p:sp>
        <p:nvSpPr>
          <p:cNvPr id="4" name="灯片编号占位符 3"/>
          <p:cNvSpPr>
            <a:spLocks noGrp="1"/>
          </p:cNvSpPr>
          <p:nvPr>
            <p:ph type="sldNum" sz="quarter" idx="10"/>
          </p:nvPr>
        </p:nvSpPr>
        <p:spPr/>
        <p:txBody>
          <a:bodyPr/>
          <a:lstStyle/>
          <a:p>
            <a:fld id="{0DAA9E1F-4E78-4B42-AA19-9F57A79F734E}" type="slidenum">
              <a:rPr lang="zh-CN" altLang="en-US" smtClean="0"/>
              <a:pPr/>
              <a:t>6</a:t>
            </a:fld>
            <a:endParaRPr lang="zh-CN" altLang="en-US" dirty="0"/>
          </a:p>
        </p:txBody>
      </p:sp>
    </p:spTree>
    <p:extLst>
      <p:ext uri="{BB962C8B-B14F-4D97-AF65-F5344CB8AC3E}">
        <p14:creationId xmlns:p14="http://schemas.microsoft.com/office/powerpoint/2010/main" val="76715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DAA9E1F-4E78-4B42-AA19-9F57A79F734E}" type="slidenum">
              <a:rPr lang="zh-CN" altLang="en-US" smtClean="0"/>
              <a:pPr/>
              <a:t>32</a:t>
            </a:fld>
            <a:endParaRPr lang="zh-CN" altLang="en-US" dirty="0"/>
          </a:p>
        </p:txBody>
      </p:sp>
    </p:spTree>
    <p:extLst>
      <p:ext uri="{BB962C8B-B14F-4D97-AF65-F5344CB8AC3E}">
        <p14:creationId xmlns:p14="http://schemas.microsoft.com/office/powerpoint/2010/main" val="3393586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335772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28770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4087205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719278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863291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943048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
        <p:nvSpPr>
          <p:cNvPr id="4" name="TextBox 3"/>
          <p:cNvSpPr txBox="1"/>
          <p:nvPr userDrawn="1"/>
        </p:nvSpPr>
        <p:spPr>
          <a:xfrm>
            <a:off x="1771779" y="6598006"/>
            <a:ext cx="1224136"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smtClean="0">
                <a:ln>
                  <a:noFill/>
                </a:ln>
                <a:solidFill>
                  <a:prstClr val="black"/>
                </a:solidFill>
                <a:effectLst/>
                <a:uLnTx/>
                <a:uFillTx/>
                <a:hlinkClick r:id="rId2"/>
              </a:rPr>
              <a:t>PPT</a:t>
            </a:r>
            <a:r>
              <a:rPr kumimoji="0" lang="zh-CN" altLang="en-US" sz="100" b="0" i="0" u="none" strike="noStrike" kern="0" cap="none" spc="0" normalizeH="0" baseline="0" noProof="0" dirty="0" smtClean="0">
                <a:ln>
                  <a:noFill/>
                </a:ln>
                <a:solidFill>
                  <a:prstClr val="black"/>
                </a:solidFill>
                <a:effectLst/>
                <a:uLnTx/>
                <a:uFillTx/>
                <a:hlinkClick r:id="rId2"/>
              </a:rPr>
              <a:t>下载</a:t>
            </a:r>
            <a:r>
              <a:rPr kumimoji="0" lang="zh-CN" altLang="en-US" sz="100" b="0" i="0" u="none" strike="noStrike" kern="0" cap="none" spc="0" normalizeH="0" baseline="0" noProof="0" dirty="0" smtClean="0">
                <a:ln>
                  <a:noFill/>
                </a:ln>
                <a:solidFill>
                  <a:prstClr val="black"/>
                </a:solidFill>
                <a:effectLst/>
                <a:uLnTx/>
                <a:uFillTx/>
              </a:rPr>
              <a:t> </a:t>
            </a:r>
            <a:r>
              <a:rPr kumimoji="0" lang="en-US" altLang="zh-CN" sz="100" b="0" i="0" u="none" strike="noStrike" kern="0" cap="none" spc="0" normalizeH="0" baseline="0" noProof="0" dirty="0" smtClean="0">
                <a:ln>
                  <a:noFill/>
                </a:ln>
                <a:solidFill>
                  <a:prstClr val="black"/>
                </a:solidFill>
                <a:effectLst/>
                <a:uLnTx/>
                <a:uFillTx/>
              </a:rPr>
              <a:t>http://www.1ppt.com/xiazai/</a:t>
            </a:r>
          </a:p>
        </p:txBody>
      </p:sp>
    </p:spTree>
    <p:extLst>
      <p:ext uri="{BB962C8B-B14F-4D97-AF65-F5344CB8AC3E}">
        <p14:creationId xmlns:p14="http://schemas.microsoft.com/office/powerpoint/2010/main" val="357514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1886797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592798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userDrawn="1">
  <p:cSld name="1_节标题">
    <p:spTree>
      <p:nvGrpSpPr>
        <p:cNvPr id="1" name=""/>
        <p:cNvGrpSpPr/>
        <p:nvPr/>
      </p:nvGrpSpPr>
      <p:grpSpPr>
        <a:xfrm>
          <a:off x="0" y="0"/>
          <a:ext cx="0" cy="0"/>
          <a:chOff x="0" y="0"/>
          <a:chExt cx="0" cy="0"/>
        </a:xfrm>
      </p:grpSpPr>
      <p:sp>
        <p:nvSpPr>
          <p:cNvPr id="4" name="任意多边形: 形状 3"/>
          <p:cNvSpPr/>
          <p:nvPr userDrawn="1"/>
        </p:nvSpPr>
        <p:spPr bwMode="auto">
          <a:xfrm>
            <a:off x="1" y="3"/>
            <a:ext cx="7948451" cy="6857999"/>
          </a:xfrm>
          <a:custGeom>
            <a:avLst/>
            <a:gdLst>
              <a:gd name="connsiteX0" fmla="*/ 0 w 7948451"/>
              <a:gd name="connsiteY0" fmla="*/ 0 h 6849889"/>
              <a:gd name="connsiteX1" fmla="*/ 2991367 w 7948451"/>
              <a:gd name="connsiteY1" fmla="*/ 0 h 6849889"/>
              <a:gd name="connsiteX2" fmla="*/ 7948451 w 7948451"/>
              <a:gd name="connsiteY2" fmla="*/ 5977100 h 6849889"/>
              <a:gd name="connsiteX3" fmla="*/ 7287430 w 7948451"/>
              <a:gd name="connsiteY3" fmla="*/ 6849889 h 6849889"/>
              <a:gd name="connsiteX4" fmla="*/ 0 w 7948451"/>
              <a:gd name="connsiteY4" fmla="*/ 6849889 h 6849889"/>
              <a:gd name="connsiteX5" fmla="*/ 0 w 7948451"/>
              <a:gd name="connsiteY5" fmla="*/ 5733363 h 6849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48451" h="6849889">
                <a:moveTo>
                  <a:pt x="0" y="0"/>
                </a:moveTo>
                <a:lnTo>
                  <a:pt x="2991367" y="0"/>
                </a:lnTo>
                <a:lnTo>
                  <a:pt x="7948451" y="5977100"/>
                </a:lnTo>
                <a:lnTo>
                  <a:pt x="7287430" y="6849889"/>
                </a:lnTo>
                <a:lnTo>
                  <a:pt x="0" y="6849889"/>
                </a:lnTo>
                <a:lnTo>
                  <a:pt x="0" y="5733363"/>
                </a:lnTo>
                <a:close/>
              </a:path>
            </a:pathLst>
          </a:custGeom>
          <a:solidFill>
            <a:schemeClr val="tx2">
              <a:lumMod val="20000"/>
              <a:lumOff val="80000"/>
            </a:schemeClr>
          </a:solidFill>
          <a:ln>
            <a:noFill/>
          </a:ln>
        </p:spPr>
        <p:txBody>
          <a:bodyPr vert="horz" wrap="square" lIns="91440" tIns="45720" rIns="91440" bIns="45720" numCol="1" anchor="t" anchorCtr="0" compatLnSpc="1">
            <a:noAutofit/>
          </a:bodyPr>
          <a:lstStyle/>
          <a:p>
            <a:endParaRPr lang="zh-CN" altLang="en-US" sz="1800"/>
          </a:p>
        </p:txBody>
      </p:sp>
      <p:sp>
        <p:nvSpPr>
          <p:cNvPr id="5" name="任意多边形: 形状 4"/>
          <p:cNvSpPr/>
          <p:nvPr userDrawn="1"/>
        </p:nvSpPr>
        <p:spPr bwMode="auto">
          <a:xfrm>
            <a:off x="7270773" y="5985213"/>
            <a:ext cx="1440723" cy="872789"/>
          </a:xfrm>
          <a:custGeom>
            <a:avLst/>
            <a:gdLst>
              <a:gd name="connsiteX0" fmla="*/ 682585 w 1440722"/>
              <a:gd name="connsiteY0" fmla="*/ 0 h 872789"/>
              <a:gd name="connsiteX1" fmla="*/ 1440722 w 1440722"/>
              <a:gd name="connsiteY1" fmla="*/ 872789 h 872789"/>
              <a:gd name="connsiteX2" fmla="*/ 0 w 1440722"/>
              <a:gd name="connsiteY2" fmla="*/ 872789 h 872789"/>
            </a:gdLst>
            <a:ahLst/>
            <a:cxnLst>
              <a:cxn ang="0">
                <a:pos x="connsiteX0" y="connsiteY0"/>
              </a:cxn>
              <a:cxn ang="0">
                <a:pos x="connsiteX1" y="connsiteY1"/>
              </a:cxn>
              <a:cxn ang="0">
                <a:pos x="connsiteX2" y="connsiteY2"/>
              </a:cxn>
            </a:cxnLst>
            <a:rect l="l" t="t" r="r" b="b"/>
            <a:pathLst>
              <a:path w="1440722" h="872789">
                <a:moveTo>
                  <a:pt x="682585" y="0"/>
                </a:moveTo>
                <a:lnTo>
                  <a:pt x="1440722" y="872789"/>
                </a:lnTo>
                <a:lnTo>
                  <a:pt x="0" y="872789"/>
                </a:lnTo>
                <a:close/>
              </a:path>
            </a:pathLst>
          </a:custGeom>
          <a:solidFill>
            <a:schemeClr val="accent3">
              <a:alpha val="50000"/>
            </a:schemeClr>
          </a:solidFill>
          <a:ln>
            <a:noFill/>
          </a:ln>
        </p:spPr>
        <p:txBody>
          <a:bodyPr vert="horz" wrap="square" lIns="91440" tIns="45720" rIns="91440" bIns="45720" numCol="1" anchor="t" anchorCtr="0" compatLnSpc="1">
            <a:noAutofit/>
          </a:bodyPr>
          <a:lstStyle/>
          <a:p>
            <a:endParaRPr lang="zh-CN" altLang="en-US" sz="1800"/>
          </a:p>
        </p:txBody>
      </p:sp>
      <p:sp>
        <p:nvSpPr>
          <p:cNvPr id="6" name="任意多边形: 形状 5"/>
          <p:cNvSpPr/>
          <p:nvPr userDrawn="1"/>
        </p:nvSpPr>
        <p:spPr bwMode="auto">
          <a:xfrm>
            <a:off x="2989552" y="0"/>
            <a:ext cx="1011912" cy="670498"/>
          </a:xfrm>
          <a:custGeom>
            <a:avLst/>
            <a:gdLst>
              <a:gd name="connsiteX0" fmla="*/ 0 w 1011912"/>
              <a:gd name="connsiteY0" fmla="*/ 0 h 670498"/>
              <a:gd name="connsiteX1" fmla="*/ 1011912 w 1011912"/>
              <a:gd name="connsiteY1" fmla="*/ 0 h 670498"/>
              <a:gd name="connsiteX2" fmla="*/ 538913 w 1011912"/>
              <a:gd name="connsiteY2" fmla="*/ 670498 h 670498"/>
            </a:gdLst>
            <a:ahLst/>
            <a:cxnLst>
              <a:cxn ang="0">
                <a:pos x="connsiteX0" y="connsiteY0"/>
              </a:cxn>
              <a:cxn ang="0">
                <a:pos x="connsiteX1" y="connsiteY1"/>
              </a:cxn>
              <a:cxn ang="0">
                <a:pos x="connsiteX2" y="connsiteY2"/>
              </a:cxn>
            </a:cxnLst>
            <a:rect l="l" t="t" r="r" b="b"/>
            <a:pathLst>
              <a:path w="1011912" h="670498">
                <a:moveTo>
                  <a:pt x="0" y="0"/>
                </a:moveTo>
                <a:lnTo>
                  <a:pt x="1011912" y="0"/>
                </a:lnTo>
                <a:lnTo>
                  <a:pt x="538913" y="670498"/>
                </a:lnTo>
                <a:close/>
              </a:path>
            </a:pathLst>
          </a:custGeom>
          <a:solidFill>
            <a:schemeClr val="accent3">
              <a:alpha val="50000"/>
            </a:schemeClr>
          </a:solidFill>
          <a:ln>
            <a:noFill/>
          </a:ln>
        </p:spPr>
        <p:txBody>
          <a:bodyPr vert="horz" wrap="square" lIns="91440" tIns="45720" rIns="91440" bIns="45720" numCol="1" anchor="t" anchorCtr="0" compatLnSpc="1">
            <a:noAutofit/>
          </a:bodyPr>
          <a:lstStyle/>
          <a:p>
            <a:endParaRPr lang="zh-CN" altLang="en-US" sz="1800"/>
          </a:p>
        </p:txBody>
      </p:sp>
      <p:sp>
        <p:nvSpPr>
          <p:cNvPr id="7" name="任意多边形: 形状 6"/>
          <p:cNvSpPr/>
          <p:nvPr userDrawn="1"/>
        </p:nvSpPr>
        <p:spPr bwMode="auto">
          <a:xfrm>
            <a:off x="-4905" y="2"/>
            <a:ext cx="4044349" cy="5746449"/>
          </a:xfrm>
          <a:custGeom>
            <a:avLst/>
            <a:gdLst>
              <a:gd name="connsiteX0" fmla="*/ 3994152 w 4044349"/>
              <a:gd name="connsiteY0" fmla="*/ 0 h 5746449"/>
              <a:gd name="connsiteX1" fmla="*/ 4044349 w 4044349"/>
              <a:gd name="connsiteY1" fmla="*/ 0 h 5746449"/>
              <a:gd name="connsiteX2" fmla="*/ 31081 w 4044349"/>
              <a:gd name="connsiteY2" fmla="*/ 5746449 h 5746449"/>
              <a:gd name="connsiteX3" fmla="*/ 0 w 4044349"/>
              <a:gd name="connsiteY3" fmla="*/ 5723548 h 5746449"/>
            </a:gdLst>
            <a:ahLst/>
            <a:cxnLst>
              <a:cxn ang="0">
                <a:pos x="connsiteX0" y="connsiteY0"/>
              </a:cxn>
              <a:cxn ang="0">
                <a:pos x="connsiteX1" y="connsiteY1"/>
              </a:cxn>
              <a:cxn ang="0">
                <a:pos x="connsiteX2" y="connsiteY2"/>
              </a:cxn>
              <a:cxn ang="0">
                <a:pos x="connsiteX3" y="connsiteY3"/>
              </a:cxn>
            </a:cxnLst>
            <a:rect l="l" t="t" r="r" b="b"/>
            <a:pathLst>
              <a:path w="4044349" h="5746449">
                <a:moveTo>
                  <a:pt x="3994152" y="0"/>
                </a:moveTo>
                <a:lnTo>
                  <a:pt x="4044349" y="0"/>
                </a:lnTo>
                <a:lnTo>
                  <a:pt x="31081" y="5746449"/>
                </a:lnTo>
                <a:lnTo>
                  <a:pt x="0" y="5723548"/>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sz="1800"/>
          </a:p>
        </p:txBody>
      </p:sp>
      <p:sp>
        <p:nvSpPr>
          <p:cNvPr id="8" name="任意多边形: 形状 7"/>
          <p:cNvSpPr/>
          <p:nvPr userDrawn="1"/>
        </p:nvSpPr>
        <p:spPr bwMode="auto">
          <a:xfrm>
            <a:off x="2967830" y="0"/>
            <a:ext cx="5747855" cy="6849888"/>
          </a:xfrm>
          <a:custGeom>
            <a:avLst/>
            <a:gdLst>
              <a:gd name="connsiteX0" fmla="*/ 0 w 5747854"/>
              <a:gd name="connsiteY0" fmla="*/ 0 h 6849888"/>
              <a:gd name="connsiteX1" fmla="*/ 52779 w 5747854"/>
              <a:gd name="connsiteY1" fmla="*/ 0 h 6849888"/>
              <a:gd name="connsiteX2" fmla="*/ 5747854 w 5747854"/>
              <a:gd name="connsiteY2" fmla="*/ 6849888 h 6849888"/>
              <a:gd name="connsiteX3" fmla="*/ 5697704 w 5747854"/>
              <a:gd name="connsiteY3" fmla="*/ 6849888 h 6849888"/>
            </a:gdLst>
            <a:ahLst/>
            <a:cxnLst>
              <a:cxn ang="0">
                <a:pos x="connsiteX0" y="connsiteY0"/>
              </a:cxn>
              <a:cxn ang="0">
                <a:pos x="connsiteX1" y="connsiteY1"/>
              </a:cxn>
              <a:cxn ang="0">
                <a:pos x="connsiteX2" y="connsiteY2"/>
              </a:cxn>
              <a:cxn ang="0">
                <a:pos x="connsiteX3" y="connsiteY3"/>
              </a:cxn>
            </a:cxnLst>
            <a:rect l="l" t="t" r="r" b="b"/>
            <a:pathLst>
              <a:path w="5747854" h="6849888">
                <a:moveTo>
                  <a:pt x="0" y="0"/>
                </a:moveTo>
                <a:lnTo>
                  <a:pt x="52779" y="0"/>
                </a:lnTo>
                <a:lnTo>
                  <a:pt x="5747854" y="6849888"/>
                </a:lnTo>
                <a:lnTo>
                  <a:pt x="5697704" y="6849888"/>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sz="1800"/>
          </a:p>
        </p:txBody>
      </p:sp>
      <p:sp>
        <p:nvSpPr>
          <p:cNvPr id="9" name="任意多边形: 形状 8"/>
          <p:cNvSpPr/>
          <p:nvPr userDrawn="1"/>
        </p:nvSpPr>
        <p:spPr bwMode="auto">
          <a:xfrm>
            <a:off x="7262913" y="5959108"/>
            <a:ext cx="711713" cy="890783"/>
          </a:xfrm>
          <a:custGeom>
            <a:avLst/>
            <a:gdLst>
              <a:gd name="connsiteX0" fmla="*/ 672454 w 711713"/>
              <a:gd name="connsiteY0" fmla="*/ 0 h 890783"/>
              <a:gd name="connsiteX1" fmla="*/ 711713 w 711713"/>
              <a:gd name="connsiteY1" fmla="*/ 17994 h 890783"/>
              <a:gd name="connsiteX2" fmla="*/ 49893 w 711713"/>
              <a:gd name="connsiteY2" fmla="*/ 890783 h 890783"/>
              <a:gd name="connsiteX3" fmla="*/ 0 w 711713"/>
              <a:gd name="connsiteY3" fmla="*/ 890783 h 890783"/>
            </a:gdLst>
            <a:ahLst/>
            <a:cxnLst>
              <a:cxn ang="0">
                <a:pos x="connsiteX0" y="connsiteY0"/>
              </a:cxn>
              <a:cxn ang="0">
                <a:pos x="connsiteX1" y="connsiteY1"/>
              </a:cxn>
              <a:cxn ang="0">
                <a:pos x="connsiteX2" y="connsiteY2"/>
              </a:cxn>
              <a:cxn ang="0">
                <a:pos x="connsiteX3" y="connsiteY3"/>
              </a:cxn>
            </a:cxnLst>
            <a:rect l="l" t="t" r="r" b="b"/>
            <a:pathLst>
              <a:path w="711713" h="890783">
                <a:moveTo>
                  <a:pt x="672454" y="0"/>
                </a:moveTo>
                <a:lnTo>
                  <a:pt x="711713" y="17994"/>
                </a:lnTo>
                <a:lnTo>
                  <a:pt x="49893" y="890783"/>
                </a:lnTo>
                <a:lnTo>
                  <a:pt x="0" y="890783"/>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sz="1800"/>
          </a:p>
        </p:txBody>
      </p:sp>
      <p:sp>
        <p:nvSpPr>
          <p:cNvPr id="20" name="标题 1"/>
          <p:cNvSpPr>
            <a:spLocks noGrp="1"/>
          </p:cNvSpPr>
          <p:nvPr userDrawn="1">
            <p:ph type="title"/>
          </p:nvPr>
        </p:nvSpPr>
        <p:spPr>
          <a:xfrm>
            <a:off x="4739699" y="2657929"/>
            <a:ext cx="5419185" cy="895350"/>
          </a:xfrm>
          <a:prstGeom prst="rect">
            <a:avLst/>
          </a:prstGeom>
        </p:spPr>
        <p:txBody>
          <a:bodyPr anchor="b">
            <a:normAutofit/>
          </a:bodyPr>
          <a:lstStyle>
            <a:lvl1pPr algn="l">
              <a:defRPr sz="2400" b="1">
                <a:solidFill>
                  <a:schemeClr val="accent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4740816" y="3553281"/>
            <a:ext cx="5419185" cy="1015623"/>
          </a:xfrm>
          <a:prstGeom prst="rect">
            <a:avLst/>
          </a:prstGeom>
        </p:spPr>
        <p:txBody>
          <a:bodyPr anchor="t">
            <a:normAutofit/>
          </a:bodyPr>
          <a:lstStyle>
            <a:lvl1pPr marL="0" indent="0" algn="l">
              <a:lnSpc>
                <a:spcPct val="150000"/>
              </a:lnSpc>
              <a:spcBef>
                <a:spcPts val="0"/>
              </a:spcBef>
              <a:buNone/>
              <a:defRPr sz="11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extLst>
      <p:ext uri="{BB962C8B-B14F-4D97-AF65-F5344CB8AC3E}">
        <p14:creationId xmlns:p14="http://schemas.microsoft.com/office/powerpoint/2010/main" val="70529014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a:xfrm>
            <a:off x="669925" y="3"/>
            <a:ext cx="10850563" cy="1028699"/>
          </a:xfrm>
          <a:prstGeom prst="rect">
            <a:avLst/>
          </a:prstGeom>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a:xfrm>
            <a:off x="5401732" y="6240465"/>
            <a:ext cx="1388536" cy="206381"/>
          </a:xfrm>
          <a:prstGeom prst="rect">
            <a:avLst/>
          </a:prstGeom>
        </p:spPr>
        <p:txBody>
          <a:bodyPr/>
          <a:lstStyle/>
          <a:p>
            <a:endParaRPr lang="zh-CN" altLang="en-US"/>
          </a:p>
        </p:txBody>
      </p:sp>
      <p:sp>
        <p:nvSpPr>
          <p:cNvPr id="4" name="Footer Placeholder 3"/>
          <p:cNvSpPr>
            <a:spLocks noGrp="1"/>
          </p:cNvSpPr>
          <p:nvPr>
            <p:ph type="ftr" sz="quarter" idx="11"/>
          </p:nvPr>
        </p:nvSpPr>
        <p:spPr>
          <a:xfrm>
            <a:off x="669925" y="6240465"/>
            <a:ext cx="4140201" cy="206381"/>
          </a:xfrm>
          <a:prstGeom prst="rect">
            <a:avLst/>
          </a:prstGeom>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a:xfrm>
            <a:off x="8610599" y="6240465"/>
            <a:ext cx="2909888" cy="206381"/>
          </a:xfrm>
          <a:prstGeom prst="rect">
            <a:avLst/>
          </a:prstGeom>
        </p:spPr>
        <p:txBody>
          <a:bodyPr/>
          <a:lstStyle/>
          <a:p>
            <a:fld id="{5DD3DB80-B894-403A-B48E-6FDC1A72010E}" type="slidenum">
              <a:rPr lang="zh-CN" altLang="en-US" smtClean="0"/>
              <a:t>‹#›</a:t>
            </a:fld>
            <a:endParaRPr lang="zh-CN" altLang="en-US"/>
          </a:p>
        </p:txBody>
      </p:sp>
    </p:spTree>
    <p:extLst>
      <p:ext uri="{BB962C8B-B14F-4D97-AF65-F5344CB8AC3E}">
        <p14:creationId xmlns:p14="http://schemas.microsoft.com/office/powerpoint/2010/main" val="29002421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末尾幻灯片">
    <p:spTree>
      <p:nvGrpSpPr>
        <p:cNvPr id="1" name=""/>
        <p:cNvGrpSpPr/>
        <p:nvPr/>
      </p:nvGrpSpPr>
      <p:grpSpPr>
        <a:xfrm>
          <a:off x="0" y="0"/>
          <a:ext cx="0" cy="0"/>
          <a:chOff x="0" y="0"/>
          <a:chExt cx="0" cy="0"/>
        </a:xfrm>
      </p:grpSpPr>
      <p:sp>
        <p:nvSpPr>
          <p:cNvPr id="13" name="标题 1"/>
          <p:cNvSpPr>
            <a:spLocks noGrp="1"/>
          </p:cNvSpPr>
          <p:nvPr userDrawn="1">
            <p:ph type="ctrTitle" hasCustomPrompt="1"/>
          </p:nvPr>
        </p:nvSpPr>
        <p:spPr>
          <a:xfrm>
            <a:off x="673101" y="1314451"/>
            <a:ext cx="10845799" cy="2758698"/>
          </a:xfrm>
          <a:prstGeom prst="rect">
            <a:avLst/>
          </a:prstGeom>
        </p:spPr>
        <p:txBody>
          <a:bodyPr anchor="b">
            <a:normAutofit/>
          </a:bodyPr>
          <a:lstStyle>
            <a:lvl1pPr marL="0" indent="0" algn="l">
              <a:buFont typeface="Arial" panose="020B0604020202020204" pitchFamily="34" charset="0"/>
              <a:buNone/>
              <a:defRPr sz="3200">
                <a:solidFill>
                  <a:schemeClr val="accent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673101" y="4757877"/>
            <a:ext cx="10845799" cy="310871"/>
          </a:xfrm>
          <a:prstGeom prst="rect">
            <a:avLst/>
          </a:prstGeom>
        </p:spPr>
        <p:txBody>
          <a:bodyPr vert="horz" lIns="91440" tIns="45720" rIns="91440" bIns="45720" rtlCol="0">
            <a:normAutofit/>
          </a:bodyPr>
          <a:lstStyle>
            <a:lvl1pPr marL="0" indent="0" algn="l">
              <a:buNone/>
              <a:defRPr lang="zh-CN" altLang="en-US" sz="1400" smtClean="0">
                <a:solidFill>
                  <a:schemeClr val="accent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p>
        </p:txBody>
      </p:sp>
      <p:sp>
        <p:nvSpPr>
          <p:cNvPr id="6" name="文本占位符 13"/>
          <p:cNvSpPr>
            <a:spLocks noGrp="1"/>
          </p:cNvSpPr>
          <p:nvPr>
            <p:ph type="body" sz="quarter" idx="10" hasCustomPrompt="1"/>
          </p:nvPr>
        </p:nvSpPr>
        <p:spPr>
          <a:xfrm>
            <a:off x="673102" y="4461606"/>
            <a:ext cx="10845799" cy="296271"/>
          </a:xfrm>
          <a:prstGeom prst="rect">
            <a:avLst/>
          </a:prstGeom>
        </p:spPr>
        <p:txBody>
          <a:bodyPr vert="horz" anchor="ctr">
            <a:noAutofit/>
          </a:bodyPr>
          <a:lstStyle>
            <a:lvl1pPr marL="0" indent="0" algn="l">
              <a:buNone/>
              <a:defRPr sz="14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4" name="任意多边形: 形状 13"/>
          <p:cNvSpPr/>
          <p:nvPr userDrawn="1"/>
        </p:nvSpPr>
        <p:spPr>
          <a:xfrm>
            <a:off x="3536891" y="0"/>
            <a:ext cx="8655111" cy="6849888"/>
          </a:xfrm>
          <a:custGeom>
            <a:avLst/>
            <a:gdLst>
              <a:gd name="connsiteX0" fmla="*/ 464573 w 8655110"/>
              <a:gd name="connsiteY0" fmla="*/ 0 h 6849888"/>
              <a:gd name="connsiteX1" fmla="*/ 8655110 w 8655110"/>
              <a:gd name="connsiteY1" fmla="*/ 0 h 6849888"/>
              <a:gd name="connsiteX2" fmla="*/ 8655110 w 8655110"/>
              <a:gd name="connsiteY2" fmla="*/ 6849888 h 6849888"/>
              <a:gd name="connsiteX3" fmla="*/ 5167558 w 8655110"/>
              <a:gd name="connsiteY3" fmla="*/ 6849888 h 6849888"/>
              <a:gd name="connsiteX4" fmla="*/ 4416467 w 8655110"/>
              <a:gd name="connsiteY4" fmla="*/ 5985211 h 6849888"/>
              <a:gd name="connsiteX5" fmla="*/ 4242739 w 8655110"/>
              <a:gd name="connsiteY5" fmla="*/ 6207349 h 6849888"/>
              <a:gd name="connsiteX6" fmla="*/ 4411561 w 8655110"/>
              <a:gd name="connsiteY6" fmla="*/ 5984178 h 6849888"/>
              <a:gd name="connsiteX7" fmla="*/ 4411561 w 8655110"/>
              <a:gd name="connsiteY7" fmla="*/ 5984177 h 6849888"/>
              <a:gd name="connsiteX8" fmla="*/ 0 w 8655110"/>
              <a:gd name="connsiteY8" fmla="*/ 658554 h 6849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55110" h="6849888">
                <a:moveTo>
                  <a:pt x="464573" y="0"/>
                </a:moveTo>
                <a:lnTo>
                  <a:pt x="8655110" y="0"/>
                </a:lnTo>
                <a:lnTo>
                  <a:pt x="8655110" y="6849888"/>
                </a:lnTo>
                <a:lnTo>
                  <a:pt x="5167558" y="6849888"/>
                </a:lnTo>
                <a:lnTo>
                  <a:pt x="4416467" y="5985211"/>
                </a:lnTo>
                <a:lnTo>
                  <a:pt x="4242739" y="6207349"/>
                </a:lnTo>
                <a:lnTo>
                  <a:pt x="4411561" y="5984178"/>
                </a:lnTo>
                <a:lnTo>
                  <a:pt x="4411561" y="5984177"/>
                </a:lnTo>
                <a:lnTo>
                  <a:pt x="0" y="658554"/>
                </a:lnTo>
                <a:close/>
              </a:path>
            </a:pathLst>
          </a:custGeom>
          <a:blipFill>
            <a:blip r:embed="rId2" cstate="print"/>
            <a:stretch>
              <a:fillRect t="-9260" b="-926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p>
        </p:txBody>
      </p:sp>
      <p:sp>
        <p:nvSpPr>
          <p:cNvPr id="16" name="Freeform 13_1"/>
          <p:cNvSpPr/>
          <p:nvPr userDrawn="1"/>
        </p:nvSpPr>
        <p:spPr>
          <a:xfrm>
            <a:off x="3536891" y="0"/>
            <a:ext cx="8655111" cy="6849888"/>
          </a:xfrm>
          <a:custGeom>
            <a:avLst/>
            <a:gdLst>
              <a:gd name="connsiteX0" fmla="*/ 464573 w 8655110"/>
              <a:gd name="connsiteY0" fmla="*/ 0 h 6849888"/>
              <a:gd name="connsiteX1" fmla="*/ 8655110 w 8655110"/>
              <a:gd name="connsiteY1" fmla="*/ 0 h 6849888"/>
              <a:gd name="connsiteX2" fmla="*/ 8655110 w 8655110"/>
              <a:gd name="connsiteY2" fmla="*/ 6849888 h 6849888"/>
              <a:gd name="connsiteX3" fmla="*/ 5167558 w 8655110"/>
              <a:gd name="connsiteY3" fmla="*/ 6849888 h 6849888"/>
              <a:gd name="connsiteX4" fmla="*/ 4416467 w 8655110"/>
              <a:gd name="connsiteY4" fmla="*/ 5985211 h 6849888"/>
              <a:gd name="connsiteX5" fmla="*/ 4242739 w 8655110"/>
              <a:gd name="connsiteY5" fmla="*/ 6207349 h 6849888"/>
              <a:gd name="connsiteX6" fmla="*/ 4411561 w 8655110"/>
              <a:gd name="connsiteY6" fmla="*/ 5984178 h 6849888"/>
              <a:gd name="connsiteX7" fmla="*/ 4411561 w 8655110"/>
              <a:gd name="connsiteY7" fmla="*/ 5984177 h 6849888"/>
              <a:gd name="connsiteX8" fmla="*/ 0 w 8655110"/>
              <a:gd name="connsiteY8" fmla="*/ 658554 h 6849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55110" h="6849888">
                <a:moveTo>
                  <a:pt x="464573" y="0"/>
                </a:moveTo>
                <a:lnTo>
                  <a:pt x="8655110" y="0"/>
                </a:lnTo>
                <a:lnTo>
                  <a:pt x="8655110" y="6849888"/>
                </a:lnTo>
                <a:lnTo>
                  <a:pt x="5167558" y="6849888"/>
                </a:lnTo>
                <a:lnTo>
                  <a:pt x="4416467" y="5985211"/>
                </a:lnTo>
                <a:lnTo>
                  <a:pt x="4242739" y="6207349"/>
                </a:lnTo>
                <a:lnTo>
                  <a:pt x="4411561" y="5984178"/>
                </a:lnTo>
                <a:lnTo>
                  <a:pt x="4411561" y="5984177"/>
                </a:lnTo>
                <a:lnTo>
                  <a:pt x="0" y="658554"/>
                </a:lnTo>
                <a:close/>
              </a:path>
            </a:pathLst>
          </a:cu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p>
        </p:txBody>
      </p:sp>
      <p:sp>
        <p:nvSpPr>
          <p:cNvPr id="17" name="任意多边形: 形状 16"/>
          <p:cNvSpPr/>
          <p:nvPr userDrawn="1"/>
        </p:nvSpPr>
        <p:spPr bwMode="auto">
          <a:xfrm>
            <a:off x="7270773" y="5985213"/>
            <a:ext cx="1440723" cy="872789"/>
          </a:xfrm>
          <a:custGeom>
            <a:avLst/>
            <a:gdLst>
              <a:gd name="connsiteX0" fmla="*/ 682585 w 1440722"/>
              <a:gd name="connsiteY0" fmla="*/ 0 h 872789"/>
              <a:gd name="connsiteX1" fmla="*/ 1440722 w 1440722"/>
              <a:gd name="connsiteY1" fmla="*/ 872789 h 872789"/>
              <a:gd name="connsiteX2" fmla="*/ 0 w 1440722"/>
              <a:gd name="connsiteY2" fmla="*/ 872789 h 872789"/>
            </a:gdLst>
            <a:ahLst/>
            <a:cxnLst>
              <a:cxn ang="0">
                <a:pos x="connsiteX0" y="connsiteY0"/>
              </a:cxn>
              <a:cxn ang="0">
                <a:pos x="connsiteX1" y="connsiteY1"/>
              </a:cxn>
              <a:cxn ang="0">
                <a:pos x="connsiteX2" y="connsiteY2"/>
              </a:cxn>
            </a:cxnLst>
            <a:rect l="l" t="t" r="r" b="b"/>
            <a:pathLst>
              <a:path w="1440722" h="872789">
                <a:moveTo>
                  <a:pt x="682585" y="0"/>
                </a:moveTo>
                <a:lnTo>
                  <a:pt x="1440722" y="872789"/>
                </a:lnTo>
                <a:lnTo>
                  <a:pt x="0" y="872789"/>
                </a:lnTo>
                <a:close/>
              </a:path>
            </a:pathLst>
          </a:custGeom>
          <a:solidFill>
            <a:schemeClr val="accent2">
              <a:alpha val="90000"/>
            </a:schemeClr>
          </a:solidFill>
          <a:ln>
            <a:noFill/>
          </a:ln>
        </p:spPr>
        <p:txBody>
          <a:bodyPr vert="horz" wrap="square" lIns="91440" tIns="45720" rIns="91440" bIns="45720" numCol="1" anchor="t" anchorCtr="0" compatLnSpc="1">
            <a:noAutofit/>
          </a:bodyPr>
          <a:lstStyle/>
          <a:p>
            <a:endParaRPr lang="zh-CN" altLang="en-US" sz="1800"/>
          </a:p>
        </p:txBody>
      </p:sp>
      <p:sp>
        <p:nvSpPr>
          <p:cNvPr id="18" name="任意多边形: 形状 17"/>
          <p:cNvSpPr/>
          <p:nvPr userDrawn="1"/>
        </p:nvSpPr>
        <p:spPr bwMode="auto">
          <a:xfrm>
            <a:off x="2989552" y="0"/>
            <a:ext cx="1011912" cy="670498"/>
          </a:xfrm>
          <a:custGeom>
            <a:avLst/>
            <a:gdLst>
              <a:gd name="connsiteX0" fmla="*/ 0 w 1011912"/>
              <a:gd name="connsiteY0" fmla="*/ 0 h 670498"/>
              <a:gd name="connsiteX1" fmla="*/ 1011912 w 1011912"/>
              <a:gd name="connsiteY1" fmla="*/ 0 h 670498"/>
              <a:gd name="connsiteX2" fmla="*/ 538913 w 1011912"/>
              <a:gd name="connsiteY2" fmla="*/ 670498 h 670498"/>
            </a:gdLst>
            <a:ahLst/>
            <a:cxnLst>
              <a:cxn ang="0">
                <a:pos x="connsiteX0" y="connsiteY0"/>
              </a:cxn>
              <a:cxn ang="0">
                <a:pos x="connsiteX1" y="connsiteY1"/>
              </a:cxn>
              <a:cxn ang="0">
                <a:pos x="connsiteX2" y="connsiteY2"/>
              </a:cxn>
            </a:cxnLst>
            <a:rect l="l" t="t" r="r" b="b"/>
            <a:pathLst>
              <a:path w="1011912" h="670498">
                <a:moveTo>
                  <a:pt x="0" y="0"/>
                </a:moveTo>
                <a:lnTo>
                  <a:pt x="1011912" y="0"/>
                </a:lnTo>
                <a:lnTo>
                  <a:pt x="538913" y="670498"/>
                </a:lnTo>
                <a:close/>
              </a:path>
            </a:pathLst>
          </a:custGeom>
          <a:solidFill>
            <a:schemeClr val="accent2">
              <a:alpha val="90000"/>
            </a:schemeClr>
          </a:solidFill>
          <a:ln>
            <a:noFill/>
          </a:ln>
        </p:spPr>
        <p:txBody>
          <a:bodyPr vert="horz" wrap="square" lIns="91440" tIns="45720" rIns="91440" bIns="45720" numCol="1" anchor="t" anchorCtr="0" compatLnSpc="1">
            <a:noAutofit/>
          </a:bodyPr>
          <a:lstStyle/>
          <a:p>
            <a:endParaRPr lang="zh-CN" altLang="en-US" sz="1800"/>
          </a:p>
        </p:txBody>
      </p:sp>
    </p:spTree>
    <p:extLst>
      <p:ext uri="{BB962C8B-B14F-4D97-AF65-F5344CB8AC3E}">
        <p14:creationId xmlns:p14="http://schemas.microsoft.com/office/powerpoint/2010/main" val="33809390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2024/4/17</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95864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2024/4/17</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5033547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4098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矩形 1"/>
          <p:cNvSpPr/>
          <p:nvPr userDrawn="1"/>
        </p:nvSpPr>
        <p:spPr>
          <a:xfrm>
            <a:off x="0" y="0"/>
            <a:ext cx="12192001" cy="6858000"/>
          </a:xfrm>
          <a:prstGeom prst="rect">
            <a:avLst/>
          </a:prstGeom>
          <a:gradFill flip="none" rotWithShape="1">
            <a:gsLst>
              <a:gs pos="0">
                <a:srgbClr val="FFFFFE"/>
              </a:gs>
              <a:gs pos="23000">
                <a:srgbClr val="FFFFFE"/>
              </a:gs>
              <a:gs pos="69000">
                <a:srgbClr val="FFFFFE"/>
              </a:gs>
              <a:gs pos="97000">
                <a:srgbClr val="EDEDED"/>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Tree>
    <p:extLst>
      <p:ext uri="{BB962C8B-B14F-4D97-AF65-F5344CB8AC3E}">
        <p14:creationId xmlns:p14="http://schemas.microsoft.com/office/powerpoint/2010/main" val="18091163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 id="2147483664" r:id="rId4"/>
    <p:sldLayoutId id="2147483665" r:id="rId5"/>
    <p:sldLayoutId id="2147483666" r:id="rId6"/>
    <p:sldLayoutId id="2147483667" r:id="rId7"/>
    <p:sldLayoutId id="2147483668" r:id="rId8"/>
    <p:sldLayoutId id="2147483669" r:id="rId9"/>
    <p:sldLayoutId id="2147483675" r:id="rId10"/>
    <p:sldLayoutId id="2147483676" r:id="rId11"/>
    <p:sldLayoutId id="2147483677" r:id="rId12"/>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969164"/>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1.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28.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29.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1.xml"/><Relationship Id="rId1" Type="http://schemas.openxmlformats.org/officeDocument/2006/relationships/tags" Target="../tags/tag31.xml"/><Relationship Id="rId5" Type="http://schemas.openxmlformats.org/officeDocument/2006/relationships/image" Target="../media/image2.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slideLayout" Target="../slideLayouts/slideLayout11.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11.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slideLayout" Target="../slideLayouts/slideLayout11.xml"/><Relationship Id="rId1" Type="http://schemas.openxmlformats.org/officeDocument/2006/relationships/tags" Target="../tags/tag34.xml"/></Relationships>
</file>

<file path=ppt/slides/_rels/slide3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slideLayout" Target="../slideLayouts/slideLayout11.xml"/><Relationship Id="rId1" Type="http://schemas.openxmlformats.org/officeDocument/2006/relationships/tags" Target="../tags/tag35.xml"/></Relationships>
</file>

<file path=ppt/slides/_rels/slide3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slideLayout" Target="../slideLayouts/slideLayout11.xml"/><Relationship Id="rId1" Type="http://schemas.openxmlformats.org/officeDocument/2006/relationships/tags" Target="../tags/tag36.xml"/></Relationships>
</file>

<file path=ppt/slides/_rels/slide3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slideLayout" Target="../slideLayouts/slideLayout11.xml"/><Relationship Id="rId1" Type="http://schemas.openxmlformats.org/officeDocument/2006/relationships/tags" Target="../tags/tag37.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slideLayout" Target="../slideLayouts/slideLayout11.xml"/><Relationship Id="rId1" Type="http://schemas.openxmlformats.org/officeDocument/2006/relationships/tags" Target="../tags/tag3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39.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40.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41.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43.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44.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45.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46.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48.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9.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50.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51.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5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53.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54.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55.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56.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57.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8.xml"/><Relationship Id="rId1" Type="http://schemas.openxmlformats.org/officeDocument/2006/relationships/vmlDrawing" Target="../drawings/vmlDrawing1.vml"/><Relationship Id="rId5" Type="http://schemas.openxmlformats.org/officeDocument/2006/relationships/image" Target="../media/image10.emf"/><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ïS1ïde"/>
          <p:cNvGrpSpPr/>
          <p:nvPr/>
        </p:nvGrpSpPr>
        <p:grpSpPr>
          <a:xfrm>
            <a:off x="-88561" y="1274445"/>
            <a:ext cx="5239562" cy="4578581"/>
            <a:chOff x="648039" y="1442249"/>
            <a:chExt cx="4763885" cy="4162913"/>
          </a:xfrm>
        </p:grpSpPr>
        <p:sp>
          <p:nvSpPr>
            <p:cNvPr id="33" name="îs1iḍê"/>
            <p:cNvSpPr/>
            <p:nvPr/>
          </p:nvSpPr>
          <p:spPr bwMode="auto">
            <a:xfrm rot="610268">
              <a:off x="4224180" y="3572369"/>
              <a:ext cx="1187744" cy="1497020"/>
            </a:xfrm>
            <a:prstGeom prst="rtTriangle">
              <a:avLst/>
            </a:prstGeom>
            <a:solidFill>
              <a:schemeClr val="bg1">
                <a:lumMod val="75000"/>
              </a:schemeClr>
            </a:solidFill>
            <a:ln w="19050">
              <a:noFill/>
              <a:round/>
            </a:ln>
          </p:spPr>
          <p:txBody>
            <a:bodyPr wrap="square" lIns="91440" tIns="45720" rIns="91440" bIns="45720" anchor="ctr">
              <a:normAutofit/>
            </a:bodyPr>
            <a:lstStyle/>
            <a:p>
              <a:pPr algn="ctr">
                <a:lnSpc>
                  <a:spcPct val="150000"/>
                </a:lnSpc>
              </a:pPr>
              <a:endParaRPr dirty="0">
                <a:cs typeface="+mn-ea"/>
                <a:sym typeface="+mn-lt"/>
              </a:endParaRPr>
            </a:p>
          </p:txBody>
        </p:sp>
        <p:sp>
          <p:nvSpPr>
            <p:cNvPr id="34" name="ísḻíde"/>
            <p:cNvSpPr/>
            <p:nvPr/>
          </p:nvSpPr>
          <p:spPr bwMode="auto">
            <a:xfrm rot="16200000">
              <a:off x="1772352" y="1064207"/>
              <a:ext cx="1296144" cy="2052228"/>
            </a:xfrm>
            <a:prstGeom prst="triangle">
              <a:avLst/>
            </a:prstGeom>
            <a:solidFill>
              <a:schemeClr val="bg1">
                <a:lumMod val="75000"/>
              </a:schemeClr>
            </a:solidFill>
            <a:ln w="19050">
              <a:noFill/>
              <a:round/>
            </a:ln>
          </p:spPr>
          <p:txBody>
            <a:bodyPr wrap="square" lIns="91440" tIns="45720" rIns="91440" bIns="45720" anchor="ctr">
              <a:normAutofit/>
            </a:bodyPr>
            <a:lstStyle/>
            <a:p>
              <a:pPr algn="ctr">
                <a:lnSpc>
                  <a:spcPct val="150000"/>
                </a:lnSpc>
              </a:pPr>
              <a:endParaRPr dirty="0">
                <a:cs typeface="+mn-ea"/>
                <a:sym typeface="+mn-lt"/>
              </a:endParaRPr>
            </a:p>
          </p:txBody>
        </p:sp>
        <p:sp>
          <p:nvSpPr>
            <p:cNvPr id="35" name="íṡḻïďe"/>
            <p:cNvSpPr/>
            <p:nvPr/>
          </p:nvSpPr>
          <p:spPr bwMode="auto">
            <a:xfrm rot="3712223">
              <a:off x="855993" y="1330709"/>
              <a:ext cx="4066498" cy="4482407"/>
            </a:xfrm>
            <a:custGeom>
              <a:avLst/>
              <a:gdLst>
                <a:gd name="connsiteX0" fmla="*/ 0 w 4066498"/>
                <a:gd name="connsiteY0" fmla="*/ 2863075 h 4482407"/>
                <a:gd name="connsiteX1" fmla="*/ 1937533 w 4066498"/>
                <a:gd name="connsiteY1" fmla="*/ 0 h 4482407"/>
                <a:gd name="connsiteX2" fmla="*/ 4066498 w 4066498"/>
                <a:gd name="connsiteY2" fmla="*/ 1138176 h 4482407"/>
                <a:gd name="connsiteX3" fmla="*/ 3028971 w 4066498"/>
                <a:gd name="connsiteY3" fmla="*/ 4482407 h 4482407"/>
                <a:gd name="connsiteX4" fmla="*/ 0 w 4066498"/>
                <a:gd name="connsiteY4" fmla="*/ 2863075 h 4482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6498" h="4482407">
                  <a:moveTo>
                    <a:pt x="0" y="2863075"/>
                  </a:moveTo>
                  <a:lnTo>
                    <a:pt x="1937533" y="0"/>
                  </a:lnTo>
                  <a:lnTo>
                    <a:pt x="4066498" y="1138176"/>
                  </a:lnTo>
                  <a:lnTo>
                    <a:pt x="3028971" y="4482407"/>
                  </a:lnTo>
                  <a:lnTo>
                    <a:pt x="0" y="2863075"/>
                  </a:lnTo>
                  <a:close/>
                </a:path>
              </a:pathLst>
            </a:custGeom>
            <a:solidFill>
              <a:schemeClr val="bg1">
                <a:lumMod val="95000"/>
              </a:schemeClr>
            </a:solidFill>
            <a:ln w="19050">
              <a:noFill/>
              <a:round/>
            </a:ln>
          </p:spPr>
          <p:txBody>
            <a:bodyPr wrap="square" lIns="91440" tIns="45720" rIns="91440" bIns="45720" anchor="ctr">
              <a:normAutofit/>
            </a:bodyPr>
            <a:lstStyle/>
            <a:p>
              <a:pPr algn="ctr">
                <a:lnSpc>
                  <a:spcPct val="150000"/>
                </a:lnSpc>
              </a:pPr>
              <a:endParaRPr dirty="0">
                <a:solidFill>
                  <a:schemeClr val="accent1"/>
                </a:solidFill>
                <a:cs typeface="+mn-ea"/>
                <a:sym typeface="+mn-lt"/>
              </a:endParaRPr>
            </a:p>
          </p:txBody>
        </p:sp>
        <p:sp>
          <p:nvSpPr>
            <p:cNvPr id="36" name="îSḷíḍé"/>
            <p:cNvSpPr/>
            <p:nvPr/>
          </p:nvSpPr>
          <p:spPr>
            <a:xfrm>
              <a:off x="2557916" y="2566352"/>
              <a:ext cx="1762076" cy="1930663"/>
            </a:xfrm>
            <a:prstGeom prst="rect">
              <a:avLst/>
            </a:prstGeom>
          </p:spPr>
          <p:txBody>
            <a:bodyPr vert="eaVert" wrap="square" lIns="91440" tIns="45720" rIns="91440" bIns="45720">
              <a:normAutofit fontScale="97500"/>
            </a:bodyPr>
            <a:lstStyle/>
            <a:p>
              <a:pPr algn="r">
                <a:lnSpc>
                  <a:spcPct val="170000"/>
                </a:lnSpc>
              </a:pPr>
              <a:r>
                <a:rPr lang="zh-CN" altLang="en-US" sz="6000" b="1" dirty="0">
                  <a:solidFill>
                    <a:schemeClr val="accent1"/>
                  </a:solidFill>
                  <a:cs typeface="+mn-ea"/>
                  <a:sym typeface="+mn-lt"/>
                </a:rPr>
                <a:t>目 录</a:t>
              </a:r>
              <a:endParaRPr lang="en-US" altLang="zh-CN" sz="6000" b="1" dirty="0">
                <a:solidFill>
                  <a:schemeClr val="accent1"/>
                </a:solidFill>
                <a:cs typeface="+mn-ea"/>
                <a:sym typeface="+mn-lt"/>
              </a:endParaRPr>
            </a:p>
          </p:txBody>
        </p:sp>
      </p:grpSp>
      <p:cxnSp>
        <p:nvCxnSpPr>
          <p:cNvPr id="11" name="直接连接符 10"/>
          <p:cNvCxnSpPr/>
          <p:nvPr/>
        </p:nvCxnSpPr>
        <p:spPr>
          <a:xfrm>
            <a:off x="5837698" y="1516755"/>
            <a:ext cx="4656656"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5190015" y="874520"/>
            <a:ext cx="5422672" cy="607864"/>
            <a:chOff x="6250134" y="2411451"/>
            <a:chExt cx="5422672" cy="607864"/>
          </a:xfrm>
        </p:grpSpPr>
        <p:sp>
          <p:nvSpPr>
            <p:cNvPr id="27" name="ïṩľiḋe"/>
            <p:cNvSpPr/>
            <p:nvPr/>
          </p:nvSpPr>
          <p:spPr>
            <a:xfrm>
              <a:off x="6250134" y="2411451"/>
              <a:ext cx="607866" cy="607864"/>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92500"/>
            </a:bodyPr>
            <a:lstStyle/>
            <a:p>
              <a:pPr algn="ctr">
                <a:lnSpc>
                  <a:spcPct val="170000"/>
                </a:lnSpc>
              </a:pPr>
              <a:r>
                <a:rPr lang="en-US" altLang="zh-CN" sz="900" dirty="0">
                  <a:solidFill>
                    <a:schemeClr val="bg1"/>
                  </a:solidFill>
                  <a:cs typeface="+mn-ea"/>
                  <a:sym typeface="+mn-lt"/>
                </a:rPr>
                <a:t>01</a:t>
              </a:r>
            </a:p>
          </p:txBody>
        </p:sp>
        <p:sp>
          <p:nvSpPr>
            <p:cNvPr id="37" name="îṧľíḑe"/>
            <p:cNvSpPr txBox="1"/>
            <p:nvPr/>
          </p:nvSpPr>
          <p:spPr bwMode="auto">
            <a:xfrm>
              <a:off x="7016150" y="2479044"/>
              <a:ext cx="4656656" cy="452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eaLnBrk="0" fontAlgn="base" hangingPunct="0">
                <a:lnSpc>
                  <a:spcPct val="150000"/>
                </a:lnSpc>
                <a:spcBef>
                  <a:spcPct val="0"/>
                </a:spcBef>
                <a:spcAft>
                  <a:spcPct val="0"/>
                </a:spcAft>
              </a:pPr>
              <a:r>
                <a:rPr lang="zh-CN" altLang="en-US" b="1" dirty="0">
                  <a:cs typeface="+mn-ea"/>
                  <a:sym typeface="+mn-lt"/>
                </a:rPr>
                <a:t>三分钟学会掼蛋</a:t>
              </a:r>
              <a:endParaRPr lang="en-US" altLang="zh-CN" b="1" dirty="0">
                <a:cs typeface="+mn-ea"/>
                <a:sym typeface="+mn-lt"/>
              </a:endParaRPr>
            </a:p>
          </p:txBody>
        </p:sp>
      </p:grpSp>
      <p:cxnSp>
        <p:nvCxnSpPr>
          <p:cNvPr id="16" name="直接连接符 15"/>
          <p:cNvCxnSpPr/>
          <p:nvPr/>
        </p:nvCxnSpPr>
        <p:spPr>
          <a:xfrm>
            <a:off x="5797881" y="2451247"/>
            <a:ext cx="4656656"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5837698" y="3287051"/>
            <a:ext cx="4656656"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5190015" y="1690119"/>
            <a:ext cx="5422672" cy="607864"/>
            <a:chOff x="6250134" y="2411451"/>
            <a:chExt cx="5422672" cy="607864"/>
          </a:xfrm>
        </p:grpSpPr>
        <p:sp>
          <p:nvSpPr>
            <p:cNvPr id="19" name="ïṩľiḋe"/>
            <p:cNvSpPr/>
            <p:nvPr/>
          </p:nvSpPr>
          <p:spPr>
            <a:xfrm>
              <a:off x="6250134" y="2411451"/>
              <a:ext cx="607866" cy="607864"/>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92500"/>
            </a:bodyPr>
            <a:lstStyle/>
            <a:p>
              <a:pPr algn="ctr">
                <a:lnSpc>
                  <a:spcPct val="170000"/>
                </a:lnSpc>
              </a:pPr>
              <a:r>
                <a:rPr lang="en-US" altLang="zh-CN" sz="900" dirty="0" smtClean="0">
                  <a:solidFill>
                    <a:schemeClr val="bg1"/>
                  </a:solidFill>
                  <a:cs typeface="+mn-ea"/>
                  <a:sym typeface="+mn-lt"/>
                </a:rPr>
                <a:t>02</a:t>
              </a:r>
              <a:endParaRPr lang="en-US" altLang="zh-CN" sz="900" dirty="0">
                <a:solidFill>
                  <a:schemeClr val="bg1"/>
                </a:solidFill>
                <a:cs typeface="+mn-ea"/>
                <a:sym typeface="+mn-lt"/>
              </a:endParaRPr>
            </a:p>
          </p:txBody>
        </p:sp>
        <p:sp>
          <p:nvSpPr>
            <p:cNvPr id="20" name="îṧľíḑe"/>
            <p:cNvSpPr txBox="1"/>
            <p:nvPr/>
          </p:nvSpPr>
          <p:spPr bwMode="auto">
            <a:xfrm>
              <a:off x="7016150" y="2479044"/>
              <a:ext cx="4656656" cy="452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eaLnBrk="0" fontAlgn="base" hangingPunct="0">
                <a:lnSpc>
                  <a:spcPct val="150000"/>
                </a:lnSpc>
                <a:spcBef>
                  <a:spcPct val="0"/>
                </a:spcBef>
                <a:spcAft>
                  <a:spcPct val="0"/>
                </a:spcAft>
              </a:pPr>
              <a:r>
                <a:rPr lang="zh-CN" altLang="en-US" b="1" dirty="0">
                  <a:cs typeface="+mn-ea"/>
                  <a:sym typeface="+mn-lt"/>
                </a:rPr>
                <a:t>掼蛋的全局估量与思考</a:t>
              </a:r>
              <a:endParaRPr lang="en-US" altLang="zh-CN" b="1" dirty="0">
                <a:cs typeface="+mn-ea"/>
                <a:sym typeface="+mn-lt"/>
              </a:endParaRPr>
            </a:p>
          </p:txBody>
        </p:sp>
      </p:grpSp>
      <p:grpSp>
        <p:nvGrpSpPr>
          <p:cNvPr id="21" name="组合 20"/>
          <p:cNvGrpSpPr/>
          <p:nvPr/>
        </p:nvGrpSpPr>
        <p:grpSpPr>
          <a:xfrm>
            <a:off x="5190014" y="2607942"/>
            <a:ext cx="5339849" cy="607864"/>
            <a:chOff x="6250134" y="3268378"/>
            <a:chExt cx="5339849" cy="607864"/>
          </a:xfrm>
        </p:grpSpPr>
        <p:sp>
          <p:nvSpPr>
            <p:cNvPr id="22" name="iSḷïḍè"/>
            <p:cNvSpPr/>
            <p:nvPr/>
          </p:nvSpPr>
          <p:spPr>
            <a:xfrm>
              <a:off x="6250134" y="3268378"/>
              <a:ext cx="607866" cy="607864"/>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lnSpc>
                  <a:spcPct val="170000"/>
                </a:lnSpc>
              </a:pPr>
              <a:r>
                <a:rPr lang="en-US" altLang="zh-CN" sz="800" dirty="0" smtClean="0">
                  <a:solidFill>
                    <a:schemeClr val="bg1"/>
                  </a:solidFill>
                  <a:cs typeface="+mn-ea"/>
                  <a:sym typeface="+mn-lt"/>
                </a:rPr>
                <a:t>03</a:t>
              </a:r>
              <a:endParaRPr lang="en-US" altLang="zh-CN" sz="800" dirty="0">
                <a:solidFill>
                  <a:schemeClr val="bg1"/>
                </a:solidFill>
                <a:cs typeface="+mn-ea"/>
                <a:sym typeface="+mn-lt"/>
              </a:endParaRPr>
            </a:p>
          </p:txBody>
        </p:sp>
        <p:sp>
          <p:nvSpPr>
            <p:cNvPr id="23" name="îṧľíḑe"/>
            <p:cNvSpPr txBox="1"/>
            <p:nvPr/>
          </p:nvSpPr>
          <p:spPr bwMode="auto">
            <a:xfrm>
              <a:off x="6933327" y="3338312"/>
              <a:ext cx="4656656" cy="452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0" fontAlgn="base" hangingPunct="0">
                <a:lnSpc>
                  <a:spcPct val="150000"/>
                </a:lnSpc>
                <a:spcBef>
                  <a:spcPct val="0"/>
                </a:spcBef>
                <a:spcAft>
                  <a:spcPct val="0"/>
                </a:spcAft>
              </a:pPr>
              <a:r>
                <a:rPr lang="zh-CN" altLang="en-US" b="1" dirty="0">
                  <a:cs typeface="+mn-ea"/>
                  <a:sym typeface="+mn-lt"/>
                </a:rPr>
                <a:t>整体的技巧与原则</a:t>
              </a:r>
              <a:endParaRPr lang="en-US" altLang="zh-CN" b="1" dirty="0">
                <a:cs typeface="+mn-ea"/>
                <a:sym typeface="+mn-lt"/>
              </a:endParaRPr>
            </a:p>
          </p:txBody>
        </p:sp>
      </p:grpSp>
      <p:cxnSp>
        <p:nvCxnSpPr>
          <p:cNvPr id="25" name="直接连接符 24"/>
          <p:cNvCxnSpPr/>
          <p:nvPr/>
        </p:nvCxnSpPr>
        <p:spPr>
          <a:xfrm>
            <a:off x="5873209" y="4162573"/>
            <a:ext cx="4656656"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5841938" y="5158081"/>
            <a:ext cx="4656656"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a:off x="5190014" y="3455647"/>
            <a:ext cx="5916913" cy="607864"/>
            <a:chOff x="6250134" y="2411451"/>
            <a:chExt cx="5264522" cy="607864"/>
          </a:xfrm>
        </p:grpSpPr>
        <p:sp>
          <p:nvSpPr>
            <p:cNvPr id="30" name="ïṩľiḋe"/>
            <p:cNvSpPr/>
            <p:nvPr/>
          </p:nvSpPr>
          <p:spPr>
            <a:xfrm>
              <a:off x="6250134" y="2411451"/>
              <a:ext cx="607866" cy="607864"/>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92500"/>
            </a:bodyPr>
            <a:lstStyle/>
            <a:p>
              <a:pPr algn="ctr">
                <a:lnSpc>
                  <a:spcPct val="170000"/>
                </a:lnSpc>
              </a:pPr>
              <a:r>
                <a:rPr lang="en-US" altLang="zh-CN" sz="900" dirty="0" smtClean="0">
                  <a:solidFill>
                    <a:schemeClr val="bg1"/>
                  </a:solidFill>
                  <a:cs typeface="+mn-ea"/>
                  <a:sym typeface="+mn-lt"/>
                </a:rPr>
                <a:t>04</a:t>
              </a:r>
              <a:endParaRPr lang="en-US" altLang="zh-CN" sz="900" dirty="0">
                <a:solidFill>
                  <a:schemeClr val="bg1"/>
                </a:solidFill>
                <a:cs typeface="+mn-ea"/>
                <a:sym typeface="+mn-lt"/>
              </a:endParaRPr>
            </a:p>
          </p:txBody>
        </p:sp>
        <p:sp>
          <p:nvSpPr>
            <p:cNvPr id="31" name="îṧľíḑe"/>
            <p:cNvSpPr txBox="1"/>
            <p:nvPr/>
          </p:nvSpPr>
          <p:spPr bwMode="auto">
            <a:xfrm>
              <a:off x="6858000" y="2534697"/>
              <a:ext cx="4656656" cy="452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0" fontAlgn="base" hangingPunct="0">
                <a:lnSpc>
                  <a:spcPct val="150000"/>
                </a:lnSpc>
                <a:spcBef>
                  <a:spcPct val="0"/>
                </a:spcBef>
                <a:spcAft>
                  <a:spcPct val="0"/>
                </a:spcAft>
              </a:pPr>
              <a:r>
                <a:rPr lang="zh-CN" altLang="en-US" b="1" dirty="0" smtClean="0">
                  <a:cs typeface="+mn-ea"/>
                  <a:sym typeface="+mn-lt"/>
                </a:rPr>
                <a:t>掼蛋</a:t>
              </a:r>
              <a:r>
                <a:rPr lang="zh-CN" altLang="en-US" b="1" dirty="0">
                  <a:cs typeface="+mn-ea"/>
                  <a:sym typeface="+mn-lt"/>
                </a:rPr>
                <a:t>的的</a:t>
              </a:r>
              <a:r>
                <a:rPr lang="zh-CN" altLang="en-US" b="1" dirty="0" smtClean="0">
                  <a:cs typeface="+mn-ea"/>
                  <a:sym typeface="+mn-lt"/>
                </a:rPr>
                <a:t>信息学</a:t>
              </a:r>
              <a:endParaRPr lang="zh-CN" altLang="en-US" b="1" dirty="0">
                <a:cs typeface="+mn-ea"/>
                <a:sym typeface="+mn-lt"/>
              </a:endParaRPr>
            </a:p>
          </p:txBody>
        </p:sp>
      </p:grpSp>
      <p:grpSp>
        <p:nvGrpSpPr>
          <p:cNvPr id="32" name="组合 31"/>
          <p:cNvGrpSpPr/>
          <p:nvPr/>
        </p:nvGrpSpPr>
        <p:grpSpPr>
          <a:xfrm>
            <a:off x="5229831" y="4332953"/>
            <a:ext cx="5422672" cy="607864"/>
            <a:chOff x="6250134" y="3268378"/>
            <a:chExt cx="5422672" cy="607864"/>
          </a:xfrm>
        </p:grpSpPr>
        <p:sp>
          <p:nvSpPr>
            <p:cNvPr id="38" name="iSḷïḍè"/>
            <p:cNvSpPr/>
            <p:nvPr/>
          </p:nvSpPr>
          <p:spPr>
            <a:xfrm>
              <a:off x="6250134" y="3268378"/>
              <a:ext cx="607866" cy="607864"/>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lnSpc>
                  <a:spcPct val="170000"/>
                </a:lnSpc>
              </a:pPr>
              <a:r>
                <a:rPr lang="en-US" altLang="zh-CN" sz="800" dirty="0" smtClean="0">
                  <a:solidFill>
                    <a:schemeClr val="bg1"/>
                  </a:solidFill>
                  <a:cs typeface="+mn-ea"/>
                  <a:sym typeface="+mn-lt"/>
                </a:rPr>
                <a:t>05</a:t>
              </a:r>
              <a:endParaRPr lang="en-US" altLang="zh-CN" sz="800" dirty="0">
                <a:solidFill>
                  <a:schemeClr val="bg1"/>
                </a:solidFill>
                <a:cs typeface="+mn-ea"/>
                <a:sym typeface="+mn-lt"/>
              </a:endParaRPr>
            </a:p>
          </p:txBody>
        </p:sp>
        <p:sp>
          <p:nvSpPr>
            <p:cNvPr id="40" name="îṧľíḑe"/>
            <p:cNvSpPr txBox="1"/>
            <p:nvPr/>
          </p:nvSpPr>
          <p:spPr bwMode="auto">
            <a:xfrm>
              <a:off x="7016150" y="3338312"/>
              <a:ext cx="4656656" cy="452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eaLnBrk="0" fontAlgn="base" hangingPunct="0">
                <a:lnSpc>
                  <a:spcPct val="150000"/>
                </a:lnSpc>
                <a:spcBef>
                  <a:spcPct val="0"/>
                </a:spcBef>
                <a:spcAft>
                  <a:spcPct val="0"/>
                </a:spcAft>
              </a:pPr>
              <a:r>
                <a:rPr lang="zh-CN" altLang="en-US" b="1" dirty="0" smtClean="0">
                  <a:cs typeface="+mn-ea"/>
                  <a:sym typeface="+mn-lt"/>
                </a:rPr>
                <a:t>掼蛋中的初、中、高级打法</a:t>
              </a:r>
              <a:endParaRPr lang="zh-CN" altLang="en-US" b="1" dirty="0">
                <a:cs typeface="+mn-ea"/>
                <a:sym typeface="+mn-lt"/>
              </a:endParaRPr>
            </a:p>
          </p:txBody>
        </p:sp>
      </p:grpSp>
      <p:sp>
        <p:nvSpPr>
          <p:cNvPr id="28" name="ïṩľiḋe"/>
          <p:cNvSpPr/>
          <p:nvPr/>
        </p:nvSpPr>
        <p:spPr>
          <a:xfrm>
            <a:off x="5190014" y="5100850"/>
            <a:ext cx="683194" cy="607864"/>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92500"/>
          </a:bodyPr>
          <a:lstStyle/>
          <a:p>
            <a:pPr algn="ctr">
              <a:lnSpc>
                <a:spcPct val="170000"/>
              </a:lnSpc>
            </a:pPr>
            <a:r>
              <a:rPr lang="en-US" altLang="zh-CN" sz="900" dirty="0" smtClean="0">
                <a:solidFill>
                  <a:schemeClr val="bg1"/>
                </a:solidFill>
                <a:cs typeface="+mn-ea"/>
                <a:sym typeface="+mn-lt"/>
              </a:rPr>
              <a:t>06</a:t>
            </a:r>
            <a:endParaRPr lang="en-US" altLang="zh-CN" sz="900" dirty="0">
              <a:solidFill>
                <a:schemeClr val="bg1"/>
              </a:solidFill>
              <a:cs typeface="+mn-ea"/>
              <a:sym typeface="+mn-lt"/>
            </a:endParaRPr>
          </a:p>
        </p:txBody>
      </p:sp>
      <p:sp>
        <p:nvSpPr>
          <p:cNvPr id="39" name="îṧľíḑe"/>
          <p:cNvSpPr txBox="1"/>
          <p:nvPr/>
        </p:nvSpPr>
        <p:spPr bwMode="auto">
          <a:xfrm>
            <a:off x="5995846" y="5226172"/>
            <a:ext cx="5233719" cy="452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eaLnBrk="0" fontAlgn="base" hangingPunct="0">
              <a:lnSpc>
                <a:spcPct val="150000"/>
              </a:lnSpc>
              <a:spcBef>
                <a:spcPct val="0"/>
              </a:spcBef>
              <a:spcAft>
                <a:spcPct val="0"/>
              </a:spcAft>
            </a:pPr>
            <a:r>
              <a:rPr lang="zh-CN" altLang="en-US" b="1" dirty="0" smtClean="0">
                <a:cs typeface="+mn-ea"/>
                <a:sym typeface="+mn-lt"/>
              </a:rPr>
              <a:t>牌技与牌德</a:t>
            </a:r>
            <a:endParaRPr lang="en-US" altLang="zh-CN" b="1" dirty="0">
              <a:cs typeface="+mn-ea"/>
              <a:sym typeface="+mn-lt"/>
            </a:endParaRPr>
          </a:p>
        </p:txBody>
      </p:sp>
      <p:cxnSp>
        <p:nvCxnSpPr>
          <p:cNvPr id="41" name="直接连接符 40"/>
          <p:cNvCxnSpPr/>
          <p:nvPr/>
        </p:nvCxnSpPr>
        <p:spPr>
          <a:xfrm>
            <a:off x="5873209" y="5712429"/>
            <a:ext cx="4656656"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2" name="ïṩľiḋe"/>
          <p:cNvSpPr/>
          <p:nvPr/>
        </p:nvSpPr>
        <p:spPr>
          <a:xfrm>
            <a:off x="5190014" y="5867285"/>
            <a:ext cx="683194" cy="607864"/>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92500"/>
          </a:bodyPr>
          <a:lstStyle/>
          <a:p>
            <a:pPr algn="ctr">
              <a:lnSpc>
                <a:spcPct val="170000"/>
              </a:lnSpc>
            </a:pPr>
            <a:r>
              <a:rPr lang="en-US" altLang="zh-CN" sz="900" dirty="0" smtClean="0">
                <a:solidFill>
                  <a:schemeClr val="bg1"/>
                </a:solidFill>
                <a:cs typeface="+mn-ea"/>
                <a:sym typeface="+mn-lt"/>
              </a:rPr>
              <a:t>07</a:t>
            </a:r>
            <a:endParaRPr lang="en-US" altLang="zh-CN" sz="900" dirty="0">
              <a:solidFill>
                <a:schemeClr val="bg1"/>
              </a:solidFill>
              <a:cs typeface="+mn-ea"/>
              <a:sym typeface="+mn-lt"/>
            </a:endParaRPr>
          </a:p>
        </p:txBody>
      </p:sp>
      <p:sp>
        <p:nvSpPr>
          <p:cNvPr id="43" name="îṧľíḑe"/>
          <p:cNvSpPr txBox="1"/>
          <p:nvPr/>
        </p:nvSpPr>
        <p:spPr bwMode="auto">
          <a:xfrm>
            <a:off x="5995846" y="5992607"/>
            <a:ext cx="5233719" cy="452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eaLnBrk="0" fontAlgn="base" hangingPunct="0">
              <a:lnSpc>
                <a:spcPct val="150000"/>
              </a:lnSpc>
              <a:spcBef>
                <a:spcPct val="0"/>
              </a:spcBef>
              <a:spcAft>
                <a:spcPct val="0"/>
              </a:spcAft>
            </a:pPr>
            <a:r>
              <a:rPr lang="zh-CN" altLang="en-US" b="1" dirty="0" smtClean="0">
                <a:cs typeface="+mn-ea"/>
                <a:sym typeface="+mn-lt"/>
              </a:rPr>
              <a:t>整理与总结</a:t>
            </a:r>
            <a:endParaRPr lang="en-US" altLang="zh-CN" b="1" dirty="0">
              <a:cs typeface="+mn-ea"/>
              <a:sym typeface="+mn-lt"/>
            </a:endParaRPr>
          </a:p>
        </p:txBody>
      </p:sp>
      <p:cxnSp>
        <p:nvCxnSpPr>
          <p:cNvPr id="44" name="直接连接符 43"/>
          <p:cNvCxnSpPr/>
          <p:nvPr/>
        </p:nvCxnSpPr>
        <p:spPr>
          <a:xfrm>
            <a:off x="5913025" y="6957502"/>
            <a:ext cx="4656656"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5956031" y="6388546"/>
            <a:ext cx="4656656"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7790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227383" y="2363492"/>
            <a:ext cx="4009578" cy="1697599"/>
          </a:xfrm>
        </p:spPr>
        <p:txBody>
          <a:bodyPr>
            <a:noAutofit/>
          </a:bodyPr>
          <a:lstStyle/>
          <a:p>
            <a:pPr lvl="0" algn="ctr" eaLnBrk="0" fontAlgn="base" hangingPunct="0">
              <a:lnSpc>
                <a:spcPct val="150000"/>
              </a:lnSpc>
              <a:spcAft>
                <a:spcPct val="0"/>
              </a:spcAft>
              <a:defRPr/>
            </a:pPr>
            <a:r>
              <a:rPr lang="zh-CN" altLang="en-US" sz="4000" dirty="0" smtClean="0">
                <a:latin typeface="+mn-lt"/>
                <a:ea typeface="+mn-ea"/>
                <a:cs typeface="+mn-ea"/>
                <a:sym typeface="+mn-lt"/>
              </a:rPr>
              <a:t>三分钟学会掼蛋</a:t>
            </a:r>
            <a:endParaRPr lang="zh-CN" altLang="de-DE" sz="4000" dirty="0">
              <a:latin typeface="+mn-lt"/>
              <a:ea typeface="+mn-ea"/>
              <a:cs typeface="+mn-ea"/>
              <a:sym typeface="+mn-lt"/>
            </a:endParaRPr>
          </a:p>
        </p:txBody>
      </p:sp>
      <p:sp>
        <p:nvSpPr>
          <p:cNvPr id="9" name="文本框 8"/>
          <p:cNvSpPr txBox="1"/>
          <p:nvPr/>
        </p:nvSpPr>
        <p:spPr>
          <a:xfrm>
            <a:off x="3203867" y="3171182"/>
            <a:ext cx="1023516" cy="889909"/>
          </a:xfrm>
          <a:prstGeom prst="rect">
            <a:avLst/>
          </a:prstGeom>
          <a:noFill/>
          <a:ln w="117475">
            <a:noFill/>
          </a:ln>
        </p:spPr>
        <p:txBody>
          <a:bodyPr wrap="none" rtlCol="0">
            <a:prstTxWarp prst="textPlain">
              <a:avLst/>
            </a:prstTxWarp>
            <a:spAutoFit/>
          </a:bodyPr>
          <a:lstStyle/>
          <a:p>
            <a:pPr>
              <a:lnSpc>
                <a:spcPct val="150000"/>
              </a:lnSpc>
            </a:pPr>
            <a:r>
              <a:rPr lang="en-US" altLang="zh-CN" spc="100" dirty="0">
                <a:solidFill>
                  <a:schemeClr val="accent3"/>
                </a:solidFill>
                <a:cs typeface="+mn-ea"/>
                <a:sym typeface="+mn-lt"/>
              </a:rPr>
              <a:t>/</a:t>
            </a:r>
            <a:r>
              <a:rPr lang="en-US" altLang="zh-CN" sz="100" spc="100" dirty="0">
                <a:solidFill>
                  <a:schemeClr val="accent3"/>
                </a:solidFill>
                <a:cs typeface="+mn-ea"/>
                <a:sym typeface="+mn-lt"/>
              </a:rPr>
              <a:t> </a:t>
            </a:r>
            <a:r>
              <a:rPr lang="en-US" altLang="zh-CN" spc="100" dirty="0" smtClean="0">
                <a:solidFill>
                  <a:schemeClr val="accent3"/>
                </a:solidFill>
                <a:cs typeface="+mn-ea"/>
                <a:sym typeface="+mn-lt"/>
              </a:rPr>
              <a:t>01</a:t>
            </a:r>
            <a:endParaRPr lang="zh-CN" altLang="en-US" spc="100" dirty="0">
              <a:solidFill>
                <a:schemeClr val="accent3"/>
              </a:solidFill>
              <a:cs typeface="+mn-ea"/>
              <a:sym typeface="+mn-lt"/>
            </a:endParaRPr>
          </a:p>
        </p:txBody>
      </p:sp>
    </p:spTree>
    <p:custDataLst>
      <p:tags r:id="rId1"/>
    </p:custDataLst>
    <p:extLst>
      <p:ext uri="{BB962C8B-B14F-4D97-AF65-F5344CB8AC3E}">
        <p14:creationId xmlns:p14="http://schemas.microsoft.com/office/powerpoint/2010/main" val="280336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1.1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掼蛋的基本打法及规则</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644843" y="1209851"/>
            <a:ext cx="10875645" cy="5170646"/>
          </a:xfrm>
          <a:prstGeom prst="rect">
            <a:avLst/>
          </a:prstGeom>
          <a:noFill/>
        </p:spPr>
        <p:txBody>
          <a:bodyPr wrap="square" rtlCol="0">
            <a:spAutoFit/>
          </a:bodyPr>
          <a:lstStyle/>
          <a:p>
            <a:pPr fontAlgn="auto">
              <a:lnSpc>
                <a:spcPct val="150000"/>
              </a:lnSpc>
            </a:pP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掼蛋是四人游戏，</a:t>
            </a:r>
            <a:r>
              <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rPr>
              <a:t>2V2</a:t>
            </a: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。同一队的人相向而坐，也叫搭档或对家。另两人则称为对手或敌方。使用两副扑克牌，共</a:t>
            </a:r>
            <a:r>
              <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rPr>
              <a:t>108</a:t>
            </a: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张。给四人轮流发牌，或抓牌。不留底，每人</a:t>
            </a:r>
            <a:r>
              <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rPr>
              <a:t>27</a:t>
            </a: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张。</a:t>
            </a:r>
            <a:endPar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一</a:t>
            </a:r>
            <a:r>
              <a:rPr lang="zh-CN" altLang="en-US" sz="1100" b="1" kern="0" dirty="0">
                <a:solidFill>
                  <a:prstClr val="black">
                    <a:lumMod val="85000"/>
                    <a:lumOff val="15000"/>
                  </a:prstClr>
                </a:solidFill>
                <a:latin typeface="楷体" panose="02010609060101010101" pitchFamily="49" charset="-122"/>
                <a:ea typeface="楷体" panose="02010609060101010101" pitchFamily="49" charset="-122"/>
              </a:rPr>
              <a:t>、可出牌型</a:t>
            </a:r>
          </a:p>
          <a:p>
            <a:pPr fontAlgn="auto">
              <a:lnSpc>
                <a:spcPct val="150000"/>
              </a:lnSpc>
            </a:pP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掼蛋中，可出的牌型简单说是：五</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种长短中的七种牌</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型。</a:t>
            </a:r>
            <a:endParaRPr lang="en-US" altLang="zh-CN" sz="1100"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五</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种长短是</a:t>
            </a:r>
            <a:r>
              <a:rPr lang="en-US" altLang="zh-CN" sz="1100" kern="0" dirty="0" smtClean="0">
                <a:solidFill>
                  <a:prstClr val="black">
                    <a:lumMod val="85000"/>
                    <a:lumOff val="15000"/>
                  </a:prstClr>
                </a:solidFill>
                <a:latin typeface="楷体" panose="02010609060101010101" pitchFamily="49" charset="-122"/>
                <a:ea typeface="楷体" panose="02010609060101010101" pitchFamily="49" charset="-122"/>
              </a:rPr>
              <a:t>1</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张、</a:t>
            </a:r>
            <a:r>
              <a:rPr lang="en-US" altLang="zh-CN" sz="1100" kern="0" dirty="0" smtClean="0">
                <a:solidFill>
                  <a:prstClr val="black">
                    <a:lumMod val="85000"/>
                    <a:lumOff val="15000"/>
                  </a:prstClr>
                </a:solidFill>
                <a:latin typeface="楷体" panose="02010609060101010101" pitchFamily="49" charset="-122"/>
                <a:ea typeface="楷体" panose="02010609060101010101" pitchFamily="49" charset="-122"/>
              </a:rPr>
              <a:t>2</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张、</a:t>
            </a:r>
            <a:r>
              <a:rPr lang="en-US" altLang="zh-CN" sz="1100" kern="0" dirty="0" smtClean="0">
                <a:solidFill>
                  <a:prstClr val="black">
                    <a:lumMod val="85000"/>
                    <a:lumOff val="15000"/>
                  </a:prstClr>
                </a:solidFill>
                <a:latin typeface="楷体" panose="02010609060101010101" pitchFamily="49" charset="-122"/>
                <a:ea typeface="楷体" panose="02010609060101010101" pitchFamily="49" charset="-122"/>
              </a:rPr>
              <a:t>3</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张、</a:t>
            </a:r>
            <a:r>
              <a:rPr lang="en-US" altLang="zh-CN" sz="1100" kern="0" dirty="0" smtClean="0">
                <a:solidFill>
                  <a:prstClr val="black">
                    <a:lumMod val="85000"/>
                    <a:lumOff val="15000"/>
                  </a:prstClr>
                </a:solidFill>
                <a:latin typeface="楷体" panose="02010609060101010101" pitchFamily="49" charset="-122"/>
                <a:ea typeface="楷体" panose="02010609060101010101" pitchFamily="49" charset="-122"/>
              </a:rPr>
              <a:t>5</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张、</a:t>
            </a:r>
            <a:r>
              <a:rPr lang="en-US" altLang="zh-CN" sz="1100" kern="0" dirty="0" smtClean="0">
                <a:solidFill>
                  <a:prstClr val="black">
                    <a:lumMod val="85000"/>
                    <a:lumOff val="15000"/>
                  </a:prstClr>
                </a:solidFill>
                <a:latin typeface="楷体" panose="02010609060101010101" pitchFamily="49" charset="-122"/>
                <a:ea typeface="楷体" panose="02010609060101010101" pitchFamily="49" charset="-122"/>
              </a:rPr>
              <a:t>6</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张</a:t>
            </a:r>
            <a:endParaRPr lang="en-US" altLang="zh-CN" sz="1100"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七</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种牌型是：</a:t>
            </a:r>
          </a:p>
          <a:p>
            <a:pPr fontAlgn="auto">
              <a:lnSpc>
                <a:spcPct val="150000"/>
              </a:lnSpc>
            </a:pPr>
            <a:r>
              <a:rPr lang="en-US" altLang="zh-CN" sz="1100" kern="0" dirty="0">
                <a:solidFill>
                  <a:prstClr val="black">
                    <a:lumMod val="85000"/>
                    <a:lumOff val="15000"/>
                  </a:prstClr>
                </a:solidFill>
                <a:latin typeface="楷体" panose="02010609060101010101" pitchFamily="49" charset="-122"/>
                <a:ea typeface="楷体" panose="02010609060101010101" pitchFamily="49" charset="-122"/>
              </a:rPr>
              <a:t>1</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张是单</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张（大王是最大单张）</a:t>
            </a:r>
            <a:endParaRPr lang="zh-CN" altLang="en-US" sz="1100" kern="0" dirty="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en-US" altLang="zh-CN" sz="1100" kern="0" dirty="0">
                <a:solidFill>
                  <a:prstClr val="black">
                    <a:lumMod val="85000"/>
                    <a:lumOff val="15000"/>
                  </a:prstClr>
                </a:solidFill>
                <a:latin typeface="楷体" panose="02010609060101010101" pitchFamily="49" charset="-122"/>
                <a:ea typeface="楷体" panose="02010609060101010101" pitchFamily="49" charset="-122"/>
              </a:rPr>
              <a:t>2</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张是</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对子（两张大王是最大对子，两张小王是第二大的对子，一大一小王不能组成对子）</a:t>
            </a:r>
            <a:endParaRPr lang="zh-CN" altLang="en-US" sz="1100" kern="0" dirty="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en-US" altLang="zh-CN" sz="1100" kern="0" dirty="0">
                <a:solidFill>
                  <a:prstClr val="black">
                    <a:lumMod val="85000"/>
                    <a:lumOff val="15000"/>
                  </a:prstClr>
                </a:solidFill>
                <a:latin typeface="楷体" panose="02010609060101010101" pitchFamily="49" charset="-122"/>
                <a:ea typeface="楷体" panose="02010609060101010101" pitchFamily="49" charset="-122"/>
              </a:rPr>
              <a:t>3</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张是三</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条（三张同点牌）</a:t>
            </a:r>
            <a:endParaRPr lang="zh-CN" altLang="en-US" sz="1100" kern="0" dirty="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en-US" altLang="zh-CN" sz="1100" kern="0" dirty="0">
                <a:solidFill>
                  <a:prstClr val="black">
                    <a:lumMod val="85000"/>
                    <a:lumOff val="15000"/>
                  </a:prstClr>
                </a:solidFill>
                <a:latin typeface="楷体" panose="02010609060101010101" pitchFamily="49" charset="-122"/>
                <a:ea typeface="楷体" panose="02010609060101010101" pitchFamily="49" charset="-122"/>
              </a:rPr>
              <a:t>5</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张是两种：顺子和葫芦（三带二，江苏、安徽话中称：夯）</a:t>
            </a:r>
          </a:p>
          <a:p>
            <a:pPr fontAlgn="auto">
              <a:lnSpc>
                <a:spcPct val="150000"/>
              </a:lnSpc>
            </a:pPr>
            <a:r>
              <a:rPr lang="en-US" altLang="zh-CN" sz="1100" kern="0" dirty="0">
                <a:solidFill>
                  <a:prstClr val="black">
                    <a:lumMod val="85000"/>
                    <a:lumOff val="15000"/>
                  </a:prstClr>
                </a:solidFill>
                <a:latin typeface="楷体" panose="02010609060101010101" pitchFamily="49" charset="-122"/>
                <a:ea typeface="楷体" panose="02010609060101010101" pitchFamily="49" charset="-122"/>
              </a:rPr>
              <a:t>6</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张是两种：三连对和二连三（江苏安徽话中称：钢板）</a:t>
            </a:r>
          </a:p>
          <a:p>
            <a:pPr fontAlgn="auto">
              <a:lnSpc>
                <a:spcPct val="150000"/>
              </a:lnSpc>
            </a:pP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出牌时，各种牌型独立出牌，互相之间不能管牌（压牌）</a:t>
            </a:r>
          </a:p>
          <a:p>
            <a:pPr fontAlgn="auto">
              <a:lnSpc>
                <a:spcPct val="150000"/>
              </a:lnSpc>
            </a:pPr>
            <a:r>
              <a:rPr lang="zh-CN" altLang="en-US" sz="1100" b="1" kern="0" dirty="0">
                <a:solidFill>
                  <a:prstClr val="black">
                    <a:lumMod val="85000"/>
                    <a:lumOff val="15000"/>
                  </a:prstClr>
                </a:solidFill>
                <a:latin typeface="楷体" panose="02010609060101010101" pitchFamily="49" charset="-122"/>
                <a:ea typeface="楷体" panose="02010609060101010101" pitchFamily="49" charset="-122"/>
              </a:rPr>
              <a:t>二</a:t>
            </a: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、炸弹。</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四</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张及四张</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以上同点牌是</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炸弹，可以管各种牌型。在五张牌的炸弹中，有一个特殊的型：同花顺，是五张牌的炸弹中最大的牌。四个王是最大的炸弹</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。炸弹可以跨任何牌型管牌。</a:t>
            </a:r>
            <a:endParaRPr lang="zh-CN" altLang="en-US" sz="1100" kern="0" dirty="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100" b="1" kern="0" dirty="0">
                <a:solidFill>
                  <a:prstClr val="black">
                    <a:lumMod val="85000"/>
                    <a:lumOff val="15000"/>
                  </a:prstClr>
                </a:solidFill>
                <a:latin typeface="楷体" panose="02010609060101010101" pitchFamily="49" charset="-122"/>
                <a:ea typeface="楷体" panose="02010609060101010101" pitchFamily="49" charset="-122"/>
              </a:rPr>
              <a:t>三</a:t>
            </a: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、升级与贡、还牌。</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搭档为第一和第二个出完的（称为头游和二游），升三级；第一和第三个出完的（称为头游和三游），升两级；第一出完的和另一个未出完牌（称为头游和末游）升一级。</a:t>
            </a:r>
          </a:p>
          <a:p>
            <a:pPr fontAlgn="auto">
              <a:lnSpc>
                <a:spcPct val="150000"/>
              </a:lnSpc>
            </a:pP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搭档为第一和第二个出完的，</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则对家称</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双下，两人都要贡牌；第一和第三个出完的（称为头游和三游），</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则对家称</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单下，末游要贡牌给头游</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；搭档中第一</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出</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完而另</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一个未出完牌，称为内贡。贡牌者合计抓到两个大王，则不需要进贡了，称为扛贡，由头游先出牌。贡时，贡手上最大的牌（红配不用贡出），还牌时，还≤</a:t>
            </a:r>
            <a:r>
              <a:rPr lang="en-US" altLang="zh-CN" sz="1100" kern="0" dirty="0">
                <a:solidFill>
                  <a:prstClr val="black">
                    <a:lumMod val="85000"/>
                    <a:lumOff val="15000"/>
                  </a:prstClr>
                </a:solidFill>
                <a:latin typeface="楷体" panose="02010609060101010101" pitchFamily="49" charset="-122"/>
                <a:ea typeface="楷体" panose="02010609060101010101" pitchFamily="49" charset="-122"/>
              </a:rPr>
              <a:t>10</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的牌点。贡牌者先出牌，双贡时，贡最大的先出牌。</a:t>
            </a:r>
          </a:p>
          <a:p>
            <a:pPr fontAlgn="auto">
              <a:lnSpc>
                <a:spcPct val="150000"/>
              </a:lnSpc>
            </a:pPr>
            <a:r>
              <a:rPr lang="zh-CN" altLang="en-US" sz="1100" b="1" kern="0" dirty="0">
                <a:solidFill>
                  <a:prstClr val="black">
                    <a:lumMod val="85000"/>
                    <a:lumOff val="15000"/>
                  </a:prstClr>
                </a:solidFill>
                <a:latin typeface="楷体" panose="02010609060101010101" pitchFamily="49" charset="-122"/>
                <a:ea typeface="楷体" panose="02010609060101010101" pitchFamily="49" charset="-122"/>
              </a:rPr>
              <a:t>四</a:t>
            </a: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、主牌及红配。</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打</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哪一级时，这级牌称为主牌。比</a:t>
            </a:r>
            <a:r>
              <a:rPr lang="en-US" altLang="zh-CN" sz="1100" kern="0" dirty="0">
                <a:solidFill>
                  <a:prstClr val="black">
                    <a:lumMod val="85000"/>
                    <a:lumOff val="15000"/>
                  </a:prstClr>
                </a:solidFill>
                <a:latin typeface="楷体" panose="02010609060101010101" pitchFamily="49" charset="-122"/>
                <a:ea typeface="楷体" panose="02010609060101010101" pitchFamily="49" charset="-122"/>
              </a:rPr>
              <a:t>A</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大，比王小，同时这级牌中的两张红桃</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称为</a:t>
            </a: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逢人</a:t>
            </a:r>
            <a:r>
              <a:rPr lang="zh-CN" altLang="en-US" sz="1100" b="1" kern="0" dirty="0">
                <a:solidFill>
                  <a:prstClr val="black">
                    <a:lumMod val="85000"/>
                    <a:lumOff val="15000"/>
                  </a:prstClr>
                </a:solidFill>
                <a:latin typeface="楷体" panose="02010609060101010101" pitchFamily="49" charset="-122"/>
                <a:ea typeface="楷体" panose="02010609060101010101" pitchFamily="49" charset="-122"/>
              </a:rPr>
              <a:t>配（也称红配或百搭）</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，可以</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当作除</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大小王</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外的任意牌点（含花色）与其他</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牌组合使用，单独使用时，则</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是主牌牌</a:t>
            </a:r>
            <a:r>
              <a:rPr lang="zh-CN" altLang="en-US" sz="1100" kern="0" dirty="0">
                <a:solidFill>
                  <a:prstClr val="black">
                    <a:lumMod val="85000"/>
                    <a:lumOff val="15000"/>
                  </a:prstClr>
                </a:solidFill>
                <a:latin typeface="楷体" panose="02010609060101010101" pitchFamily="49" charset="-122"/>
                <a:ea typeface="楷体" panose="02010609060101010101" pitchFamily="49" charset="-122"/>
              </a:rPr>
              <a:t>点</a:t>
            </a:r>
            <a:r>
              <a:rPr lang="zh-CN" altLang="en-US" sz="1100" kern="0" dirty="0" smtClean="0">
                <a:solidFill>
                  <a:prstClr val="black">
                    <a:lumMod val="85000"/>
                    <a:lumOff val="15000"/>
                  </a:prstClr>
                </a:solidFill>
                <a:latin typeface="楷体" panose="02010609060101010101" pitchFamily="49" charset="-122"/>
                <a:ea typeface="楷体" panose="02010609060101010101" pitchFamily="49" charset="-122"/>
              </a:rPr>
              <a:t>。</a:t>
            </a:r>
            <a:endParaRPr lang="en-US" altLang="zh-CN" sz="1100" kern="0" dirty="0" smtClean="0">
              <a:solidFill>
                <a:prstClr val="black">
                  <a:lumMod val="85000"/>
                  <a:lumOff val="15000"/>
                </a:prstClr>
              </a:solidFill>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33185982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1.2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掼蛋为什么这么快在全国范围普及</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644843" y="1209851"/>
            <a:ext cx="9058449" cy="2169825"/>
          </a:xfrm>
          <a:prstGeom prst="rect">
            <a:avLst/>
          </a:prstGeom>
          <a:noFill/>
        </p:spPr>
        <p:txBody>
          <a:bodyPr wrap="square" rtlCol="0">
            <a:spAutoFit/>
          </a:bodyPr>
          <a:lstStyle/>
          <a:p>
            <a:pPr fontAlgn="auto">
              <a:lnSpc>
                <a:spcPct val="150000"/>
              </a:lnSpc>
            </a:pP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一、掼蛋规则并不复杂</a:t>
            </a:r>
            <a:endParaRPr lang="en-US" altLang="zh-CN"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二、多种游戏揉和，大多人在其中一两种游戏中都有基础。</a:t>
            </a:r>
            <a:endParaRPr lang="en-US" altLang="zh-CN"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三、各种牌型打法丰富，使得游戏具有很大的趣味性</a:t>
            </a:r>
            <a:endParaRPr lang="en-US" altLang="zh-CN"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四、</a:t>
            </a:r>
            <a:r>
              <a:rPr lang="zh-CN" altLang="en-US" b="1" kern="0" dirty="0">
                <a:solidFill>
                  <a:prstClr val="black">
                    <a:lumMod val="85000"/>
                    <a:lumOff val="15000"/>
                  </a:prstClr>
                </a:solidFill>
                <a:latin typeface="楷体" panose="02010609060101010101" pitchFamily="49" charset="-122"/>
                <a:ea typeface="楷体" panose="02010609060101010101" pitchFamily="49" charset="-122"/>
              </a:rPr>
              <a:t>多</a:t>
            </a: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了红配（百搭），丰富了组合的可能性，进一步增添</a:t>
            </a:r>
            <a:r>
              <a:rPr lang="zh-CN" altLang="en-US" b="1" kern="0" dirty="0">
                <a:solidFill>
                  <a:prstClr val="black">
                    <a:lumMod val="85000"/>
                    <a:lumOff val="15000"/>
                  </a:prstClr>
                </a:solidFill>
                <a:latin typeface="楷体" panose="02010609060101010101" pitchFamily="49" charset="-122"/>
                <a:ea typeface="楷体" panose="02010609060101010101" pitchFamily="49" charset="-122"/>
              </a:rPr>
              <a:t>了趣味性</a:t>
            </a:r>
            <a:endParaRPr lang="en-US" altLang="zh-CN"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五、运气占非常重要的比重，使得初学者有很多机会战胜高手，增加了他们参与的兴趣。</a:t>
            </a:r>
            <a:endParaRPr lang="en-US" altLang="zh-CN" kern="0" dirty="0" smtClean="0">
              <a:solidFill>
                <a:prstClr val="black">
                  <a:lumMod val="85000"/>
                  <a:lumOff val="15000"/>
                </a:prstClr>
              </a:solidFill>
              <a:latin typeface="楷体" panose="02010609060101010101" pitchFamily="49" charset="-122"/>
              <a:ea typeface="楷体" panose="02010609060101010101" pitchFamily="49" charset="-122"/>
            </a:endParaRPr>
          </a:p>
        </p:txBody>
      </p:sp>
      <p:sp>
        <p:nvSpPr>
          <p:cNvPr id="6" name="矩形 5"/>
          <p:cNvSpPr/>
          <p:nvPr/>
        </p:nvSpPr>
        <p:spPr>
          <a:xfrm>
            <a:off x="644843" y="3813762"/>
            <a:ext cx="6096000" cy="2308324"/>
          </a:xfrm>
          <a:prstGeom prst="rect">
            <a:avLst/>
          </a:prstGeom>
        </p:spPr>
        <p:txBody>
          <a:bodyPr>
            <a:spAutoFit/>
          </a:bodyPr>
          <a:lstStyle/>
          <a:p>
            <a:pPr algn="just">
              <a:spcAft>
                <a:spcPts val="0"/>
              </a:spcAft>
            </a:pPr>
            <a:r>
              <a:rPr lang="zh-CN" altLang="zh-CN" kern="100" dirty="0">
                <a:latin typeface="等线" panose="02010600030101010101" pitchFamily="2" charset="-122"/>
                <a:ea typeface="等线" panose="02010600030101010101" pitchFamily="2" charset="-122"/>
                <a:cs typeface="宋体" panose="02010600030101010101" pitchFamily="2" charset="-122"/>
              </a:rPr>
              <a:t>掼蛋取胜需要的条件：</a:t>
            </a:r>
          </a:p>
          <a:p>
            <a:pPr algn="just">
              <a:spcAft>
                <a:spcPts val="0"/>
              </a:spcAft>
            </a:pPr>
            <a:r>
              <a:rPr lang="en-US" altLang="zh-CN" kern="100" dirty="0" smtClean="0">
                <a:latin typeface="等线" panose="02010600030101010101" pitchFamily="2" charset="-122"/>
                <a:ea typeface="等线" panose="02010600030101010101" pitchFamily="2" charset="-122"/>
                <a:cs typeface="宋体" panose="02010600030101010101" pitchFamily="2" charset="-122"/>
              </a:rPr>
              <a:t>                   </a:t>
            </a:r>
            <a:r>
              <a:rPr lang="zh-CN" altLang="zh-CN" kern="100" dirty="0" smtClean="0">
                <a:latin typeface="等线" panose="02010600030101010101" pitchFamily="2" charset="-122"/>
                <a:ea typeface="等线" panose="02010600030101010101" pitchFamily="2" charset="-122"/>
                <a:cs typeface="宋体" panose="02010600030101010101" pitchFamily="2" charset="-122"/>
              </a:rPr>
              <a:t>牌</a:t>
            </a:r>
            <a:r>
              <a:rPr lang="zh-CN" altLang="zh-CN" kern="100" dirty="0">
                <a:latin typeface="等线" panose="02010600030101010101" pitchFamily="2" charset="-122"/>
                <a:ea typeface="等线" panose="02010600030101010101" pitchFamily="2" charset="-122"/>
                <a:cs typeface="宋体" panose="02010600030101010101" pitchFamily="2" charset="-122"/>
              </a:rPr>
              <a:t>运：</a:t>
            </a:r>
            <a:r>
              <a:rPr lang="en-US" altLang="zh-CN" kern="100" dirty="0">
                <a:latin typeface="等线" panose="02010600030101010101" pitchFamily="2" charset="-122"/>
                <a:ea typeface="等线" panose="02010600030101010101" pitchFamily="2" charset="-122"/>
                <a:cs typeface="宋体" panose="02010600030101010101" pitchFamily="2" charset="-122"/>
              </a:rPr>
              <a:t>70%</a:t>
            </a:r>
            <a:r>
              <a:rPr lang="zh-CN" altLang="zh-CN" kern="100" dirty="0">
                <a:latin typeface="等线" panose="02010600030101010101" pitchFamily="2" charset="-122"/>
                <a:ea typeface="等线" panose="02010600030101010101" pitchFamily="2" charset="-122"/>
                <a:cs typeface="宋体" panose="02010600030101010101" pitchFamily="2" charset="-122"/>
              </a:rPr>
              <a:t>；牌技：</a:t>
            </a:r>
            <a:r>
              <a:rPr lang="en-US" altLang="zh-CN" kern="100" dirty="0">
                <a:latin typeface="等线" panose="02010600030101010101" pitchFamily="2" charset="-122"/>
                <a:ea typeface="等线" panose="02010600030101010101" pitchFamily="2" charset="-122"/>
                <a:cs typeface="宋体" panose="02010600030101010101" pitchFamily="2" charset="-122"/>
              </a:rPr>
              <a:t>20%</a:t>
            </a:r>
            <a:r>
              <a:rPr lang="zh-CN" altLang="zh-CN" kern="100" dirty="0">
                <a:latin typeface="等线" panose="02010600030101010101" pitchFamily="2" charset="-122"/>
                <a:ea typeface="等线" panose="02010600030101010101" pitchFamily="2" charset="-122"/>
                <a:cs typeface="宋体" panose="02010600030101010101" pitchFamily="2" charset="-122"/>
              </a:rPr>
              <a:t>；配合：</a:t>
            </a:r>
            <a:r>
              <a:rPr lang="en-US" altLang="zh-CN" kern="100" dirty="0">
                <a:latin typeface="等线" panose="02010600030101010101" pitchFamily="2" charset="-122"/>
                <a:ea typeface="等线" panose="02010600030101010101" pitchFamily="2" charset="-122"/>
                <a:cs typeface="宋体" panose="02010600030101010101" pitchFamily="2" charset="-122"/>
              </a:rPr>
              <a:t>10</a:t>
            </a:r>
            <a:r>
              <a:rPr lang="en-US" altLang="zh-CN" kern="100" dirty="0" smtClean="0">
                <a:latin typeface="等线" panose="02010600030101010101" pitchFamily="2" charset="-122"/>
                <a:ea typeface="等线" panose="02010600030101010101" pitchFamily="2" charset="-122"/>
                <a:cs typeface="宋体" panose="02010600030101010101" pitchFamily="2" charset="-122"/>
              </a:rPr>
              <a:t>%</a:t>
            </a:r>
          </a:p>
          <a:p>
            <a:pPr algn="just"/>
            <a:r>
              <a:rPr lang="en-US" altLang="zh-CN" kern="100" dirty="0" smtClean="0">
                <a:latin typeface="等线" panose="02010600030101010101" pitchFamily="2" charset="-122"/>
                <a:ea typeface="等线" panose="02010600030101010101" pitchFamily="2" charset="-122"/>
                <a:cs typeface="宋体" panose="02010600030101010101" pitchFamily="2" charset="-122"/>
              </a:rPr>
              <a:t>          </a:t>
            </a:r>
            <a:r>
              <a:rPr lang="zh-CN" altLang="en-US" kern="100" dirty="0" smtClean="0">
                <a:latin typeface="等线" panose="02010600030101010101" pitchFamily="2" charset="-122"/>
                <a:ea typeface="等线" panose="02010600030101010101" pitchFamily="2" charset="-122"/>
                <a:cs typeface="宋体" panose="02010600030101010101" pitchFamily="2" charset="-122"/>
              </a:rPr>
              <a:t>（</a:t>
            </a:r>
            <a:r>
              <a:rPr lang="zh-CN" altLang="zh-CN" kern="100" dirty="0" smtClean="0">
                <a:latin typeface="等线" panose="02010600030101010101" pitchFamily="2" charset="-122"/>
                <a:ea typeface="等线" panose="02010600030101010101" pitchFamily="2" charset="-122"/>
                <a:cs typeface="宋体" panose="02010600030101010101" pitchFamily="2" charset="-122"/>
              </a:rPr>
              <a:t>起手</a:t>
            </a:r>
            <a:r>
              <a:rPr lang="zh-CN" altLang="en-US" kern="100" dirty="0">
                <a:latin typeface="等线" panose="02010600030101010101" pitchFamily="2" charset="-122"/>
                <a:ea typeface="等线" panose="02010600030101010101" pitchFamily="2" charset="-122"/>
                <a:cs typeface="宋体" panose="02010600030101010101" pitchFamily="2" charset="-122"/>
              </a:rPr>
              <a:t>五</a:t>
            </a:r>
            <a:r>
              <a:rPr lang="zh-CN" altLang="zh-CN" kern="100" dirty="0">
                <a:latin typeface="等线" panose="02010600030101010101" pitchFamily="2" charset="-122"/>
                <a:ea typeface="等线" panose="02010600030101010101" pitchFamily="2" charset="-122"/>
                <a:cs typeface="宋体" panose="02010600030101010101" pitchFamily="2" charset="-122"/>
              </a:rPr>
              <a:t>把炸，还能赢</a:t>
            </a:r>
            <a:r>
              <a:rPr lang="zh-CN" altLang="zh-CN" kern="100" dirty="0" smtClean="0">
                <a:latin typeface="等线" panose="02010600030101010101" pitchFamily="2" charset="-122"/>
                <a:ea typeface="等线" panose="02010600030101010101" pitchFamily="2" charset="-122"/>
                <a:cs typeface="宋体" panose="02010600030101010101" pitchFamily="2" charset="-122"/>
              </a:rPr>
              <a:t>不了</a:t>
            </a:r>
            <a:r>
              <a:rPr lang="zh-CN" altLang="en-US" kern="100" dirty="0" smtClean="0">
                <a:latin typeface="等线" panose="02010600030101010101" pitchFamily="2" charset="-122"/>
                <a:ea typeface="等线" panose="02010600030101010101" pitchFamily="2" charset="-122"/>
                <a:cs typeface="宋体" panose="02010600030101010101" pitchFamily="2" charset="-122"/>
              </a:rPr>
              <a:t>，牌好是有决定性作用的）</a:t>
            </a:r>
            <a:endParaRPr lang="zh-CN" altLang="zh-CN" kern="100" dirty="0">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endParaRPr lang="zh-CN" altLang="zh-CN" kern="100" dirty="0">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r>
              <a:rPr lang="zh-CN" altLang="zh-CN" kern="100" dirty="0" smtClean="0">
                <a:latin typeface="等线" panose="02010600030101010101" pitchFamily="2" charset="-122"/>
                <a:ea typeface="等线" panose="02010600030101010101" pitchFamily="2" charset="-122"/>
                <a:cs typeface="宋体" panose="02010600030101010101" pitchFamily="2" charset="-122"/>
              </a:rPr>
              <a:t>桥牌</a:t>
            </a:r>
            <a:r>
              <a:rPr lang="zh-CN" altLang="en-US" kern="100" dirty="0" smtClean="0">
                <a:latin typeface="等线" panose="02010600030101010101" pitchFamily="2" charset="-122"/>
                <a:ea typeface="等线" panose="02010600030101010101" pitchFamily="2" charset="-122"/>
                <a:cs typeface="宋体" panose="02010600030101010101" pitchFamily="2" charset="-122"/>
              </a:rPr>
              <a:t>：        </a:t>
            </a:r>
            <a:r>
              <a:rPr lang="zh-CN" altLang="zh-CN" kern="100" dirty="0" smtClean="0">
                <a:latin typeface="等线" panose="02010600030101010101" pitchFamily="2" charset="-122"/>
                <a:ea typeface="等线" panose="02010600030101010101" pitchFamily="2" charset="-122"/>
                <a:cs typeface="宋体" panose="02010600030101010101" pitchFamily="2" charset="-122"/>
              </a:rPr>
              <a:t>牌</a:t>
            </a:r>
            <a:r>
              <a:rPr lang="zh-CN" altLang="zh-CN" kern="100" dirty="0">
                <a:latin typeface="等线" panose="02010600030101010101" pitchFamily="2" charset="-122"/>
                <a:ea typeface="等线" panose="02010600030101010101" pitchFamily="2" charset="-122"/>
                <a:cs typeface="宋体" panose="02010600030101010101" pitchFamily="2" charset="-122"/>
              </a:rPr>
              <a:t>运</a:t>
            </a:r>
            <a:r>
              <a:rPr lang="en-US" altLang="zh-CN" kern="100" dirty="0">
                <a:latin typeface="等线" panose="02010600030101010101" pitchFamily="2" charset="-122"/>
                <a:ea typeface="等线" panose="02010600030101010101" pitchFamily="2" charset="-122"/>
                <a:cs typeface="宋体" panose="02010600030101010101" pitchFamily="2" charset="-122"/>
              </a:rPr>
              <a:t>10%</a:t>
            </a:r>
            <a:r>
              <a:rPr lang="zh-CN" altLang="zh-CN" kern="100" dirty="0">
                <a:latin typeface="等线" panose="02010600030101010101" pitchFamily="2" charset="-122"/>
                <a:ea typeface="等线" panose="02010600030101010101" pitchFamily="2" charset="-122"/>
                <a:cs typeface="宋体" panose="02010600030101010101" pitchFamily="2" charset="-122"/>
              </a:rPr>
              <a:t>；牌技</a:t>
            </a:r>
            <a:r>
              <a:rPr lang="en-US" altLang="zh-CN" kern="100" dirty="0">
                <a:latin typeface="等线" panose="02010600030101010101" pitchFamily="2" charset="-122"/>
                <a:ea typeface="等线" panose="02010600030101010101" pitchFamily="2" charset="-122"/>
                <a:cs typeface="宋体" panose="02010600030101010101" pitchFamily="2" charset="-122"/>
              </a:rPr>
              <a:t>70%</a:t>
            </a:r>
            <a:r>
              <a:rPr lang="zh-CN" altLang="zh-CN" kern="100" dirty="0">
                <a:latin typeface="等线" panose="02010600030101010101" pitchFamily="2" charset="-122"/>
                <a:ea typeface="等线" panose="02010600030101010101" pitchFamily="2" charset="-122"/>
                <a:cs typeface="宋体" panose="02010600030101010101" pitchFamily="2" charset="-122"/>
              </a:rPr>
              <a:t>；配合：</a:t>
            </a:r>
            <a:r>
              <a:rPr lang="en-US" altLang="zh-CN" kern="100" dirty="0">
                <a:latin typeface="等线" panose="02010600030101010101" pitchFamily="2" charset="-122"/>
                <a:ea typeface="等线" panose="02010600030101010101" pitchFamily="2" charset="-122"/>
                <a:cs typeface="宋体" panose="02010600030101010101" pitchFamily="2" charset="-122"/>
              </a:rPr>
              <a:t>20</a:t>
            </a:r>
            <a:r>
              <a:rPr lang="en-US" altLang="zh-CN" kern="100" dirty="0" smtClean="0">
                <a:latin typeface="等线" panose="02010600030101010101" pitchFamily="2" charset="-122"/>
                <a:ea typeface="等线" panose="02010600030101010101" pitchFamily="2" charset="-122"/>
                <a:cs typeface="宋体" panose="02010600030101010101" pitchFamily="2" charset="-122"/>
              </a:rPr>
              <a:t>%</a:t>
            </a:r>
            <a:endParaRPr lang="en-US" altLang="zh-CN" kern="100" dirty="0">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r>
              <a:rPr lang="zh-CN" altLang="zh-CN" kern="100" dirty="0" smtClean="0">
                <a:latin typeface="等线" panose="02010600030101010101" pitchFamily="2" charset="-122"/>
                <a:ea typeface="等线" panose="02010600030101010101" pitchFamily="2" charset="-122"/>
                <a:cs typeface="宋体" panose="02010600030101010101" pitchFamily="2" charset="-122"/>
              </a:rPr>
              <a:t>大</a:t>
            </a:r>
            <a:r>
              <a:rPr lang="zh-CN" altLang="zh-CN" kern="100" dirty="0">
                <a:latin typeface="等线" panose="02010600030101010101" pitchFamily="2" charset="-122"/>
                <a:ea typeface="等线" panose="02010600030101010101" pitchFamily="2" charset="-122"/>
                <a:cs typeface="宋体" panose="02010600030101010101" pitchFamily="2" charset="-122"/>
              </a:rPr>
              <a:t>怪</a:t>
            </a:r>
            <a:r>
              <a:rPr lang="zh-CN" altLang="zh-CN" kern="100" dirty="0" smtClean="0">
                <a:latin typeface="等线" panose="02010600030101010101" pitchFamily="2" charset="-122"/>
                <a:ea typeface="等线" panose="02010600030101010101" pitchFamily="2" charset="-122"/>
                <a:cs typeface="宋体" panose="02010600030101010101" pitchFamily="2" charset="-122"/>
              </a:rPr>
              <a:t>路子</a:t>
            </a:r>
            <a:r>
              <a:rPr lang="zh-CN" altLang="en-US" kern="100" dirty="0" smtClean="0">
                <a:latin typeface="等线" panose="02010600030101010101" pitchFamily="2" charset="-122"/>
                <a:ea typeface="等线" panose="02010600030101010101" pitchFamily="2" charset="-122"/>
                <a:cs typeface="宋体" panose="02010600030101010101" pitchFamily="2" charset="-122"/>
              </a:rPr>
              <a:t>：</a:t>
            </a:r>
            <a:r>
              <a:rPr lang="zh-CN" altLang="zh-CN" kern="100" dirty="0" smtClean="0">
                <a:latin typeface="等线" panose="02010600030101010101" pitchFamily="2" charset="-122"/>
                <a:ea typeface="等线" panose="02010600030101010101" pitchFamily="2" charset="-122"/>
                <a:cs typeface="宋体" panose="02010600030101010101" pitchFamily="2" charset="-122"/>
              </a:rPr>
              <a:t>牌</a:t>
            </a:r>
            <a:r>
              <a:rPr lang="zh-CN" altLang="zh-CN" kern="100" dirty="0">
                <a:latin typeface="等线" panose="02010600030101010101" pitchFamily="2" charset="-122"/>
                <a:ea typeface="等线" panose="02010600030101010101" pitchFamily="2" charset="-122"/>
                <a:cs typeface="宋体" panose="02010600030101010101" pitchFamily="2" charset="-122"/>
              </a:rPr>
              <a:t>运，</a:t>
            </a:r>
            <a:r>
              <a:rPr lang="en-US" altLang="zh-CN" kern="100" dirty="0">
                <a:latin typeface="等线" panose="02010600030101010101" pitchFamily="2" charset="-122"/>
                <a:ea typeface="等线" panose="02010600030101010101" pitchFamily="2" charset="-122"/>
                <a:cs typeface="宋体" panose="02010600030101010101" pitchFamily="2" charset="-122"/>
              </a:rPr>
              <a:t>20%</a:t>
            </a:r>
            <a:r>
              <a:rPr lang="zh-CN" altLang="zh-CN" kern="100" dirty="0">
                <a:latin typeface="等线" panose="02010600030101010101" pitchFamily="2" charset="-122"/>
                <a:ea typeface="等线" panose="02010600030101010101" pitchFamily="2" charset="-122"/>
                <a:cs typeface="宋体" panose="02010600030101010101" pitchFamily="2" charset="-122"/>
              </a:rPr>
              <a:t>；牌技，</a:t>
            </a:r>
            <a:r>
              <a:rPr lang="en-US" altLang="zh-CN" kern="100" dirty="0">
                <a:latin typeface="等线" panose="02010600030101010101" pitchFamily="2" charset="-122"/>
                <a:ea typeface="等线" panose="02010600030101010101" pitchFamily="2" charset="-122"/>
                <a:cs typeface="宋体" panose="02010600030101010101" pitchFamily="2" charset="-122"/>
              </a:rPr>
              <a:t>50%</a:t>
            </a:r>
            <a:r>
              <a:rPr lang="zh-CN" altLang="zh-CN" kern="100" dirty="0">
                <a:latin typeface="等线" panose="02010600030101010101" pitchFamily="2" charset="-122"/>
                <a:ea typeface="等线" panose="02010600030101010101" pitchFamily="2" charset="-122"/>
                <a:cs typeface="宋体" panose="02010600030101010101" pitchFamily="2" charset="-122"/>
              </a:rPr>
              <a:t>；配合，</a:t>
            </a:r>
            <a:r>
              <a:rPr lang="en-US" altLang="zh-CN" kern="100" dirty="0">
                <a:latin typeface="等线" panose="02010600030101010101" pitchFamily="2" charset="-122"/>
                <a:ea typeface="等线" panose="02010600030101010101" pitchFamily="2" charset="-122"/>
                <a:cs typeface="宋体" panose="02010600030101010101" pitchFamily="2" charset="-122"/>
              </a:rPr>
              <a:t>30%</a:t>
            </a:r>
            <a:endParaRPr lang="zh-CN" altLang="zh-CN" kern="100" dirty="0">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r>
              <a:rPr lang="zh-CN" altLang="zh-CN" kern="100" dirty="0">
                <a:latin typeface="等线" panose="02010600030101010101" pitchFamily="2" charset="-122"/>
                <a:ea typeface="等线" panose="02010600030101010101" pitchFamily="2" charset="-122"/>
                <a:cs typeface="宋体" panose="02010600030101010101" pitchFamily="2" charset="-122"/>
              </a:rPr>
              <a:t>八十</a:t>
            </a:r>
            <a:r>
              <a:rPr lang="zh-CN" altLang="zh-CN" kern="100" dirty="0" smtClean="0">
                <a:latin typeface="等线" panose="02010600030101010101" pitchFamily="2" charset="-122"/>
                <a:ea typeface="等线" panose="02010600030101010101" pitchFamily="2" charset="-122"/>
                <a:cs typeface="宋体" panose="02010600030101010101" pitchFamily="2" charset="-122"/>
              </a:rPr>
              <a:t>分</a:t>
            </a:r>
            <a:r>
              <a:rPr lang="zh-CN" altLang="en-US" kern="100" dirty="0" smtClean="0">
                <a:latin typeface="等线" panose="02010600030101010101" pitchFamily="2" charset="-122"/>
                <a:ea typeface="等线" panose="02010600030101010101" pitchFamily="2" charset="-122"/>
                <a:cs typeface="宋体" panose="02010600030101010101" pitchFamily="2" charset="-122"/>
              </a:rPr>
              <a:t>：   </a:t>
            </a:r>
            <a:r>
              <a:rPr lang="zh-CN" altLang="zh-CN" kern="100" dirty="0" smtClean="0">
                <a:latin typeface="等线" panose="02010600030101010101" pitchFamily="2" charset="-122"/>
                <a:ea typeface="等线" panose="02010600030101010101" pitchFamily="2" charset="-122"/>
                <a:cs typeface="宋体" panose="02010600030101010101" pitchFamily="2" charset="-122"/>
              </a:rPr>
              <a:t>牌</a:t>
            </a:r>
            <a:r>
              <a:rPr lang="zh-CN" altLang="zh-CN" kern="100" dirty="0">
                <a:latin typeface="等线" panose="02010600030101010101" pitchFamily="2" charset="-122"/>
                <a:ea typeface="等线" panose="02010600030101010101" pitchFamily="2" charset="-122"/>
                <a:cs typeface="宋体" panose="02010600030101010101" pitchFamily="2" charset="-122"/>
              </a:rPr>
              <a:t>运，</a:t>
            </a:r>
            <a:r>
              <a:rPr lang="en-US" altLang="zh-CN" kern="100" dirty="0">
                <a:latin typeface="等线" panose="02010600030101010101" pitchFamily="2" charset="-122"/>
                <a:ea typeface="等线" panose="02010600030101010101" pitchFamily="2" charset="-122"/>
                <a:cs typeface="宋体" panose="02010600030101010101" pitchFamily="2" charset="-122"/>
              </a:rPr>
              <a:t>65%</a:t>
            </a:r>
            <a:r>
              <a:rPr lang="zh-CN" altLang="zh-CN" kern="100" dirty="0">
                <a:latin typeface="等线" panose="02010600030101010101" pitchFamily="2" charset="-122"/>
                <a:ea typeface="等线" panose="02010600030101010101" pitchFamily="2" charset="-122"/>
                <a:cs typeface="宋体" panose="02010600030101010101" pitchFamily="2" charset="-122"/>
              </a:rPr>
              <a:t>；牌技，</a:t>
            </a:r>
            <a:r>
              <a:rPr lang="en-US" altLang="zh-CN" kern="100" dirty="0">
                <a:latin typeface="等线" panose="02010600030101010101" pitchFamily="2" charset="-122"/>
                <a:ea typeface="等线" panose="02010600030101010101" pitchFamily="2" charset="-122"/>
                <a:cs typeface="宋体" panose="02010600030101010101" pitchFamily="2" charset="-122"/>
              </a:rPr>
              <a:t>30%</a:t>
            </a:r>
            <a:r>
              <a:rPr lang="zh-CN" altLang="zh-CN" kern="100" dirty="0">
                <a:latin typeface="等线" panose="02010600030101010101" pitchFamily="2" charset="-122"/>
                <a:ea typeface="等线" panose="02010600030101010101" pitchFamily="2" charset="-122"/>
                <a:cs typeface="宋体" panose="02010600030101010101" pitchFamily="2" charset="-122"/>
              </a:rPr>
              <a:t>；配合，</a:t>
            </a:r>
            <a:r>
              <a:rPr lang="en-US" altLang="zh-CN" kern="100" dirty="0">
                <a:latin typeface="等线" panose="02010600030101010101" pitchFamily="2" charset="-122"/>
                <a:ea typeface="等线" panose="02010600030101010101" pitchFamily="2" charset="-122"/>
                <a:cs typeface="宋体" panose="02010600030101010101" pitchFamily="2" charset="-122"/>
              </a:rPr>
              <a:t>5%</a:t>
            </a:r>
            <a:endParaRPr lang="zh-CN" altLang="zh-CN" kern="100" dirty="0">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r>
              <a:rPr lang="zh-CN" altLang="zh-CN" kern="100" dirty="0">
                <a:latin typeface="等线" panose="02010600030101010101" pitchFamily="2" charset="-122"/>
                <a:ea typeface="等线" panose="02010600030101010101" pitchFamily="2" charset="-122"/>
                <a:cs typeface="宋体" panose="02010600030101010101" pitchFamily="2" charset="-122"/>
              </a:rPr>
              <a:t>斗</a:t>
            </a:r>
            <a:r>
              <a:rPr lang="zh-CN" altLang="zh-CN" kern="100" dirty="0" smtClean="0">
                <a:latin typeface="等线" panose="02010600030101010101" pitchFamily="2" charset="-122"/>
                <a:ea typeface="等线" panose="02010600030101010101" pitchFamily="2" charset="-122"/>
                <a:cs typeface="宋体" panose="02010600030101010101" pitchFamily="2" charset="-122"/>
              </a:rPr>
              <a:t>地主</a:t>
            </a:r>
            <a:r>
              <a:rPr lang="zh-CN" altLang="en-US" kern="100" dirty="0" smtClean="0">
                <a:latin typeface="等线" panose="02010600030101010101" pitchFamily="2" charset="-122"/>
                <a:ea typeface="等线" panose="02010600030101010101" pitchFamily="2" charset="-122"/>
                <a:cs typeface="宋体" panose="02010600030101010101" pitchFamily="2" charset="-122"/>
              </a:rPr>
              <a:t>：   </a:t>
            </a:r>
            <a:r>
              <a:rPr lang="zh-CN" altLang="zh-CN" kern="100" dirty="0" smtClean="0">
                <a:latin typeface="等线" panose="02010600030101010101" pitchFamily="2" charset="-122"/>
                <a:ea typeface="等线" panose="02010600030101010101" pitchFamily="2" charset="-122"/>
                <a:cs typeface="宋体" panose="02010600030101010101" pitchFamily="2" charset="-122"/>
              </a:rPr>
              <a:t>牌</a:t>
            </a:r>
            <a:r>
              <a:rPr lang="zh-CN" altLang="zh-CN" kern="100" dirty="0">
                <a:latin typeface="等线" panose="02010600030101010101" pitchFamily="2" charset="-122"/>
                <a:ea typeface="等线" panose="02010600030101010101" pitchFamily="2" charset="-122"/>
                <a:cs typeface="宋体" panose="02010600030101010101" pitchFamily="2" charset="-122"/>
              </a:rPr>
              <a:t>运，</a:t>
            </a:r>
            <a:r>
              <a:rPr lang="en-US" altLang="zh-CN" kern="100" dirty="0">
                <a:latin typeface="等线" panose="02010600030101010101" pitchFamily="2" charset="-122"/>
                <a:ea typeface="等线" panose="02010600030101010101" pitchFamily="2" charset="-122"/>
                <a:cs typeface="宋体" panose="02010600030101010101" pitchFamily="2" charset="-122"/>
              </a:rPr>
              <a:t>70%</a:t>
            </a:r>
            <a:r>
              <a:rPr lang="zh-CN" altLang="zh-CN" kern="100" dirty="0">
                <a:latin typeface="等线" panose="02010600030101010101" pitchFamily="2" charset="-122"/>
                <a:ea typeface="等线" panose="02010600030101010101" pitchFamily="2" charset="-122"/>
                <a:cs typeface="宋体" panose="02010600030101010101" pitchFamily="2" charset="-122"/>
              </a:rPr>
              <a:t>；牌技，</a:t>
            </a:r>
            <a:r>
              <a:rPr lang="en-US" altLang="zh-CN" kern="100" dirty="0">
                <a:latin typeface="等线" panose="02010600030101010101" pitchFamily="2" charset="-122"/>
                <a:ea typeface="等线" panose="02010600030101010101" pitchFamily="2" charset="-122"/>
                <a:cs typeface="宋体" panose="02010600030101010101" pitchFamily="2" charset="-122"/>
              </a:rPr>
              <a:t>25%</a:t>
            </a:r>
            <a:r>
              <a:rPr lang="zh-CN" altLang="zh-CN" kern="100" dirty="0">
                <a:latin typeface="等线" panose="02010600030101010101" pitchFamily="2" charset="-122"/>
                <a:ea typeface="等线" panose="02010600030101010101" pitchFamily="2" charset="-122"/>
                <a:cs typeface="宋体" panose="02010600030101010101" pitchFamily="2" charset="-122"/>
              </a:rPr>
              <a:t>；配合，</a:t>
            </a:r>
            <a:r>
              <a:rPr lang="en-US" altLang="zh-CN" kern="100" dirty="0">
                <a:latin typeface="等线" panose="02010600030101010101" pitchFamily="2" charset="-122"/>
                <a:ea typeface="等线" panose="02010600030101010101" pitchFamily="2" charset="-122"/>
                <a:cs typeface="宋体" panose="02010600030101010101" pitchFamily="2" charset="-122"/>
              </a:rPr>
              <a:t>5</a:t>
            </a:r>
            <a:r>
              <a:rPr lang="en-US" altLang="zh-CN" kern="100" dirty="0" smtClean="0">
                <a:latin typeface="等线" panose="02010600030101010101" pitchFamily="2" charset="-122"/>
                <a:ea typeface="等线" panose="02010600030101010101" pitchFamily="2" charset="-122"/>
                <a:cs typeface="宋体" panose="02010600030101010101" pitchFamily="2" charset="-122"/>
              </a:rPr>
              <a:t>%</a:t>
            </a:r>
            <a:endParaRPr lang="zh-CN" altLang="zh-CN" kern="100" dirty="0">
              <a:latin typeface="等线" panose="02010600030101010101" pitchFamily="2" charset="-122"/>
              <a:ea typeface="等线" panose="02010600030101010101" pitchFamily="2" charset="-122"/>
              <a:cs typeface="宋体" panose="02010600030101010101" pitchFamily="2" charset="-122"/>
            </a:endParaRPr>
          </a:p>
        </p:txBody>
      </p:sp>
    </p:spTree>
    <p:custDataLst>
      <p:tags r:id="rId1"/>
    </p:custDataLst>
    <p:extLst>
      <p:ext uri="{BB962C8B-B14F-4D97-AF65-F5344CB8AC3E}">
        <p14:creationId xmlns:p14="http://schemas.microsoft.com/office/powerpoint/2010/main" val="9547029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227382" y="2363492"/>
            <a:ext cx="5467033" cy="1697599"/>
          </a:xfrm>
        </p:spPr>
        <p:txBody>
          <a:bodyPr>
            <a:noAutofit/>
          </a:bodyPr>
          <a:lstStyle/>
          <a:p>
            <a:pPr lvl="0" algn="ctr" eaLnBrk="0" fontAlgn="base" hangingPunct="0">
              <a:lnSpc>
                <a:spcPct val="150000"/>
              </a:lnSpc>
              <a:spcAft>
                <a:spcPct val="0"/>
              </a:spcAft>
              <a:defRPr/>
            </a:pPr>
            <a:r>
              <a:rPr lang="zh-CN" altLang="en-US" sz="4000" dirty="0" smtClean="0">
                <a:latin typeface="+mn-lt"/>
                <a:ea typeface="+mn-ea"/>
                <a:cs typeface="+mn-ea"/>
                <a:sym typeface="+mn-lt"/>
              </a:rPr>
              <a:t>掼蛋的全局估量与思考</a:t>
            </a:r>
            <a:endParaRPr lang="zh-CN" altLang="de-DE" sz="4000" dirty="0">
              <a:latin typeface="+mn-lt"/>
              <a:ea typeface="+mn-ea"/>
              <a:cs typeface="+mn-ea"/>
              <a:sym typeface="+mn-lt"/>
            </a:endParaRPr>
          </a:p>
        </p:txBody>
      </p:sp>
      <p:sp>
        <p:nvSpPr>
          <p:cNvPr id="9" name="文本框 8"/>
          <p:cNvSpPr txBox="1"/>
          <p:nvPr/>
        </p:nvSpPr>
        <p:spPr>
          <a:xfrm>
            <a:off x="3203867" y="3171182"/>
            <a:ext cx="1023516" cy="889909"/>
          </a:xfrm>
          <a:prstGeom prst="rect">
            <a:avLst/>
          </a:prstGeom>
          <a:noFill/>
          <a:ln w="117475">
            <a:noFill/>
          </a:ln>
        </p:spPr>
        <p:txBody>
          <a:bodyPr wrap="none" rtlCol="0">
            <a:prstTxWarp prst="textPlain">
              <a:avLst/>
            </a:prstTxWarp>
            <a:spAutoFit/>
          </a:bodyPr>
          <a:lstStyle/>
          <a:p>
            <a:pPr>
              <a:lnSpc>
                <a:spcPct val="150000"/>
              </a:lnSpc>
            </a:pPr>
            <a:r>
              <a:rPr lang="en-US" altLang="zh-CN" spc="100" dirty="0">
                <a:solidFill>
                  <a:schemeClr val="accent3"/>
                </a:solidFill>
                <a:cs typeface="+mn-ea"/>
                <a:sym typeface="+mn-lt"/>
              </a:rPr>
              <a:t>/</a:t>
            </a:r>
            <a:r>
              <a:rPr lang="en-US" altLang="zh-CN" sz="100" spc="100" dirty="0">
                <a:solidFill>
                  <a:schemeClr val="accent3"/>
                </a:solidFill>
                <a:cs typeface="+mn-ea"/>
                <a:sym typeface="+mn-lt"/>
              </a:rPr>
              <a:t> </a:t>
            </a:r>
            <a:r>
              <a:rPr lang="en-US" altLang="zh-CN" spc="100" dirty="0" smtClean="0">
                <a:solidFill>
                  <a:schemeClr val="accent3"/>
                </a:solidFill>
                <a:cs typeface="+mn-ea"/>
                <a:sym typeface="+mn-lt"/>
              </a:rPr>
              <a:t>02</a:t>
            </a:r>
            <a:endParaRPr lang="zh-CN" altLang="en-US" spc="100" dirty="0">
              <a:solidFill>
                <a:schemeClr val="accent3"/>
              </a:solidFill>
              <a:cs typeface="+mn-ea"/>
              <a:sym typeface="+mn-lt"/>
            </a:endParaRPr>
          </a:p>
        </p:txBody>
      </p:sp>
    </p:spTree>
    <p:custDataLst>
      <p:tags r:id="rId1"/>
    </p:custDataLst>
    <p:extLst>
      <p:ext uri="{BB962C8B-B14F-4D97-AF65-F5344CB8AC3E}">
        <p14:creationId xmlns:p14="http://schemas.microsoft.com/office/powerpoint/2010/main" val="976154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2.1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掼蛋的逻辑</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78607" y="1095360"/>
            <a:ext cx="9924143" cy="4524315"/>
          </a:xfrm>
          <a:prstGeom prst="rect">
            <a:avLst/>
          </a:prstGeom>
        </p:spPr>
        <p:txBody>
          <a:bodyPr wrap="square">
            <a:spAutoFit/>
          </a:bodyPr>
          <a:lstStyle/>
          <a:p>
            <a:pPr>
              <a:lnSpc>
                <a:spcPct val="150000"/>
              </a:lnSpc>
            </a:pPr>
            <a:r>
              <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rPr>
              <a:t>1.</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争上游</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掼蛋采取</a:t>
            </a:r>
            <a:r>
              <a:rPr lang="zh-CN" altLang="en-US" sz="1600" kern="0" dirty="0">
                <a:solidFill>
                  <a:prstClr val="black">
                    <a:lumMod val="85000"/>
                    <a:lumOff val="15000"/>
                  </a:prstClr>
                </a:solidFill>
                <a:latin typeface="楷体" panose="02010609060101010101" pitchFamily="49" charset="-122"/>
                <a:ea typeface="楷体" panose="02010609060101010101" pitchFamily="49" charset="-122"/>
              </a:rPr>
              <a:t>的</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是先出尽者为赢的原则，因此它是一款争上游的游戏。所以需要牌手的牌尽可能的大，手数尽可能的少，以尽快出清牌。</a:t>
            </a:r>
            <a:endParaRPr lang="zh-CN" altLang="en-US" sz="16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rPr>
              <a:t>2.</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头游的</a:t>
            </a:r>
            <a:r>
              <a:rPr lang="zh-CN" altLang="en-US" sz="1600" kern="0" dirty="0">
                <a:solidFill>
                  <a:prstClr val="black">
                    <a:lumMod val="85000"/>
                    <a:lumOff val="15000"/>
                  </a:prstClr>
                </a:solidFill>
                <a:latin typeface="楷体" panose="02010609060101010101" pitchFamily="49" charset="-122"/>
                <a:ea typeface="楷体" panose="02010609060101010101" pitchFamily="49" charset="-122"/>
              </a:rPr>
              <a:t>重要性</a:t>
            </a: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一组选手中，一个人走了头游，必然升级。一组选手中没人走到头游，肯定不能升级，因此，抢头游是这个游戏中最重要的策略。有时，为了抢到头游，宁可牺牲搭档中的一人，也要抢头游。</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rPr>
              <a:t>3.</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合作的游戏</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抢得头游后，能不能抓到对手，决定着升几级和对手进贡的问题。升级意味着向过</a:t>
            </a:r>
            <a:r>
              <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rPr>
              <a:t>A</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的终极目标迈进，收贡意味着下一副牌中自己一方中控制权的增加，对手方控制权的减少。所以，自己能争先的同时，帮助到搭档；或者在自己或搭档争头游时，消耗掉对手的实力，是非常重要的。也就是说，在打牌过程中，帮且同伴压牌、帮助同伴出他需要的牌，能够让同伴用更少的控制牌而出掉更多的牌，配合默契的伙伴，可以在更少的控制情况下，获取更大的竞争优势。因此，掼蛋是合作的游戏。</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4050261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2.1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掼蛋的逻辑</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78607" y="1095360"/>
            <a:ext cx="10009555" cy="5632311"/>
          </a:xfrm>
          <a:prstGeom prst="rect">
            <a:avLst/>
          </a:prstGeom>
        </p:spPr>
        <p:txBody>
          <a:bodyPr wrap="square">
            <a:spAutoFit/>
          </a:bodyPr>
          <a:lstStyle/>
          <a:p>
            <a:pPr>
              <a:lnSpc>
                <a:spcPct val="150000"/>
              </a:lnSpc>
            </a:pPr>
            <a:r>
              <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rPr>
              <a:t>4.</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控制与反控制</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控制是指制止别人继续有牌权出牌，或者自己可以持续获得牌权出牌的情形。要想把手里的牌出清，只靠顺牌去混，肯定不能走清的，必须要有一定的控制权才行。反之，让别人获得了更多的控制权，也就意味着让别人出掉更多的牌。所以是两组选手之间的控制与反控制的游戏。我们在打牌时，经常只注意自己的控制与手数，不管搭档减少手数，是打牌水平不高的原因之一；也不管对手是否顺了牌，减少了手数，是打牌水平不高的原因之二；没在关键点上送搭档或阻止对手，是打牌水平不高的原因之三；对于牌理、技巧不熟悉，不能很好的利用，是打牌水平不高的原因之四。</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控制的类型：</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单牌：大王最大；</a:t>
            </a:r>
            <a:r>
              <a:rPr lang="en-US" altLang="zh-CN" sz="1600" kern="0" dirty="0">
                <a:solidFill>
                  <a:prstClr val="black">
                    <a:lumMod val="85000"/>
                    <a:lumOff val="15000"/>
                  </a:prstClr>
                </a:solidFill>
                <a:latin typeface="楷体" panose="02010609060101010101" pitchFamily="49" charset="-122"/>
                <a:ea typeface="楷体" panose="02010609060101010101" pitchFamily="49" charset="-122"/>
              </a:rPr>
              <a:t> </a:t>
            </a:r>
            <a:r>
              <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rPr>
              <a:t>                             </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对子：一对大王最大；</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三条：三个主（将）最大；</a:t>
            </a:r>
            <a:r>
              <a:rPr lang="en-US" altLang="zh-CN" sz="1600" kern="0" dirty="0">
                <a:solidFill>
                  <a:prstClr val="black">
                    <a:lumMod val="85000"/>
                    <a:lumOff val="15000"/>
                  </a:prstClr>
                </a:solidFill>
                <a:latin typeface="楷体" panose="02010609060101010101" pitchFamily="49" charset="-122"/>
                <a:ea typeface="楷体" panose="02010609060101010101" pitchFamily="49" charset="-122"/>
              </a:rPr>
              <a:t> </a:t>
            </a:r>
            <a:r>
              <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rPr>
              <a:t>                     3</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带</a:t>
            </a:r>
            <a:r>
              <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rPr>
              <a:t>2</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：三个主（将带任意一对）最大；</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顺子：</a:t>
            </a:r>
            <a:r>
              <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rPr>
              <a:t>10JQKA</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最大；</a:t>
            </a:r>
            <a:r>
              <a:rPr lang="en-US" altLang="zh-CN" sz="1600" kern="0" dirty="0">
                <a:solidFill>
                  <a:prstClr val="black">
                    <a:lumMod val="85000"/>
                    <a:lumOff val="15000"/>
                  </a:prstClr>
                </a:solidFill>
                <a:latin typeface="楷体" panose="02010609060101010101" pitchFamily="49" charset="-122"/>
                <a:ea typeface="楷体" panose="02010609060101010101" pitchFamily="49" charset="-122"/>
              </a:rPr>
              <a:t> </a:t>
            </a:r>
            <a:r>
              <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rPr>
              <a:t>                           </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三连对（铁车）：</a:t>
            </a:r>
            <a:r>
              <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rPr>
              <a:t>QQKKAA</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最大；</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两连三条（钢板，飞机不带翅膀）：</a:t>
            </a:r>
            <a:r>
              <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rPr>
              <a:t>KKKAAA</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最大；  炸弹</a:t>
            </a:r>
            <a:r>
              <a:rPr lang="zh-CN" altLang="en-US" sz="1600" kern="0" dirty="0">
                <a:solidFill>
                  <a:prstClr val="black">
                    <a:lumMod val="85000"/>
                    <a:lumOff val="15000"/>
                  </a:prstClr>
                </a:solidFill>
                <a:latin typeface="楷体" panose="02010609060101010101" pitchFamily="49" charset="-122"/>
                <a:ea typeface="楷体" panose="02010609060101010101" pitchFamily="49" charset="-122"/>
              </a:rPr>
              <a:t>控制</a:t>
            </a:r>
            <a:endParaRPr lang="en-US" altLang="zh-CN" sz="16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在同类型牌中，这些牌都可以绝对获得控制。还有相对控制，就是当大王出尽时，小王也是绝对控制，以此顺延。因此，当别人的牌都很整齐而没有单张时，除非对手方用炸弹，否则你的每一张单张牌都是出牌权。其他牌型同理。</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28177232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2.1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掼蛋的逻辑</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78607" y="1095360"/>
            <a:ext cx="9924143" cy="3785652"/>
          </a:xfrm>
          <a:prstGeom prst="rect">
            <a:avLst/>
          </a:prstGeom>
        </p:spPr>
        <p:txBody>
          <a:bodyPr wrap="square">
            <a:spAutoFit/>
          </a:bodyPr>
          <a:lstStyle/>
          <a:p>
            <a:pPr>
              <a:lnSpc>
                <a:spcPct val="150000"/>
              </a:lnSpc>
            </a:pPr>
            <a:r>
              <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rPr>
              <a:t>5.</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牌型限制</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掼蛋是只有五种长短下的七种牌型可出。其他牌型不允许出，所以掼蛋又是在一定限制条件下的争上游游戏（对比斗地主）。</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rPr>
              <a:t>6.</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炸弹的跨牌型压牌</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和斗地主一样。掼蛋允许炸弹跨各种牌牌型去压牌，使得前面所讲的那些控制又不具有绝对性。绝对的控制，就是整副牌中最大的牌，掼蛋规则规定：四个王在一起组成的炸弹是最大的牌。但你能抓到这样的牌的概率很低。在没有贡牌的情况下，抓到四个王的概率是：</a:t>
            </a:r>
            <a:r>
              <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rPr>
              <a:t>0.327%</a:t>
            </a:r>
            <a:endParaRPr lang="zh-CN" altLang="zh-CN" sz="1600" dirty="0"/>
          </a:p>
          <a:p>
            <a:pPr>
              <a:lnSpc>
                <a:spcPct val="150000"/>
              </a:lnSpc>
            </a:pPr>
            <a:r>
              <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rPr>
              <a:t>7.</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点子牌（级牌）的作用（是下降的）</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点子牌的作用是消耗对手的大牌；获得控制权。因为有炸弹的存在，因此与大怪路子对比，掼蛋的点子牌显得没那么重要，点子牌最重要的是桥牌。但，如果把点子牌打好了，也是提高牌技的一个方面。</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40480001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2.2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掼蛋的几种获胜途径</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78607" y="1095360"/>
            <a:ext cx="9924143" cy="4939814"/>
          </a:xfrm>
          <a:prstGeom prst="rect">
            <a:avLst/>
          </a:prstGeom>
        </p:spPr>
        <p:txBody>
          <a:bodyPr wrap="square">
            <a:spAutoFit/>
          </a:bodyPr>
          <a:lstStyle/>
          <a:p>
            <a:pPr>
              <a:lnSpc>
                <a:spcPct val="150000"/>
              </a:lnSpc>
            </a:pPr>
            <a:r>
              <a:rPr lang="en-US" altLang="zh-CN" sz="1400" kern="0" dirty="0" smtClean="0">
                <a:solidFill>
                  <a:prstClr val="black">
                    <a:lumMod val="85000"/>
                    <a:lumOff val="15000"/>
                  </a:prstClr>
                </a:solidFill>
                <a:latin typeface="楷体" panose="02010609060101010101" pitchFamily="49" charset="-122"/>
                <a:ea typeface="楷体" panose="02010609060101010101" pitchFamily="49" charset="-122"/>
              </a:rPr>
              <a:t>1.</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留风走</a:t>
            </a:r>
            <a:endParaRPr lang="zh-CN" altLang="en-US" sz="1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倒数第二把是</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炸弹获得上手权（控制），</a:t>
            </a: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最后一把出了一个很大的牌，让对手方无法接牌，从而给搭档留风。对手</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方若想接</a:t>
            </a: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牌，则需要用炸弹才行。</a:t>
            </a:r>
            <a:endParaRPr lang="en-US" altLang="zh-CN" sz="1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1400" kern="0" dirty="0" smtClean="0">
                <a:solidFill>
                  <a:prstClr val="black">
                    <a:lumMod val="85000"/>
                    <a:lumOff val="15000"/>
                  </a:prstClr>
                </a:solidFill>
                <a:latin typeface="楷体" panose="02010609060101010101" pitchFamily="49" charset="-122"/>
                <a:ea typeface="楷体" panose="02010609060101010101" pitchFamily="49" charset="-122"/>
              </a:rPr>
              <a:t>2.</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博</a:t>
            </a: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牌出尽</a:t>
            </a:r>
          </a:p>
          <a:p>
            <a:pPr>
              <a:lnSpc>
                <a:spcPct val="150000"/>
              </a:lnSpc>
            </a:pP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倒第 </a:t>
            </a:r>
            <a:r>
              <a:rPr lang="en-US" altLang="zh-CN" sz="1400" kern="0" dirty="0">
                <a:solidFill>
                  <a:prstClr val="black">
                    <a:lumMod val="85000"/>
                    <a:lumOff val="15000"/>
                  </a:prstClr>
                </a:solidFill>
                <a:latin typeface="楷体" panose="02010609060101010101" pitchFamily="49" charset="-122"/>
                <a:ea typeface="楷体" panose="02010609060101010101" pitchFamily="49" charset="-122"/>
              </a:rPr>
              <a:t>2 </a:t>
            </a: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手打出非常大的牌（近乎最大的牌），让对手无法压住你或不愿意压住你，从而获得出牌权，出掉最后一手牌。</a:t>
            </a:r>
          </a:p>
          <a:p>
            <a:pPr>
              <a:lnSpc>
                <a:spcPct val="150000"/>
              </a:lnSpc>
            </a:pPr>
            <a:r>
              <a:rPr lang="en-US" altLang="zh-CN" sz="1400" kern="0" dirty="0" smtClean="0">
                <a:solidFill>
                  <a:prstClr val="black">
                    <a:lumMod val="85000"/>
                    <a:lumOff val="15000"/>
                  </a:prstClr>
                </a:solidFill>
                <a:latin typeface="楷体" panose="02010609060101010101" pitchFamily="49" charset="-122"/>
                <a:ea typeface="楷体" panose="02010609060101010101" pitchFamily="49" charset="-122"/>
              </a:rPr>
              <a:t>3.</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听</a:t>
            </a: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牌等送</a:t>
            </a:r>
            <a:endParaRPr lang="en-US" altLang="zh-CN" sz="1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打剩最后一手牌，然后等搭档帮助送牌。或者让对手不得不出你的牌，而让你走掉</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。也适用于剩余两手牌时的情形（举例如：一手顶牌也叫顶级牌，一手小炸弹），这种情形下，和搭档的配合就尤其重要。</a:t>
            </a:r>
            <a:endParaRPr lang="zh-CN" altLang="en-US" sz="1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1400" kern="0" dirty="0" smtClean="0">
                <a:solidFill>
                  <a:prstClr val="black">
                    <a:lumMod val="85000"/>
                    <a:lumOff val="15000"/>
                  </a:prstClr>
                </a:solidFill>
                <a:latin typeface="楷体" panose="02010609060101010101" pitchFamily="49" charset="-122"/>
                <a:ea typeface="楷体" panose="02010609060101010101" pitchFamily="49" charset="-122"/>
              </a:rPr>
              <a:t>4.</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偷鸡溜掉</a:t>
            </a:r>
            <a:endParaRPr lang="zh-CN" altLang="en-US" sz="1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对手以为你一次出不完，结果对手错了。</a:t>
            </a:r>
            <a:r>
              <a:rPr lang="en-US" altLang="zh-CN" sz="1400" kern="0" dirty="0">
                <a:solidFill>
                  <a:prstClr val="black">
                    <a:lumMod val="85000"/>
                    <a:lumOff val="15000"/>
                  </a:prstClr>
                </a:solidFill>
                <a:latin typeface="楷体" panose="02010609060101010101" pitchFamily="49" charset="-122"/>
                <a:ea typeface="楷体" panose="02010609060101010101" pitchFamily="49" charset="-122"/>
              </a:rPr>
              <a:t>6 </a:t>
            </a: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张牌的木板和</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钢板，</a:t>
            </a:r>
            <a:r>
              <a:rPr lang="en-US" altLang="zh-CN" sz="1400" kern="0" dirty="0" smtClean="0">
                <a:solidFill>
                  <a:prstClr val="black">
                    <a:lumMod val="85000"/>
                    <a:lumOff val="15000"/>
                  </a:prstClr>
                </a:solidFill>
                <a:latin typeface="楷体" panose="02010609060101010101" pitchFamily="49" charset="-122"/>
                <a:ea typeface="楷体" panose="02010609060101010101" pitchFamily="49" charset="-122"/>
              </a:rPr>
              <a:t>5</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张牌的顺子和</a:t>
            </a:r>
            <a:r>
              <a:rPr lang="en-US" altLang="zh-CN" sz="1400" kern="0" dirty="0" smtClean="0">
                <a:solidFill>
                  <a:prstClr val="black">
                    <a:lumMod val="85000"/>
                    <a:lumOff val="15000"/>
                  </a:prstClr>
                </a:solidFill>
                <a:latin typeface="楷体" panose="02010609060101010101" pitchFamily="49" charset="-122"/>
                <a:ea typeface="楷体" panose="02010609060101010101" pitchFamily="49" charset="-122"/>
              </a:rPr>
              <a:t>3</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带</a:t>
            </a:r>
            <a:r>
              <a:rPr lang="en-US" altLang="zh-CN" sz="1400" kern="0" dirty="0" smtClean="0">
                <a:solidFill>
                  <a:prstClr val="black">
                    <a:lumMod val="85000"/>
                    <a:lumOff val="15000"/>
                  </a:prstClr>
                </a:solidFill>
                <a:latin typeface="楷体" panose="02010609060101010101" pitchFamily="49" charset="-122"/>
                <a:ea typeface="楷体" panose="02010609060101010101" pitchFamily="49" charset="-122"/>
              </a:rPr>
              <a:t>2</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常用</a:t>
            </a: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于偷袭。（斗地主时常</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有，因为斗地主时，可以打更长的牌，所以更容易偷鸡）</a:t>
            </a:r>
            <a:endParaRPr lang="zh-CN" altLang="en-US" sz="1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1400" kern="0" dirty="0">
                <a:solidFill>
                  <a:prstClr val="black">
                    <a:lumMod val="85000"/>
                    <a:lumOff val="15000"/>
                  </a:prstClr>
                </a:solidFill>
                <a:latin typeface="楷体" panose="02010609060101010101" pitchFamily="49" charset="-122"/>
                <a:ea typeface="楷体" panose="02010609060101010101" pitchFamily="49" charset="-122"/>
              </a:rPr>
              <a:t>5.</a:t>
            </a: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骗</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手混掉</a:t>
            </a:r>
            <a:endParaRPr lang="en-US" altLang="zh-CN" sz="1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在倒数第二三手，主动打能接别人牌的大牌，让对手以为你手里除了这个牌，就是大炸弹了，从而被你吓唬到了，放弃了阻击，让你走完</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a:t>
            </a:r>
            <a:endParaRPr lang="en-US" altLang="zh-CN" sz="1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endParaRPr lang="en-US" altLang="zh-CN" sz="1400" kern="0" dirty="0" smtClean="0">
              <a:solidFill>
                <a:prstClr val="black">
                  <a:lumMod val="85000"/>
                  <a:lumOff val="15000"/>
                </a:prstClr>
              </a:solidFill>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37202921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227382" y="2363492"/>
            <a:ext cx="4339569" cy="1697599"/>
          </a:xfrm>
        </p:spPr>
        <p:txBody>
          <a:bodyPr>
            <a:noAutofit/>
          </a:bodyPr>
          <a:lstStyle/>
          <a:p>
            <a:pPr lvl="0" algn="ctr" eaLnBrk="0" fontAlgn="base" hangingPunct="0">
              <a:lnSpc>
                <a:spcPct val="150000"/>
              </a:lnSpc>
              <a:spcAft>
                <a:spcPct val="0"/>
              </a:spcAft>
              <a:defRPr/>
            </a:pPr>
            <a:r>
              <a:rPr lang="zh-CN" altLang="en-US" sz="4000" dirty="0" smtClean="0">
                <a:latin typeface="+mn-lt"/>
                <a:ea typeface="+mn-ea"/>
                <a:cs typeface="+mn-ea"/>
                <a:sym typeface="+mn-lt"/>
              </a:rPr>
              <a:t>整体的技巧与原则</a:t>
            </a:r>
            <a:endParaRPr lang="zh-CN" altLang="de-DE" sz="4000" dirty="0">
              <a:latin typeface="+mn-lt"/>
              <a:ea typeface="+mn-ea"/>
              <a:cs typeface="+mn-ea"/>
              <a:sym typeface="+mn-lt"/>
            </a:endParaRPr>
          </a:p>
        </p:txBody>
      </p:sp>
      <p:sp>
        <p:nvSpPr>
          <p:cNvPr id="9" name="文本框 8"/>
          <p:cNvSpPr txBox="1"/>
          <p:nvPr/>
        </p:nvSpPr>
        <p:spPr>
          <a:xfrm>
            <a:off x="3203867" y="3171182"/>
            <a:ext cx="1023516" cy="889909"/>
          </a:xfrm>
          <a:prstGeom prst="rect">
            <a:avLst/>
          </a:prstGeom>
          <a:noFill/>
          <a:ln w="117475">
            <a:noFill/>
          </a:ln>
        </p:spPr>
        <p:txBody>
          <a:bodyPr wrap="none" rtlCol="0">
            <a:prstTxWarp prst="textPlain">
              <a:avLst/>
            </a:prstTxWarp>
            <a:spAutoFit/>
          </a:bodyPr>
          <a:lstStyle/>
          <a:p>
            <a:pPr>
              <a:lnSpc>
                <a:spcPct val="150000"/>
              </a:lnSpc>
            </a:pPr>
            <a:r>
              <a:rPr lang="en-US" altLang="zh-CN" spc="100" dirty="0">
                <a:solidFill>
                  <a:schemeClr val="accent3"/>
                </a:solidFill>
                <a:cs typeface="+mn-ea"/>
                <a:sym typeface="+mn-lt"/>
              </a:rPr>
              <a:t>/</a:t>
            </a:r>
            <a:r>
              <a:rPr lang="en-US" altLang="zh-CN" sz="100" spc="100" dirty="0">
                <a:solidFill>
                  <a:schemeClr val="accent3"/>
                </a:solidFill>
                <a:cs typeface="+mn-ea"/>
                <a:sym typeface="+mn-lt"/>
              </a:rPr>
              <a:t> </a:t>
            </a:r>
            <a:r>
              <a:rPr lang="en-US" altLang="zh-CN" spc="100" dirty="0" smtClean="0">
                <a:solidFill>
                  <a:schemeClr val="accent3"/>
                </a:solidFill>
                <a:cs typeface="+mn-ea"/>
                <a:sym typeface="+mn-lt"/>
              </a:rPr>
              <a:t>03</a:t>
            </a:r>
            <a:endParaRPr lang="zh-CN" altLang="en-US" spc="100" dirty="0">
              <a:solidFill>
                <a:schemeClr val="accent3"/>
              </a:solidFill>
              <a:cs typeface="+mn-ea"/>
              <a:sym typeface="+mn-lt"/>
            </a:endParaRPr>
          </a:p>
        </p:txBody>
      </p:sp>
    </p:spTree>
    <p:custDataLst>
      <p:tags r:id="rId1"/>
    </p:custDataLst>
    <p:extLst>
      <p:ext uri="{BB962C8B-B14F-4D97-AF65-F5344CB8AC3E}">
        <p14:creationId xmlns:p14="http://schemas.microsoft.com/office/powerpoint/2010/main" val="1197643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78608" y="1107265"/>
            <a:ext cx="9996853" cy="5493812"/>
          </a:xfrm>
          <a:prstGeom prst="rect">
            <a:avLst/>
          </a:prstGeom>
          <a:noFill/>
        </p:spPr>
        <p:txBody>
          <a:bodyPr wrap="square" rtlCol="0">
            <a:spAutoFit/>
          </a:bodyPr>
          <a:lstStyle/>
          <a:p>
            <a:pPr fontAlgn="auto">
              <a:lnSpc>
                <a:spcPct val="150000"/>
              </a:lnSpc>
            </a:pP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立基篇</a:t>
            </a:r>
            <a:r>
              <a:rPr lang="en-US" altLang="zh-CN" b="1" kern="0" dirty="0" smtClean="0">
                <a:solidFill>
                  <a:prstClr val="black">
                    <a:lumMod val="85000"/>
                    <a:lumOff val="15000"/>
                  </a:prstClr>
                </a:solidFill>
                <a:latin typeface="楷体" panose="02010609060101010101" pitchFamily="49" charset="-122"/>
                <a:ea typeface="楷体" panose="02010609060101010101" pitchFamily="49" charset="-122"/>
              </a:rPr>
              <a:t>——</a:t>
            </a: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认识牌、了解牌</a:t>
            </a:r>
            <a:endParaRPr lang="en-US" altLang="zh-CN"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一般来说，从牌张质量上来看，牌分以下四种类型：</a:t>
            </a:r>
            <a:endParaRPr lang="en-US" altLang="zh-CN"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一、控制牌</a:t>
            </a:r>
            <a:endParaRPr lang="en-US" altLang="zh-CN"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除非对手用炸弹压你，基本决定可以出下一手牌了（为什么说基本，就是说还有一种可能是，对家有大牌，但压你不划算，从而放过你）</a:t>
            </a:r>
            <a:endParaRPr lang="en-US" altLang="zh-CN"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二、可顺走的牌</a:t>
            </a:r>
            <a:endParaRPr lang="en-US" altLang="zh-CN"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不是必须要有牌权才能出手的牌，可以在别人出同类牌时，顺掉</a:t>
            </a:r>
            <a:endParaRPr lang="en-US" altLang="zh-CN"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三、不可顺走的牌</a:t>
            </a:r>
            <a:endParaRPr lang="en-US" altLang="zh-CN"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必须获得牌权才能出手。比如：在打</a:t>
            </a:r>
            <a:r>
              <a:rPr lang="en-US" altLang="zh-CN" b="1" kern="0" dirty="0" smtClean="0">
                <a:solidFill>
                  <a:prstClr val="black">
                    <a:lumMod val="85000"/>
                    <a:lumOff val="15000"/>
                  </a:prstClr>
                </a:solidFill>
                <a:latin typeface="楷体" panose="02010609060101010101" pitchFamily="49" charset="-122"/>
                <a:ea typeface="楷体" panose="02010609060101010101" pitchFamily="49" charset="-122"/>
              </a:rPr>
              <a:t>2</a:t>
            </a: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的时候，你有一个单张</a:t>
            </a:r>
            <a:r>
              <a:rPr lang="en-US" altLang="zh-CN" b="1" kern="0" dirty="0" smtClean="0">
                <a:solidFill>
                  <a:prstClr val="black">
                    <a:lumMod val="85000"/>
                    <a:lumOff val="15000"/>
                  </a:prstClr>
                </a:solidFill>
                <a:latin typeface="楷体" panose="02010609060101010101" pitchFamily="49" charset="-122"/>
                <a:ea typeface="楷体" panose="02010609060101010101" pitchFamily="49" charset="-122"/>
              </a:rPr>
              <a:t>3</a:t>
            </a: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的情形。</a:t>
            </a:r>
            <a:endParaRPr lang="en-US" altLang="zh-CN" b="1" kern="0" dirty="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技巧：让对手的可顺牌变成不可顺牌，他将需要更多的控制。</a:t>
            </a:r>
            <a:endParaRPr lang="en-US" altLang="zh-CN"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四、炸弹牌（也是特殊的控制牌）</a:t>
            </a:r>
            <a:endParaRPr lang="en-US" altLang="zh-CN"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这是想出就能出去的牌，同时也是能够获得控制权或者消耗对手控制牌（炸掉对方大牌或让对方用更大的炸弹炸你的炸弹）的牌。</a:t>
            </a:r>
            <a:endParaRPr lang="zh-CN" altLang="en-US" kern="0" dirty="0">
              <a:solidFill>
                <a:prstClr val="black">
                  <a:lumMod val="85000"/>
                  <a:lumOff val="15000"/>
                </a:prstClr>
              </a:solidFill>
              <a:latin typeface="楷体" panose="02010609060101010101" pitchFamily="49" charset="-122"/>
              <a:ea typeface="楷体" panose="02010609060101010101" pitchFamily="49" charset="-122"/>
            </a:endParaRPr>
          </a:p>
        </p:txBody>
      </p:sp>
      <p:sp>
        <p:nvSpPr>
          <p:cNvPr id="8" name="标题 1"/>
          <p:cNvSpPr>
            <a:spLocks noGrp="1"/>
          </p:cNvSpPr>
          <p:nvPr>
            <p:ph type="title"/>
          </p:nvPr>
        </p:nvSpPr>
        <p:spPr>
          <a:xfrm>
            <a:off x="778608" y="397155"/>
            <a:ext cx="10850563" cy="535531"/>
          </a:xfrm>
        </p:spPr>
        <p:txBody>
          <a:bodyPr vert="horz" lIns="91440" tIns="45720" rIns="91440" bIns="45720" rtlCol="0" anchor="b">
            <a:spAutoFit/>
          </a:bodyPr>
          <a:lstStyle/>
          <a:p>
            <a:pPr>
              <a:lnSpc>
                <a:spcPct val="120000"/>
              </a:lnSpc>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掼蛋中对牌的认识</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spTree>
    <p:custDataLst>
      <p:tags r:id="rId1"/>
    </p:custDataLst>
    <p:extLst>
      <p:ext uri="{BB962C8B-B14F-4D97-AF65-F5344CB8AC3E}">
        <p14:creationId xmlns:p14="http://schemas.microsoft.com/office/powerpoint/2010/main" val="6891857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686716" y="1174491"/>
            <a:ext cx="10126286" cy="5262979"/>
          </a:xfrm>
          <a:prstGeom prst="rect">
            <a:avLst/>
          </a:prstGeom>
          <a:noFill/>
        </p:spPr>
        <p:txBody>
          <a:bodyPr wrap="square" rtlCol="0">
            <a:spAutoFit/>
          </a:bodyPr>
          <a:lstStyle/>
          <a:p>
            <a:pPr fontAlgn="auto">
              <a:lnSpc>
                <a:spcPct val="150000"/>
              </a:lnSpc>
            </a:pPr>
            <a:r>
              <a:rPr lang="zh-CN" altLang="en-US" sz="1400" b="1" kern="0" dirty="0" smtClean="0">
                <a:solidFill>
                  <a:prstClr val="black">
                    <a:lumMod val="85000"/>
                    <a:lumOff val="15000"/>
                  </a:prstClr>
                </a:solidFill>
                <a:latin typeface="楷体" panose="02010609060101010101" pitchFamily="49" charset="-122"/>
                <a:ea typeface="楷体" panose="02010609060101010101" pitchFamily="49" charset="-122"/>
              </a:rPr>
              <a:t>一、价值分析</a:t>
            </a:r>
            <a:endParaRPr lang="en-US" altLang="zh-CN" sz="1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en-US" altLang="zh-CN" sz="1400" b="1" kern="0" dirty="0" smtClean="0">
                <a:solidFill>
                  <a:prstClr val="black">
                    <a:lumMod val="85000"/>
                    <a:lumOff val="15000"/>
                  </a:prstClr>
                </a:solidFill>
                <a:latin typeface="楷体" panose="02010609060101010101" pitchFamily="49" charset="-122"/>
                <a:ea typeface="楷体" panose="02010609060101010101" pitchFamily="49" charset="-122"/>
              </a:rPr>
              <a:t>1.</a:t>
            </a:r>
            <a:r>
              <a:rPr lang="zh-CN" altLang="en-US" sz="1400" b="1" kern="0" dirty="0" smtClean="0">
                <a:solidFill>
                  <a:prstClr val="black">
                    <a:lumMod val="85000"/>
                    <a:lumOff val="15000"/>
                  </a:prstClr>
                </a:solidFill>
                <a:latin typeface="楷体" panose="02010609060101010101" pitchFamily="49" charset="-122"/>
                <a:ea typeface="楷体" panose="02010609060101010101" pitchFamily="49" charset="-122"/>
              </a:rPr>
              <a:t>看控制</a:t>
            </a:r>
            <a:endParaRPr lang="en-US" altLang="zh-CN" sz="1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全控型，先出牌者：手数</a:t>
            </a:r>
            <a:r>
              <a:rPr lang="en-US" altLang="zh-CN" sz="1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控制</a:t>
            </a:r>
            <a:r>
              <a:rPr lang="en-US" altLang="zh-CN" sz="1400" kern="0" dirty="0" smtClean="0">
                <a:solidFill>
                  <a:prstClr val="black">
                    <a:lumMod val="85000"/>
                    <a:lumOff val="15000"/>
                  </a:prstClr>
                </a:solidFill>
                <a:latin typeface="楷体" panose="02010609060101010101" pitchFamily="49" charset="-122"/>
                <a:ea typeface="楷体" panose="02010609060101010101" pitchFamily="49" charset="-122"/>
              </a:rPr>
              <a:t>+1</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，则必胜。后出牌者：手数</a:t>
            </a:r>
            <a:r>
              <a:rPr lang="en-US" altLang="zh-CN" sz="1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控制，则必胜。开局、中局、残局都用得到的。关于控制牌的互相消耗的思考（就是大王被炸，炸弹被炸弹炸）。</a:t>
            </a:r>
            <a:endParaRPr lang="en-US" altLang="zh-CN" sz="1400"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en-US" altLang="zh-CN" sz="1400" b="1" kern="0" dirty="0" smtClean="0">
                <a:solidFill>
                  <a:prstClr val="black">
                    <a:lumMod val="85000"/>
                    <a:lumOff val="15000"/>
                  </a:prstClr>
                </a:solidFill>
                <a:latin typeface="楷体" panose="02010609060101010101" pitchFamily="49" charset="-122"/>
                <a:ea typeface="楷体" panose="02010609060101010101" pitchFamily="49" charset="-122"/>
              </a:rPr>
              <a:t>2.</a:t>
            </a:r>
            <a:r>
              <a:rPr lang="zh-CN" altLang="en-US" sz="1400" b="1" kern="0" dirty="0" smtClean="0">
                <a:solidFill>
                  <a:prstClr val="black">
                    <a:lumMod val="85000"/>
                    <a:lumOff val="15000"/>
                  </a:prstClr>
                </a:solidFill>
                <a:latin typeface="楷体" panose="02010609060101010101" pitchFamily="49" charset="-122"/>
                <a:ea typeface="楷体" panose="02010609060101010101" pitchFamily="49" charset="-122"/>
              </a:rPr>
              <a:t>看整齐度（手数）</a:t>
            </a:r>
            <a:endParaRPr lang="en-US" altLang="zh-CN" sz="1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过于整齐的牌，需要用控制才能上手的需求较少，出的快。但不利于帮到对家，不利于骗到炸弹。</a:t>
            </a:r>
            <a:endParaRPr lang="en-US" altLang="zh-CN" sz="1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1400" b="1" kern="0" dirty="0" smtClean="0">
                <a:solidFill>
                  <a:prstClr val="black">
                    <a:lumMod val="85000"/>
                    <a:lumOff val="15000"/>
                  </a:prstClr>
                </a:solidFill>
                <a:latin typeface="楷体" panose="02010609060101010101" pitchFamily="49" charset="-122"/>
                <a:ea typeface="楷体" panose="02010609060101010101" pitchFamily="49" charset="-122"/>
              </a:rPr>
              <a:t>3.</a:t>
            </a:r>
            <a:r>
              <a:rPr lang="zh-CN" altLang="en-US" sz="1400" b="1" kern="0" dirty="0" smtClean="0">
                <a:solidFill>
                  <a:prstClr val="black">
                    <a:lumMod val="85000"/>
                    <a:lumOff val="15000"/>
                  </a:prstClr>
                </a:solidFill>
                <a:latin typeface="楷体" panose="02010609060101010101" pitchFamily="49" charset="-122"/>
                <a:ea typeface="楷体" panose="02010609060101010101" pitchFamily="49" charset="-122"/>
              </a:rPr>
              <a:t>制定</a:t>
            </a:r>
            <a:r>
              <a:rPr lang="zh-CN" altLang="en-US" sz="1400" b="1" kern="0" dirty="0">
                <a:solidFill>
                  <a:prstClr val="black">
                    <a:lumMod val="85000"/>
                    <a:lumOff val="15000"/>
                  </a:prstClr>
                </a:solidFill>
                <a:latin typeface="楷体" panose="02010609060101010101" pitchFamily="49" charset="-122"/>
                <a:ea typeface="楷体" panose="02010609060101010101" pitchFamily="49" charset="-122"/>
              </a:rPr>
              <a:t>战略</a:t>
            </a:r>
            <a:r>
              <a:rPr lang="zh-CN" altLang="en-US" sz="1400" b="1" kern="0" dirty="0" smtClean="0">
                <a:solidFill>
                  <a:prstClr val="black">
                    <a:lumMod val="85000"/>
                    <a:lumOff val="15000"/>
                  </a:prstClr>
                </a:solidFill>
                <a:latin typeface="楷体" panose="02010609060101010101" pitchFamily="49" charset="-122"/>
                <a:ea typeface="楷体" panose="02010609060101010101" pitchFamily="49" charset="-122"/>
              </a:rPr>
              <a:t>与整理自己的牌（简称“理牌”）</a:t>
            </a:r>
            <a:endParaRPr lang="en-US" altLang="zh-CN" sz="1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理牌要和战略匹配。如果是想有牌就顺掉，能混则混；或者尽量争胜，则手数越少越好。如果想掌握一定的控制权，出自己或搭档的牌路，则要理出大牌。但最基本的原则还是整理的手数越少越好。第二原则是控制多就不怕手数多。</a:t>
            </a:r>
            <a:endParaRPr lang="en-US" altLang="zh-CN" sz="1400" kern="0" dirty="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en-US" altLang="zh-CN" sz="1400" b="1" kern="0" dirty="0" smtClean="0">
                <a:solidFill>
                  <a:prstClr val="black">
                    <a:lumMod val="85000"/>
                    <a:lumOff val="15000"/>
                  </a:prstClr>
                </a:solidFill>
                <a:latin typeface="楷体" panose="02010609060101010101" pitchFamily="49" charset="-122"/>
                <a:ea typeface="楷体" panose="02010609060101010101" pitchFamily="49" charset="-122"/>
              </a:rPr>
              <a:t>4.</a:t>
            </a:r>
            <a:r>
              <a:rPr lang="zh-CN" altLang="en-US" sz="1400" b="1" kern="0" dirty="0" smtClean="0">
                <a:solidFill>
                  <a:prstClr val="black">
                    <a:lumMod val="85000"/>
                    <a:lumOff val="15000"/>
                  </a:prstClr>
                </a:solidFill>
                <a:latin typeface="楷体" panose="02010609060101010101" pitchFamily="49" charset="-122"/>
                <a:ea typeface="楷体" panose="02010609060101010101" pitchFamily="49" charset="-122"/>
              </a:rPr>
              <a:t>好</a:t>
            </a:r>
            <a:r>
              <a:rPr lang="zh-CN" altLang="en-US" sz="1400" b="1" kern="0" dirty="0">
                <a:solidFill>
                  <a:prstClr val="black">
                    <a:lumMod val="85000"/>
                    <a:lumOff val="15000"/>
                  </a:prstClr>
                </a:solidFill>
                <a:latin typeface="楷体" panose="02010609060101010101" pitchFamily="49" charset="-122"/>
                <a:ea typeface="楷体" panose="02010609060101010101" pitchFamily="49" charset="-122"/>
              </a:rPr>
              <a:t>牌、一般牌与差</a:t>
            </a:r>
            <a:r>
              <a:rPr lang="zh-CN" altLang="en-US" sz="1400" b="1" kern="0" dirty="0" smtClean="0">
                <a:solidFill>
                  <a:prstClr val="black">
                    <a:lumMod val="85000"/>
                    <a:lumOff val="15000"/>
                  </a:prstClr>
                </a:solidFill>
                <a:latin typeface="楷体" panose="02010609060101010101" pitchFamily="49" charset="-122"/>
                <a:ea typeface="楷体" panose="02010609060101010101" pitchFamily="49" charset="-122"/>
              </a:rPr>
              <a:t>牌。</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好牌炸弹多、控制多、手数不多；差牌炸弹不多还不大，手数多，大牌</a:t>
            </a: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少。一般情况下，平均有</a:t>
            </a:r>
            <a:r>
              <a:rPr lang="en-US" altLang="zh-CN" sz="1400" kern="0" dirty="0">
                <a:solidFill>
                  <a:prstClr val="black">
                    <a:lumMod val="85000"/>
                    <a:lumOff val="15000"/>
                  </a:prstClr>
                </a:solidFill>
                <a:latin typeface="楷体" panose="02010609060101010101" pitchFamily="49" charset="-122"/>
                <a:ea typeface="楷体" panose="02010609060101010101" pitchFamily="49" charset="-122"/>
              </a:rPr>
              <a:t>1.7—2</a:t>
            </a: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炸这样。有</a:t>
            </a:r>
            <a:r>
              <a:rPr lang="en-US" altLang="zh-CN" sz="1400" kern="0" dirty="0">
                <a:solidFill>
                  <a:prstClr val="black">
                    <a:lumMod val="85000"/>
                    <a:lumOff val="15000"/>
                  </a:prstClr>
                </a:solidFill>
                <a:latin typeface="楷体" panose="02010609060101010101" pitchFamily="49" charset="-122"/>
                <a:ea typeface="楷体" panose="02010609060101010101" pitchFamily="49" charset="-122"/>
              </a:rPr>
              <a:t>2—3</a:t>
            </a: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炸，就是好牌。四炸的概率在</a:t>
            </a:r>
            <a:r>
              <a:rPr lang="en-US" altLang="zh-CN" sz="1400" kern="0" dirty="0">
                <a:solidFill>
                  <a:prstClr val="black">
                    <a:lumMod val="85000"/>
                    <a:lumOff val="15000"/>
                  </a:prstClr>
                </a:solidFill>
                <a:latin typeface="楷体" panose="02010609060101010101" pitchFamily="49" charset="-122"/>
                <a:ea typeface="楷体" panose="02010609060101010101" pitchFamily="49" charset="-122"/>
              </a:rPr>
              <a:t>3—5%</a:t>
            </a: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左右</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。理</a:t>
            </a: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好牌后，分析一下手里牌能够控几手，控牌主要指大王、双小王、炸，钢板、三连对（大），</a:t>
            </a:r>
            <a:r>
              <a:rPr lang="en-US" altLang="zh-CN" sz="1400" kern="0" dirty="0">
                <a:solidFill>
                  <a:prstClr val="black">
                    <a:lumMod val="85000"/>
                    <a:lumOff val="15000"/>
                  </a:prstClr>
                </a:solidFill>
                <a:latin typeface="楷体" panose="02010609060101010101" pitchFamily="49" charset="-122"/>
                <a:ea typeface="楷体" panose="02010609060101010101" pitchFamily="49" charset="-122"/>
              </a:rPr>
              <a:t>KKK</a:t>
            </a: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以上三带二，</a:t>
            </a:r>
            <a:r>
              <a:rPr lang="en-US" altLang="zh-CN" sz="1400" kern="0" dirty="0">
                <a:solidFill>
                  <a:prstClr val="black">
                    <a:lumMod val="85000"/>
                    <a:lumOff val="15000"/>
                  </a:prstClr>
                </a:solidFill>
                <a:latin typeface="楷体" panose="02010609060101010101" pitchFamily="49" charset="-122"/>
                <a:ea typeface="楷体" panose="02010609060101010101" pitchFamily="49" charset="-122"/>
              </a:rPr>
              <a:t>AA</a:t>
            </a: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、主对和大的顺子，一般情况下，</a:t>
            </a:r>
            <a:r>
              <a:rPr lang="en-US" altLang="zh-CN" sz="1400" kern="0" dirty="0">
                <a:solidFill>
                  <a:prstClr val="black">
                    <a:lumMod val="85000"/>
                    <a:lumOff val="15000"/>
                  </a:prstClr>
                </a:solidFill>
                <a:latin typeface="楷体" panose="02010609060101010101" pitchFamily="49" charset="-122"/>
                <a:ea typeface="楷体" panose="02010609060101010101" pitchFamily="49" charset="-122"/>
              </a:rPr>
              <a:t>1—3</a:t>
            </a: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手的控牌为比较差的牌，有</a:t>
            </a:r>
            <a:r>
              <a:rPr lang="en-US" altLang="zh-CN" sz="1400" kern="0" dirty="0">
                <a:solidFill>
                  <a:prstClr val="black">
                    <a:lumMod val="85000"/>
                    <a:lumOff val="15000"/>
                  </a:prstClr>
                </a:solidFill>
                <a:latin typeface="楷体" panose="02010609060101010101" pitchFamily="49" charset="-122"/>
                <a:ea typeface="楷体" panose="02010609060101010101" pitchFamily="49" charset="-122"/>
              </a:rPr>
              <a:t>4—5</a:t>
            </a: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手就是正常，</a:t>
            </a:r>
            <a:r>
              <a:rPr lang="en-US" altLang="zh-CN" sz="1400" kern="0" dirty="0">
                <a:solidFill>
                  <a:prstClr val="black">
                    <a:lumMod val="85000"/>
                    <a:lumOff val="15000"/>
                  </a:prstClr>
                </a:solidFill>
                <a:latin typeface="楷体" panose="02010609060101010101" pitchFamily="49" charset="-122"/>
                <a:ea typeface="楷体" panose="02010609060101010101" pitchFamily="49" charset="-122"/>
              </a:rPr>
              <a:t>6—7</a:t>
            </a:r>
            <a:r>
              <a:rPr lang="zh-CN" altLang="en-US" sz="1400" kern="0" dirty="0">
                <a:solidFill>
                  <a:prstClr val="black">
                    <a:lumMod val="85000"/>
                    <a:lumOff val="15000"/>
                  </a:prstClr>
                </a:solidFill>
                <a:latin typeface="楷体" panose="02010609060101010101" pitchFamily="49" charset="-122"/>
                <a:ea typeface="楷体" panose="02010609060101010101" pitchFamily="49" charset="-122"/>
              </a:rPr>
              <a:t>手就是好牌。</a:t>
            </a:r>
          </a:p>
          <a:p>
            <a:pPr fontAlgn="auto">
              <a:lnSpc>
                <a:spcPct val="150000"/>
              </a:lnSpc>
            </a:pPr>
            <a:r>
              <a:rPr lang="en-US" altLang="zh-CN" sz="1400" b="1" kern="0" dirty="0" smtClean="0">
                <a:solidFill>
                  <a:prstClr val="black">
                    <a:lumMod val="85000"/>
                    <a:lumOff val="15000"/>
                  </a:prstClr>
                </a:solidFill>
                <a:latin typeface="楷体" panose="02010609060101010101" pitchFamily="49" charset="-122"/>
                <a:ea typeface="楷体" panose="02010609060101010101" pitchFamily="49" charset="-122"/>
              </a:rPr>
              <a:t>5.</a:t>
            </a:r>
            <a:r>
              <a:rPr lang="zh-CN" altLang="en-US" sz="1400" b="1" kern="0" dirty="0" smtClean="0">
                <a:solidFill>
                  <a:prstClr val="black">
                    <a:lumMod val="85000"/>
                    <a:lumOff val="15000"/>
                  </a:prstClr>
                </a:solidFill>
                <a:latin typeface="楷体" panose="02010609060101010101" pitchFamily="49" charset="-122"/>
                <a:ea typeface="楷体" panose="02010609060101010101" pitchFamily="49" charset="-122"/>
              </a:rPr>
              <a:t>运动战中的变通</a:t>
            </a:r>
            <a:endParaRPr lang="en-US" altLang="zh-CN" sz="1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尽量把固定结构的牌先出，组合的牌留在后面出，保留变化。能拆牌的，思考清楚，果断拆牌（最明显的例子就是</a:t>
            </a:r>
            <a:r>
              <a:rPr lang="en-US" altLang="zh-CN" sz="1400" kern="0" dirty="0" smtClean="0">
                <a:solidFill>
                  <a:prstClr val="black">
                    <a:lumMod val="85000"/>
                    <a:lumOff val="15000"/>
                  </a:prstClr>
                </a:solidFill>
                <a:latin typeface="楷体" panose="02010609060101010101" pitchFamily="49" charset="-122"/>
                <a:ea typeface="楷体" panose="02010609060101010101" pitchFamily="49" charset="-122"/>
              </a:rPr>
              <a:t>4</a:t>
            </a:r>
            <a:r>
              <a:rPr lang="zh-CN" altLang="en-US" sz="1400" kern="0" dirty="0" smtClean="0">
                <a:solidFill>
                  <a:prstClr val="black">
                    <a:lumMod val="85000"/>
                    <a:lumOff val="15000"/>
                  </a:prstClr>
                </a:solidFill>
                <a:latin typeface="楷体" panose="02010609060101010101" pitchFamily="49" charset="-122"/>
                <a:ea typeface="楷体" panose="02010609060101010101" pitchFamily="49" charset="-122"/>
              </a:rPr>
              <a:t>王和双王牌以及三将牌）</a:t>
            </a:r>
            <a:endParaRPr lang="zh-CN" altLang="en-US" sz="1400" kern="0" dirty="0">
              <a:solidFill>
                <a:prstClr val="black">
                  <a:lumMod val="85000"/>
                  <a:lumOff val="15000"/>
                </a:prstClr>
              </a:solidFill>
              <a:latin typeface="楷体" panose="02010609060101010101" pitchFamily="49" charset="-122"/>
              <a:ea typeface="楷体" panose="02010609060101010101" pitchFamily="49" charset="-122"/>
            </a:endParaRPr>
          </a:p>
        </p:txBody>
      </p:sp>
      <p:sp>
        <p:nvSpPr>
          <p:cNvPr id="7"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3.2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整手牌价值分析</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spTree>
    <p:custDataLst>
      <p:tags r:id="rId1"/>
    </p:custDataLst>
    <p:extLst>
      <p:ext uri="{BB962C8B-B14F-4D97-AF65-F5344CB8AC3E}">
        <p14:creationId xmlns:p14="http://schemas.microsoft.com/office/powerpoint/2010/main" val="22743919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456017"/>
            <a:ext cx="10850563" cy="476669"/>
          </a:xfrm>
        </p:spPr>
        <p:txBody>
          <a:bodyPr vert="horz" lIns="91440" tIns="45720" rIns="91440" bIns="45720" rtlCol="0" anchor="b">
            <a:spAutoFit/>
          </a:bodyPr>
          <a:lstStyle/>
          <a:p>
            <a:pPr>
              <a:lnSpc>
                <a:spcPct val="120000"/>
              </a:lnSpc>
            </a:pPr>
            <a:r>
              <a:rPr lang="en-US" altLang="zh-CN" sz="2400" dirty="0">
                <a:solidFill>
                  <a:srgbClr val="0F2C5D"/>
                </a:solidFill>
                <a:latin typeface="黑体" panose="02010609060101010101" charset="-122"/>
                <a:ea typeface="黑体" panose="02010609060101010101" charset="-122"/>
                <a:cs typeface="黑体" panose="02010609060101010101" charset="-122"/>
              </a:rPr>
              <a:t>3.2 </a:t>
            </a:r>
            <a:r>
              <a:rPr lang="zh-CN" altLang="en-US" sz="2400" dirty="0">
                <a:solidFill>
                  <a:srgbClr val="0F2C5D"/>
                </a:solidFill>
                <a:latin typeface="黑体" panose="02010609060101010101" charset="-122"/>
                <a:ea typeface="黑体" panose="02010609060101010101" charset="-122"/>
                <a:cs typeface="黑体" panose="02010609060101010101" charset="-122"/>
              </a:rPr>
              <a:t>整手牌价值分析</a:t>
            </a: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778607" y="1269939"/>
            <a:ext cx="9924143" cy="3970318"/>
          </a:xfrm>
          <a:prstGeom prst="rect">
            <a:avLst/>
          </a:prstGeom>
        </p:spPr>
        <p:txBody>
          <a:bodyPr wrap="square">
            <a:spAutoFit/>
          </a:bodyPr>
          <a:lstStyle/>
          <a:p>
            <a:pPr algn="just">
              <a:spcAft>
                <a:spcPts val="0"/>
              </a:spcAft>
            </a:pPr>
            <a:r>
              <a:rPr lang="zh-CN" altLang="en-US" kern="100" dirty="0" smtClean="0">
                <a:latin typeface="楷体" panose="02010609060101010101" pitchFamily="49" charset="-122"/>
                <a:ea typeface="楷体" panose="02010609060101010101" pitchFamily="49" charset="-122"/>
                <a:cs typeface="宋体" panose="02010600030101010101" pitchFamily="2" charset="-122"/>
              </a:rPr>
              <a:t>二、</a:t>
            </a:r>
            <a:r>
              <a:rPr lang="zh-CN" altLang="zh-CN" kern="100" dirty="0" smtClean="0">
                <a:latin typeface="楷体" panose="02010609060101010101" pitchFamily="49" charset="-122"/>
                <a:ea typeface="楷体" panose="02010609060101010101" pitchFamily="49" charset="-122"/>
                <a:cs typeface="宋体" panose="02010600030101010101" pitchFamily="2" charset="-122"/>
              </a:rPr>
              <a:t>制定战略</a:t>
            </a:r>
            <a:endParaRPr lang="en-US" altLang="zh-CN" kern="100" dirty="0" smtClean="0">
              <a:latin typeface="楷体" panose="02010609060101010101" pitchFamily="49" charset="-122"/>
              <a:ea typeface="楷体" panose="02010609060101010101" pitchFamily="49" charset="-122"/>
              <a:cs typeface="宋体" panose="02010600030101010101" pitchFamily="2" charset="-122"/>
            </a:endParaRPr>
          </a:p>
          <a:p>
            <a:pPr algn="just"/>
            <a:r>
              <a:rPr lang="zh-CN" altLang="zh-CN" kern="100" dirty="0" smtClean="0">
                <a:latin typeface="楷体" panose="02010609060101010101" pitchFamily="49" charset="-122"/>
                <a:ea typeface="楷体" panose="02010609060101010101" pitchFamily="49" charset="-122"/>
                <a:cs typeface="宋体" panose="02010600030101010101" pitchFamily="2" charset="-122"/>
              </a:rPr>
              <a:t>一手</a:t>
            </a:r>
            <a:r>
              <a:rPr lang="zh-CN" altLang="zh-CN" kern="100" dirty="0">
                <a:latin typeface="楷体" panose="02010609060101010101" pitchFamily="49" charset="-122"/>
                <a:ea typeface="楷体" panose="02010609060101010101" pitchFamily="49" charset="-122"/>
                <a:cs typeface="宋体" panose="02010600030101010101" pitchFamily="2" charset="-122"/>
              </a:rPr>
              <a:t>牌需要多少手数出完（含炸弹和大止张，不含炸弹和大止张</a:t>
            </a:r>
            <a:r>
              <a:rPr lang="zh-CN" altLang="zh-CN" kern="100" dirty="0" smtClean="0">
                <a:latin typeface="楷体" panose="02010609060101010101" pitchFamily="49" charset="-122"/>
                <a:ea typeface="楷体" panose="02010609060101010101" pitchFamily="49" charset="-122"/>
                <a:cs typeface="宋体" panose="02010600030101010101" pitchFamily="2" charset="-122"/>
              </a:rPr>
              <a:t>）</a:t>
            </a:r>
            <a:r>
              <a:rPr lang="zh-CN" altLang="en-US" kern="100" dirty="0" smtClean="0">
                <a:latin typeface="楷体" panose="02010609060101010101" pitchFamily="49" charset="-122"/>
                <a:ea typeface="楷体" panose="02010609060101010101" pitchFamily="49" charset="-122"/>
                <a:cs typeface="宋体" panose="02010600030101010101" pitchFamily="2" charset="-122"/>
              </a:rPr>
              <a:t>。前面已经了解过对牌的质量认识了，就要要弄清以下几个方面：</a:t>
            </a:r>
            <a:endParaRPr lang="en-US" altLang="zh-CN" kern="100" dirty="0" smtClean="0">
              <a:latin typeface="楷体" panose="02010609060101010101" pitchFamily="49" charset="-122"/>
              <a:ea typeface="楷体" panose="02010609060101010101" pitchFamily="49" charset="-122"/>
              <a:cs typeface="宋体" panose="02010600030101010101" pitchFamily="2" charset="-122"/>
            </a:endParaRPr>
          </a:p>
          <a:p>
            <a:pPr algn="just"/>
            <a:r>
              <a:rPr lang="en-US" altLang="zh-CN" kern="100" dirty="0" smtClean="0">
                <a:latin typeface="楷体" panose="02010609060101010101" pitchFamily="49" charset="-122"/>
                <a:ea typeface="楷体" panose="02010609060101010101" pitchFamily="49" charset="-122"/>
                <a:cs typeface="宋体" panose="02010600030101010101" pitchFamily="2" charset="-122"/>
              </a:rPr>
              <a:t>1.</a:t>
            </a:r>
            <a:r>
              <a:rPr lang="zh-CN" altLang="en-US" kern="100" dirty="0" smtClean="0">
                <a:latin typeface="楷体" panose="02010609060101010101" pitchFamily="49" charset="-122"/>
                <a:ea typeface="楷体" panose="02010609060101010101" pitchFamily="49" charset="-122"/>
                <a:cs typeface="宋体" panose="02010600030101010101" pitchFamily="2" charset="-122"/>
              </a:rPr>
              <a:t>有多少控制</a:t>
            </a:r>
            <a:endParaRPr lang="en-US" altLang="zh-CN" kern="100" dirty="0" smtClean="0">
              <a:latin typeface="楷体" panose="02010609060101010101" pitchFamily="49" charset="-122"/>
              <a:ea typeface="楷体" panose="02010609060101010101" pitchFamily="49" charset="-122"/>
              <a:cs typeface="宋体" panose="02010600030101010101" pitchFamily="2" charset="-122"/>
            </a:endParaRPr>
          </a:p>
          <a:p>
            <a:pPr algn="just"/>
            <a:r>
              <a:rPr lang="en-US" altLang="zh-CN" kern="100" dirty="0" smtClean="0">
                <a:latin typeface="楷体" panose="02010609060101010101" pitchFamily="49" charset="-122"/>
                <a:ea typeface="楷体" panose="02010609060101010101" pitchFamily="49" charset="-122"/>
                <a:cs typeface="宋体" panose="02010600030101010101" pitchFamily="2" charset="-122"/>
              </a:rPr>
              <a:t>2.</a:t>
            </a:r>
            <a:r>
              <a:rPr lang="zh-CN" altLang="en-US" kern="100" dirty="0" smtClean="0">
                <a:latin typeface="楷体" panose="02010609060101010101" pitchFamily="49" charset="-122"/>
                <a:ea typeface="楷体" panose="02010609060101010101" pitchFamily="49" charset="-122"/>
                <a:cs typeface="宋体" panose="02010600030101010101" pitchFamily="2" charset="-122"/>
              </a:rPr>
              <a:t>有多少能顺的牌</a:t>
            </a:r>
            <a:endParaRPr lang="en-US" altLang="zh-CN" kern="100" dirty="0" smtClean="0">
              <a:latin typeface="楷体" panose="02010609060101010101" pitchFamily="49" charset="-122"/>
              <a:ea typeface="楷体" panose="02010609060101010101" pitchFamily="49" charset="-122"/>
              <a:cs typeface="宋体" panose="02010600030101010101" pitchFamily="2" charset="-122"/>
            </a:endParaRPr>
          </a:p>
          <a:p>
            <a:pPr algn="just"/>
            <a:r>
              <a:rPr lang="en-US" altLang="zh-CN" kern="100" dirty="0" smtClean="0">
                <a:latin typeface="楷体" panose="02010609060101010101" pitchFamily="49" charset="-122"/>
                <a:ea typeface="楷体" panose="02010609060101010101" pitchFamily="49" charset="-122"/>
                <a:cs typeface="宋体" panose="02010600030101010101" pitchFamily="2" charset="-122"/>
              </a:rPr>
              <a:t>3.</a:t>
            </a:r>
            <a:r>
              <a:rPr lang="zh-CN" altLang="en-US" kern="100" dirty="0" smtClean="0">
                <a:latin typeface="楷体" panose="02010609060101010101" pitchFamily="49" charset="-122"/>
                <a:ea typeface="楷体" panose="02010609060101010101" pitchFamily="49" charset="-122"/>
                <a:cs typeface="宋体" panose="02010600030101010101" pitchFamily="2" charset="-122"/>
              </a:rPr>
              <a:t>有多少需要上手才能出的牌（注意，当对手没有了某一路牌时，一旦你上手，可能会获得持续的出牌机会，在实战中要予以考虑，比如：</a:t>
            </a:r>
            <a:r>
              <a:rPr lang="zh-CN" altLang="zh-CN" kern="100" dirty="0" smtClean="0">
                <a:latin typeface="楷体" panose="02010609060101010101" pitchFamily="49" charset="-122"/>
                <a:ea typeface="楷体" panose="02010609060101010101" pitchFamily="49" charset="-122"/>
                <a:cs typeface="宋体" panose="02010600030101010101" pitchFamily="2" charset="-122"/>
              </a:rPr>
              <a:t>有时候</a:t>
            </a:r>
            <a:r>
              <a:rPr lang="zh-CN" altLang="zh-CN" kern="100" dirty="0">
                <a:latin typeface="楷体" panose="02010609060101010101" pitchFamily="49" charset="-122"/>
                <a:ea typeface="楷体" panose="02010609060101010101" pitchFamily="49" charset="-122"/>
                <a:cs typeface="宋体" panose="02010600030101010101" pitchFamily="2" charset="-122"/>
              </a:rPr>
              <a:t>控制住对手的最后一次单后，所有的单张</a:t>
            </a:r>
            <a:r>
              <a:rPr lang="zh-CN" altLang="zh-CN" kern="100" dirty="0" smtClean="0">
                <a:latin typeface="楷体" panose="02010609060101010101" pitchFamily="49" charset="-122"/>
                <a:ea typeface="楷体" panose="02010609060101010101" pitchFamily="49" charset="-122"/>
                <a:cs typeface="宋体" panose="02010600030101010101" pitchFamily="2" charset="-122"/>
              </a:rPr>
              <a:t>可能</a:t>
            </a:r>
            <a:r>
              <a:rPr lang="zh-CN" altLang="en-US" kern="100" dirty="0" smtClean="0">
                <a:latin typeface="楷体" panose="02010609060101010101" pitchFamily="49" charset="-122"/>
                <a:ea typeface="楷体" panose="02010609060101010101" pitchFamily="49" charset="-122"/>
                <a:cs typeface="宋体" panose="02010600030101010101" pitchFamily="2" charset="-122"/>
              </a:rPr>
              <a:t>对手方</a:t>
            </a:r>
            <a:r>
              <a:rPr lang="zh-CN" altLang="zh-CN" kern="100" dirty="0" smtClean="0">
                <a:latin typeface="楷体" panose="02010609060101010101" pitchFamily="49" charset="-122"/>
                <a:ea typeface="楷体" panose="02010609060101010101" pitchFamily="49" charset="-122"/>
                <a:cs typeface="宋体" panose="02010600030101010101" pitchFamily="2" charset="-122"/>
              </a:rPr>
              <a:t>都</a:t>
            </a:r>
            <a:r>
              <a:rPr lang="zh-CN" altLang="en-US" kern="100" dirty="0" smtClean="0">
                <a:latin typeface="楷体" panose="02010609060101010101" pitchFamily="49" charset="-122"/>
                <a:ea typeface="楷体" panose="02010609060101010101" pitchFamily="49" charset="-122"/>
                <a:cs typeface="宋体" panose="02010600030101010101" pitchFamily="2" charset="-122"/>
              </a:rPr>
              <a:t>不压你，除非他拆牌。但他不知道你有多少单张时，他拆不拆牌又会有很大的顾虑）。</a:t>
            </a:r>
            <a:endParaRPr lang="en-US" altLang="zh-CN" kern="100" dirty="0" smtClean="0">
              <a:latin typeface="楷体" panose="02010609060101010101" pitchFamily="49" charset="-122"/>
              <a:ea typeface="楷体" panose="02010609060101010101" pitchFamily="49" charset="-122"/>
              <a:cs typeface="宋体" panose="02010600030101010101" pitchFamily="2" charset="-122"/>
            </a:endParaRPr>
          </a:p>
          <a:p>
            <a:pPr algn="just"/>
            <a:r>
              <a:rPr lang="en-US" altLang="zh-CN" kern="100" dirty="0" smtClean="0">
                <a:latin typeface="楷体" panose="02010609060101010101" pitchFamily="49" charset="-122"/>
                <a:ea typeface="楷体" panose="02010609060101010101" pitchFamily="49" charset="-122"/>
                <a:cs typeface="宋体" panose="02010600030101010101" pitchFamily="2" charset="-122"/>
              </a:rPr>
              <a:t>4.</a:t>
            </a:r>
            <a:r>
              <a:rPr lang="zh-CN" altLang="en-US" kern="100" dirty="0" smtClean="0">
                <a:latin typeface="楷体" panose="02010609060101010101" pitchFamily="49" charset="-122"/>
                <a:ea typeface="楷体" panose="02010609060101010101" pitchFamily="49" charset="-122"/>
                <a:cs typeface="宋体" panose="02010600030101010101" pitchFamily="2" charset="-122"/>
              </a:rPr>
              <a:t>综合看控制与需要出牌权的匹配度。比如你有三个上手才能出的牌路，但只有两个控制，那你要耐心等待别人在你某一路牌上出清，你上手后出这路牌，别人可能不要，你再出另一路牌，这样控制就和需要的上手机会匹配了。</a:t>
            </a:r>
            <a:endParaRPr lang="en-US" altLang="zh-CN" kern="100" dirty="0" smtClean="0">
              <a:latin typeface="楷体" panose="02010609060101010101" pitchFamily="49" charset="-122"/>
              <a:ea typeface="楷体" panose="02010609060101010101" pitchFamily="49" charset="-122"/>
              <a:cs typeface="宋体" panose="02010600030101010101" pitchFamily="2" charset="-122"/>
            </a:endParaRPr>
          </a:p>
          <a:p>
            <a:pPr algn="just"/>
            <a:endParaRPr lang="en-US" altLang="zh-CN" kern="100" dirty="0" smtClean="0">
              <a:solidFill>
                <a:srgbClr val="FF0000"/>
              </a:solidFill>
              <a:latin typeface="楷体" panose="02010609060101010101" pitchFamily="49" charset="-122"/>
              <a:ea typeface="楷体" panose="02010609060101010101" pitchFamily="49" charset="-122"/>
              <a:cs typeface="宋体" panose="02010600030101010101" pitchFamily="2" charset="-122"/>
            </a:endParaRPr>
          </a:p>
          <a:p>
            <a:pPr algn="just"/>
            <a:r>
              <a:rPr lang="zh-CN" altLang="en-US" kern="100" dirty="0" smtClean="0">
                <a:solidFill>
                  <a:srgbClr val="FF0000"/>
                </a:solidFill>
                <a:latin typeface="楷体" panose="02010609060101010101" pitchFamily="49" charset="-122"/>
                <a:ea typeface="楷体" panose="02010609060101010101" pitchFamily="49" charset="-122"/>
                <a:cs typeface="宋体" panose="02010600030101010101" pitchFamily="2" charset="-122"/>
              </a:rPr>
              <a:t>衡量</a:t>
            </a:r>
            <a:r>
              <a:rPr lang="zh-CN" altLang="en-US" kern="100" dirty="0">
                <a:solidFill>
                  <a:srgbClr val="FF0000"/>
                </a:solidFill>
                <a:latin typeface="楷体" panose="02010609060101010101" pitchFamily="49" charset="-122"/>
                <a:ea typeface="楷体" panose="02010609060101010101" pitchFamily="49" charset="-122"/>
                <a:cs typeface="宋体" panose="02010600030101010101" pitchFamily="2" charset="-122"/>
              </a:rPr>
              <a:t>价值时，要知道，你上手后出牌让你的搭档同时能顺牌，相当于你们多了半个炸弹，让你的下家顺一手牌，相当于让他多了半个炸弹</a:t>
            </a:r>
            <a:r>
              <a:rPr lang="zh-CN" altLang="en-US" kern="100" dirty="0" smtClean="0">
                <a:solidFill>
                  <a:srgbClr val="FF0000"/>
                </a:solidFill>
                <a:latin typeface="楷体" panose="02010609060101010101" pitchFamily="49" charset="-122"/>
                <a:ea typeface="楷体" panose="02010609060101010101" pitchFamily="49" charset="-122"/>
                <a:cs typeface="宋体" panose="02010600030101010101" pitchFamily="2" charset="-122"/>
              </a:rPr>
              <a:t>。</a:t>
            </a:r>
            <a:endParaRPr lang="zh-CN" altLang="zh-CN" kern="100" dirty="0">
              <a:solidFill>
                <a:srgbClr val="FF0000"/>
              </a:solidFill>
              <a:latin typeface="楷体" panose="02010609060101010101" pitchFamily="49" charset="-122"/>
              <a:ea typeface="楷体" panose="02010609060101010101" pitchFamily="49" charset="-122"/>
              <a:cs typeface="宋体" panose="02010600030101010101" pitchFamily="2" charset="-122"/>
            </a:endParaRPr>
          </a:p>
        </p:txBody>
      </p:sp>
    </p:spTree>
    <p:custDataLst>
      <p:tags r:id="rId1"/>
    </p:custDataLst>
    <p:extLst>
      <p:ext uri="{BB962C8B-B14F-4D97-AF65-F5344CB8AC3E}">
        <p14:creationId xmlns:p14="http://schemas.microsoft.com/office/powerpoint/2010/main" val="8605926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686716" y="1174491"/>
            <a:ext cx="10188430" cy="4154984"/>
          </a:xfrm>
          <a:prstGeom prst="rect">
            <a:avLst/>
          </a:prstGeom>
          <a:noFill/>
        </p:spPr>
        <p:txBody>
          <a:bodyPr wrap="square" rtlCol="0">
            <a:spAutoFit/>
          </a:bodyPr>
          <a:lstStyle/>
          <a:p>
            <a:pPr fontAlgn="auto">
              <a:lnSpc>
                <a:spcPct val="150000"/>
              </a:lnSpc>
            </a:pPr>
            <a:r>
              <a:rPr lang="zh-CN" altLang="en-US" sz="1600" b="1" kern="0" dirty="0" smtClean="0">
                <a:solidFill>
                  <a:prstClr val="black">
                    <a:lumMod val="85000"/>
                    <a:lumOff val="15000"/>
                  </a:prstClr>
                </a:solidFill>
                <a:latin typeface="楷体" panose="02010609060101010101" pitchFamily="49" charset="-122"/>
                <a:ea typeface="楷体" panose="02010609060101010101" pitchFamily="49" charset="-122"/>
              </a:rPr>
              <a:t>整理自己的牌（简称“理牌”）即将自己的牌，按规定的七种牌型整理好的过程（同时也包括整理出炸弹）</a:t>
            </a:r>
            <a:endParaRPr lang="en-US" altLang="zh-CN" sz="16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做为牌手一定要注意，理牌不全是组牌，拆牌也是理牌的一种。</a:t>
            </a:r>
            <a:r>
              <a:rPr lang="zh-CN" altLang="en-US" sz="1600" b="1" kern="0" dirty="0" smtClean="0">
                <a:solidFill>
                  <a:prstClr val="black">
                    <a:lumMod val="85000"/>
                    <a:lumOff val="15000"/>
                  </a:prstClr>
                </a:solidFill>
                <a:latin typeface="楷体" panose="02010609060101010101" pitchFamily="49" charset="-122"/>
                <a:ea typeface="楷体" panose="02010609060101010101" pitchFamily="49" charset="-122"/>
              </a:rPr>
              <a:t>理牌要和战略匹配：</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如果是想有牌就顺掉，能混则混；或者尽量争胜，则手数越少越好。如果想掌握一定的控制权，出自己或搭档的牌路，则要理出大牌。</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理牌要和手里的控制以及对手的控制相关，但最基本的原则还是整理的手数越少越好；第二原则是控制多就不怕手数多；第三原则是要尽量能上手以实现主动出击的目的，这时就要组大牌，为此不惜增加手数。第四原则，具有灵活性的组牌或拆牌，尽量往后面留，以保持灵活性。最好不要一上手就打出去了。尤其是点子级的牌。</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所以组</a:t>
            </a:r>
            <a:r>
              <a:rPr lang="zh-CN" altLang="en-US" sz="1600" kern="0" dirty="0">
                <a:solidFill>
                  <a:prstClr val="black">
                    <a:lumMod val="85000"/>
                    <a:lumOff val="15000"/>
                  </a:prstClr>
                </a:solidFill>
                <a:latin typeface="楷体" panose="02010609060101010101" pitchFamily="49" charset="-122"/>
                <a:ea typeface="楷体" panose="02010609060101010101" pitchFamily="49" charset="-122"/>
              </a:rPr>
              <a:t>牌</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原则应该有</a:t>
            </a:r>
            <a:r>
              <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rPr>
              <a:t>——</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大</a:t>
            </a:r>
            <a:r>
              <a:rPr lang="zh-CN" altLang="en-US" sz="1600" kern="0" dirty="0">
                <a:solidFill>
                  <a:prstClr val="black">
                    <a:lumMod val="85000"/>
                    <a:lumOff val="15000"/>
                  </a:prstClr>
                </a:solidFill>
                <a:latin typeface="楷体" panose="02010609060101010101" pitchFamily="49" charset="-122"/>
                <a:ea typeface="楷体" panose="02010609060101010101" pitchFamily="49" charset="-122"/>
              </a:rPr>
              <a:t>、小、止住、传送、增加或减少手</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数、控制（残局中对付一对时，拆对打就是这样的情形）</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有组牌，就有拆牌。</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拆牌方式</a:t>
            </a:r>
            <a:r>
              <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rPr>
              <a:t>——</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可富余出牌作他用、拆</a:t>
            </a:r>
            <a:r>
              <a:rPr lang="zh-CN" altLang="en-US" sz="1600" kern="0" dirty="0">
                <a:solidFill>
                  <a:prstClr val="black">
                    <a:lumMod val="85000"/>
                    <a:lumOff val="15000"/>
                  </a:prstClr>
                </a:solidFill>
                <a:latin typeface="楷体" panose="02010609060101010101" pitchFamily="49" charset="-122"/>
                <a:ea typeface="楷体" panose="02010609060101010101" pitchFamily="49" charset="-122"/>
              </a:rPr>
              <a:t>出为大、阻拦、传送、不与对手</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同路</a:t>
            </a:r>
            <a:endParaRPr lang="en-US" altLang="zh-CN" sz="16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理论上</a:t>
            </a:r>
            <a:r>
              <a:rPr lang="zh-CN" altLang="en-US" sz="1600" kern="0" dirty="0">
                <a:solidFill>
                  <a:prstClr val="black">
                    <a:lumMod val="85000"/>
                    <a:lumOff val="15000"/>
                  </a:prstClr>
                </a:solidFill>
                <a:latin typeface="楷体" panose="02010609060101010101" pitchFamily="49" charset="-122"/>
                <a:ea typeface="楷体" panose="02010609060101010101" pitchFamily="49" charset="-122"/>
              </a:rPr>
              <a:t>，拆</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牌大概都会</a:t>
            </a:r>
            <a:r>
              <a:rPr lang="zh-CN" altLang="en-US" sz="1600" kern="0" dirty="0">
                <a:solidFill>
                  <a:prstClr val="black">
                    <a:lumMod val="85000"/>
                    <a:lumOff val="15000"/>
                  </a:prstClr>
                </a:solidFill>
                <a:latin typeface="楷体" panose="02010609060101010101" pitchFamily="49" charset="-122"/>
                <a:ea typeface="楷体" panose="02010609060101010101" pitchFamily="49" charset="-122"/>
              </a:rPr>
              <a:t>增加手数。最简单的拆牌，就是把</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三带二拆成三</a:t>
            </a:r>
            <a:r>
              <a:rPr lang="zh-CN" altLang="en-US" sz="1600" kern="0" dirty="0">
                <a:solidFill>
                  <a:prstClr val="black">
                    <a:lumMod val="85000"/>
                    <a:lumOff val="15000"/>
                  </a:prstClr>
                </a:solidFill>
                <a:latin typeface="楷体" panose="02010609060101010101" pitchFamily="49" charset="-122"/>
                <a:ea typeface="楷体" panose="02010609060101010101" pitchFamily="49" charset="-122"/>
              </a:rPr>
              <a:t>不</a:t>
            </a:r>
            <a:r>
              <a:rPr lang="zh-CN" altLang="en-US" sz="1600" kern="0" dirty="0" smtClean="0">
                <a:solidFill>
                  <a:prstClr val="black">
                    <a:lumMod val="85000"/>
                    <a:lumOff val="15000"/>
                  </a:prstClr>
                </a:solidFill>
                <a:latin typeface="楷体" panose="02010609060101010101" pitchFamily="49" charset="-122"/>
                <a:ea typeface="楷体" panose="02010609060101010101" pitchFamily="49" charset="-122"/>
              </a:rPr>
              <a:t>带和一对。</a:t>
            </a:r>
            <a:endParaRPr lang="zh-CN" altLang="en-US" sz="1600" kern="0" dirty="0">
              <a:solidFill>
                <a:prstClr val="black">
                  <a:lumMod val="85000"/>
                  <a:lumOff val="15000"/>
                </a:prstClr>
              </a:solidFill>
              <a:latin typeface="楷体" panose="02010609060101010101" pitchFamily="49" charset="-122"/>
              <a:ea typeface="楷体" panose="02010609060101010101" pitchFamily="49" charset="-122"/>
            </a:endParaRPr>
          </a:p>
        </p:txBody>
      </p:sp>
      <p:sp>
        <p:nvSpPr>
          <p:cNvPr id="7"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3.3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整理手中的牌</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spTree>
    <p:custDataLst>
      <p:tags r:id="rId1"/>
    </p:custDataLst>
    <p:extLst>
      <p:ext uri="{BB962C8B-B14F-4D97-AF65-F5344CB8AC3E}">
        <p14:creationId xmlns:p14="http://schemas.microsoft.com/office/powerpoint/2010/main" val="42768121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686716" y="1174491"/>
            <a:ext cx="10016035" cy="5493812"/>
          </a:xfrm>
          <a:prstGeom prst="rect">
            <a:avLst/>
          </a:prstGeom>
          <a:noFill/>
        </p:spPr>
        <p:txBody>
          <a:bodyPr wrap="square" rtlCol="0">
            <a:spAutoFit/>
          </a:bodyPr>
          <a:lstStyle/>
          <a:p>
            <a:pPr>
              <a:lnSpc>
                <a:spcPct val="150000"/>
              </a:lnSpc>
            </a:pP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理牌示例</a:t>
            </a:r>
            <a:endParaRPr lang="en-US" altLang="zh-CN"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1.</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考虑手数（</a:t>
            </a:r>
            <a:r>
              <a:rPr lang="zh-CN" altLang="en-US" kern="0" dirty="0" smtClean="0">
                <a:solidFill>
                  <a:srgbClr val="FF0000"/>
                </a:solidFill>
                <a:latin typeface="楷体" panose="02010609060101010101" pitchFamily="49" charset="-122"/>
                <a:ea typeface="楷体" panose="02010609060101010101" pitchFamily="49" charset="-122"/>
              </a:rPr>
              <a:t>思考：</a:t>
            </a:r>
            <a:r>
              <a:rPr lang="zh-CN" altLang="en-US" kern="0" dirty="0" smtClean="0">
                <a:solidFill>
                  <a:srgbClr val="FF0000"/>
                </a:solidFill>
                <a:latin typeface="楷体" panose="02010609060101010101" pitchFamily="49" charset="-122"/>
                <a:ea typeface="楷体" panose="02010609060101010101" pitchFamily="49" charset="-122"/>
                <a:sym typeface="Wingdings" panose="05000000000000000000" pitchFamily="2" charset="2"/>
              </a:rPr>
              <a:t>有人说手数越少越好，是这样吗？</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sym typeface="Wingdings" panose="05000000000000000000" pitchFamily="2" charset="2"/>
              </a:rPr>
              <a:t>）</a:t>
            </a:r>
            <a:endParaRPr lang="en-US" altLang="zh-CN"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8888  7 666 55 4</a:t>
            </a:r>
          </a:p>
          <a:p>
            <a:pPr>
              <a:lnSpc>
                <a:spcPct val="150000"/>
              </a:lnSpc>
            </a:pP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998877776655 </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留</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7</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炸弹，</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4</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手</a:t>
            </a:r>
            <a:r>
              <a:rPr lang="zh-CN" altLang="en-US" kern="0" dirty="0">
                <a:solidFill>
                  <a:prstClr val="black">
                    <a:lumMod val="85000"/>
                    <a:lumOff val="15000"/>
                  </a:prstClr>
                </a:solidFill>
                <a:latin typeface="楷体" panose="02010609060101010101" pitchFamily="49" charset="-122"/>
                <a:ea typeface="楷体" panose="02010609060101010101" pitchFamily="49" charset="-122"/>
              </a:rPr>
              <a:t>牌，如果</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组成</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998877</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和</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776655</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则是</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2</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手</a:t>
            </a:r>
            <a:r>
              <a:rPr lang="zh-CN" altLang="en-US" kern="0" dirty="0">
                <a:solidFill>
                  <a:prstClr val="black">
                    <a:lumMod val="85000"/>
                    <a:lumOff val="15000"/>
                  </a:prstClr>
                </a:solidFill>
                <a:latin typeface="楷体" panose="02010609060101010101" pitchFamily="49" charset="-122"/>
                <a:ea typeface="楷体" panose="02010609060101010101" pitchFamily="49" charset="-122"/>
              </a:rPr>
              <a:t>牌，</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当大家都没三连对时，甚至可以看成是一手牌。但若大家都在打对子，尤其是对家在打对子，那不拆炸弹，可能是好的策略。</a:t>
            </a:r>
            <a:endParaRPr lang="zh-CN" altLang="en-US"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2.</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考虑概率。牌</a:t>
            </a:r>
            <a:r>
              <a:rPr lang="zh-CN" altLang="en-US" kern="0" dirty="0">
                <a:solidFill>
                  <a:prstClr val="black">
                    <a:lumMod val="85000"/>
                    <a:lumOff val="15000"/>
                  </a:prstClr>
                </a:solidFill>
                <a:latin typeface="楷体" panose="02010609060101010101" pitchFamily="49" charset="-122"/>
                <a:ea typeface="楷体" panose="02010609060101010101" pitchFamily="49" charset="-122"/>
              </a:rPr>
              <a:t>路越特殊越</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好出现的概率就越少，别人也就越难压住你。</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6665544</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a:t>
            </a:r>
            <a:r>
              <a:rPr lang="zh-CN" altLang="en-US" kern="0" dirty="0">
                <a:solidFill>
                  <a:prstClr val="black">
                    <a:lumMod val="85000"/>
                    <a:lumOff val="15000"/>
                  </a:prstClr>
                </a:solidFill>
                <a:latin typeface="楷体" panose="02010609060101010101" pitchFamily="49" charset="-122"/>
                <a:ea typeface="楷体" panose="02010609060101010101" pitchFamily="49" charset="-122"/>
              </a:rPr>
              <a:t>可以</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组成</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66655</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44</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，也</a:t>
            </a:r>
            <a:r>
              <a:rPr lang="zh-CN" altLang="en-US" kern="0" dirty="0">
                <a:solidFill>
                  <a:prstClr val="black">
                    <a:lumMod val="85000"/>
                    <a:lumOff val="15000"/>
                  </a:prstClr>
                </a:solidFill>
                <a:latin typeface="楷体" panose="02010609060101010101" pitchFamily="49" charset="-122"/>
                <a:ea typeface="楷体" panose="02010609060101010101" pitchFamily="49" charset="-122"/>
              </a:rPr>
              <a:t>可</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组成</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665544</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6</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a:t>
            </a:r>
            <a:r>
              <a:rPr lang="zh-CN" altLang="en-US" kern="0" dirty="0">
                <a:solidFill>
                  <a:prstClr val="black">
                    <a:lumMod val="85000"/>
                    <a:lumOff val="15000"/>
                  </a:prstClr>
                </a:solidFill>
                <a:latin typeface="楷体" panose="02010609060101010101" pitchFamily="49" charset="-122"/>
                <a:ea typeface="楷体" panose="02010609060101010101" pitchFamily="49" charset="-122"/>
              </a:rPr>
              <a:t>都是两手牌</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。这种</a:t>
            </a:r>
            <a:r>
              <a:rPr lang="zh-CN" altLang="en-US" kern="0" dirty="0">
                <a:solidFill>
                  <a:prstClr val="black">
                    <a:lumMod val="85000"/>
                    <a:lumOff val="15000"/>
                  </a:prstClr>
                </a:solidFill>
                <a:latin typeface="楷体" panose="02010609060101010101" pitchFamily="49" charset="-122"/>
                <a:ea typeface="楷体" panose="02010609060101010101" pitchFamily="49" charset="-122"/>
              </a:rPr>
              <a:t>牌型有一定的灵活性</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，要在打牌的过程中伺机而动。</a:t>
            </a:r>
            <a:endParaRPr lang="zh-CN" altLang="en-US"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3.</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灵活的结合局面处理组牌与拆牌。（考虑问题的出发点：早、中、晚期；自己的优势牌路；搭档的需求；敌方的喜欢与厌恶等），比如</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7766554433</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，可以是两副顺子；可以是三连对</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+2</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对；可以是</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5</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对；可以是三连对</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+1</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对</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两单。</a:t>
            </a:r>
            <a:endParaRPr lang="en-US" altLang="zh-CN"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所以，注意打牌中的灵活机动性，时刻关注牌局的变化，是从初级牌手向更高水平迈进的基础。</a:t>
            </a:r>
            <a:endParaRPr lang="en-US" altLang="zh-CN"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主动出单，从次小出起，依次往大了出。跟牌顺单，可跳着出。</a:t>
            </a:r>
            <a:r>
              <a:rPr lang="zh-CN" altLang="en-US" kern="0" dirty="0" smtClean="0">
                <a:solidFill>
                  <a:srgbClr val="FF0000"/>
                </a:solidFill>
                <a:latin typeface="楷体" panose="02010609060101010101" pitchFamily="49" charset="-122"/>
                <a:ea typeface="楷体" panose="02010609060101010101" pitchFamily="49" charset="-122"/>
              </a:rPr>
              <a:t>注意你是否要传递信号的原则在于，你的搭档和你的对手中谁能从信号中获得更大的利益。</a:t>
            </a:r>
            <a:endParaRPr lang="zh-CN" altLang="en-US" kern="0" dirty="0">
              <a:solidFill>
                <a:srgbClr val="FF0000"/>
              </a:solidFill>
              <a:latin typeface="楷体" panose="02010609060101010101" pitchFamily="49" charset="-122"/>
              <a:ea typeface="楷体" panose="02010609060101010101" pitchFamily="49" charset="-122"/>
            </a:endParaRPr>
          </a:p>
        </p:txBody>
      </p:sp>
      <p:sp>
        <p:nvSpPr>
          <p:cNvPr id="7" name="标题 1"/>
          <p:cNvSpPr>
            <a:spLocks noGrp="1"/>
          </p:cNvSpPr>
          <p:nvPr>
            <p:ph type="title"/>
          </p:nvPr>
        </p:nvSpPr>
        <p:spPr>
          <a:xfrm>
            <a:off x="778608" y="456017"/>
            <a:ext cx="10850563" cy="476669"/>
          </a:xfrm>
        </p:spPr>
        <p:txBody>
          <a:bodyPr vert="horz" lIns="91440" tIns="45720" rIns="91440" bIns="45720" rtlCol="0" anchor="b">
            <a:spAutoFit/>
          </a:bodyPr>
          <a:lstStyle/>
          <a:p>
            <a:pPr>
              <a:lnSpc>
                <a:spcPct val="120000"/>
              </a:lnSpc>
            </a:pPr>
            <a:r>
              <a:rPr lang="en-US" altLang="zh-CN" sz="2400" dirty="0">
                <a:solidFill>
                  <a:srgbClr val="0F2C5D"/>
                </a:solidFill>
                <a:latin typeface="黑体" panose="02010609060101010101" charset="-122"/>
                <a:ea typeface="黑体" panose="02010609060101010101" charset="-122"/>
                <a:cs typeface="黑体" panose="02010609060101010101" charset="-122"/>
              </a:rPr>
              <a:t>3.3 </a:t>
            </a:r>
            <a:r>
              <a:rPr lang="zh-CN" altLang="en-US" sz="2400" dirty="0">
                <a:solidFill>
                  <a:srgbClr val="0F2C5D"/>
                </a:solidFill>
                <a:latin typeface="黑体" panose="02010609060101010101" charset="-122"/>
                <a:ea typeface="黑体" panose="02010609060101010101" charset="-122"/>
                <a:cs typeface="黑体" panose="02010609060101010101" charset="-122"/>
              </a:rPr>
              <a:t>整理手中的牌</a:t>
            </a:r>
          </a:p>
        </p:txBody>
      </p:sp>
    </p:spTree>
    <p:custDataLst>
      <p:tags r:id="rId1"/>
    </p:custDataLst>
    <p:extLst>
      <p:ext uri="{BB962C8B-B14F-4D97-AF65-F5344CB8AC3E}">
        <p14:creationId xmlns:p14="http://schemas.microsoft.com/office/powerpoint/2010/main" val="27019721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456017"/>
            <a:ext cx="10850563" cy="476669"/>
          </a:xfrm>
        </p:spPr>
        <p:txBody>
          <a:bodyPr vert="horz" lIns="91440" tIns="45720" rIns="91440" bIns="45720" rtlCol="0" anchor="b">
            <a:spAutoFit/>
          </a:bodyPr>
          <a:lstStyle/>
          <a:p>
            <a:pPr>
              <a:lnSpc>
                <a:spcPct val="120000"/>
              </a:lnSpc>
            </a:pPr>
            <a:r>
              <a:rPr lang="en-US" altLang="zh-CN" sz="2400" dirty="0">
                <a:solidFill>
                  <a:srgbClr val="0F2C5D"/>
                </a:solidFill>
                <a:latin typeface="黑体" panose="02010609060101010101" charset="-122"/>
                <a:ea typeface="黑体" panose="02010609060101010101" charset="-122"/>
                <a:cs typeface="黑体" panose="02010609060101010101" charset="-122"/>
              </a:rPr>
              <a:t>3.3 </a:t>
            </a:r>
            <a:r>
              <a:rPr lang="zh-CN" altLang="en-US" sz="2400" dirty="0">
                <a:solidFill>
                  <a:srgbClr val="0F2C5D"/>
                </a:solidFill>
                <a:latin typeface="黑体" panose="02010609060101010101" charset="-122"/>
                <a:ea typeface="黑体" panose="02010609060101010101" charset="-122"/>
                <a:cs typeface="黑体" panose="02010609060101010101" charset="-122"/>
              </a:rPr>
              <a:t>整理手中的牌</a:t>
            </a: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778608" y="1134377"/>
            <a:ext cx="10484338" cy="5078313"/>
          </a:xfrm>
          <a:prstGeom prst="rect">
            <a:avLst/>
          </a:prstGeom>
        </p:spPr>
        <p:txBody>
          <a:bodyPr wrap="square">
            <a:spAutoFit/>
          </a:bodyPr>
          <a:lstStyle/>
          <a:p>
            <a:r>
              <a:rPr lang="zh-CN" altLang="en-US" dirty="0" smtClean="0">
                <a:latin typeface="楷体" panose="02010609060101010101" pitchFamily="49" charset="-122"/>
                <a:ea typeface="楷体" panose="02010609060101010101" pitchFamily="49" charset="-122"/>
              </a:rPr>
              <a:t>理牌第一要务</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熟悉七种牌型</a:t>
            </a:r>
            <a:r>
              <a:rPr lang="zh-CN" altLang="en-US" dirty="0">
                <a:latin typeface="楷体" panose="02010609060101010101" pitchFamily="49" charset="-122"/>
                <a:ea typeface="楷体" panose="02010609060101010101" pitchFamily="49" charset="-122"/>
              </a:rPr>
              <a:t>的</a:t>
            </a:r>
            <a:r>
              <a:rPr lang="zh-CN" altLang="en-US" dirty="0" smtClean="0">
                <a:latin typeface="楷体" panose="02010609060101010101" pitchFamily="49" charset="-122"/>
                <a:ea typeface="楷体" panose="02010609060101010101" pitchFamily="49" charset="-122"/>
              </a:rPr>
              <a:t>特征，这是对掼蛋牌手最基本的要求。</a:t>
            </a:r>
            <a:endParaRPr lang="en-US" altLang="zh-CN" dirty="0" smtClean="0">
              <a:latin typeface="楷体" panose="02010609060101010101" pitchFamily="49" charset="-122"/>
              <a:ea typeface="楷体" panose="02010609060101010101" pitchFamily="49" charset="-122"/>
            </a:endParaRPr>
          </a:p>
          <a:p>
            <a:r>
              <a:rPr lang="en-US" altLang="zh-CN" dirty="0" smtClean="0">
                <a:latin typeface="楷体" panose="02010609060101010101" pitchFamily="49" charset="-122"/>
                <a:ea typeface="楷体" panose="02010609060101010101" pitchFamily="49" charset="-122"/>
              </a:rPr>
              <a:t>1.</a:t>
            </a:r>
            <a:r>
              <a:rPr lang="zh-CN" altLang="en-US" dirty="0" smtClean="0">
                <a:latin typeface="楷体" panose="02010609060101010101" pitchFamily="49" charset="-122"/>
                <a:ea typeface="楷体" panose="02010609060101010101" pitchFamily="49" charset="-122"/>
              </a:rPr>
              <a:t>单</a:t>
            </a:r>
            <a:r>
              <a:rPr lang="zh-CN" altLang="en-US" dirty="0">
                <a:latin typeface="楷体" panose="02010609060101010101" pitchFamily="49" charset="-122"/>
                <a:ea typeface="楷体" panose="02010609060101010101" pitchFamily="49" charset="-122"/>
              </a:rPr>
              <a:t>张</a:t>
            </a:r>
            <a:r>
              <a:rPr lang="zh-CN" altLang="en-US" dirty="0" smtClean="0">
                <a:latin typeface="楷体" panose="02010609060101010101" pitchFamily="49" charset="-122"/>
                <a:ea typeface="楷体" panose="02010609060101010101" pitchFamily="49" charset="-122"/>
              </a:rPr>
              <a:t>：单张中最差的是孤张，上不挨、下不靠的孤伶伶的一张。几乎是最讨厌的一种牌。基本无解，只能单</a:t>
            </a:r>
            <a:r>
              <a:rPr lang="zh-CN" altLang="en-US" dirty="0">
                <a:latin typeface="楷体" panose="02010609060101010101" pitchFamily="49" charset="-122"/>
                <a:ea typeface="楷体" panose="02010609060101010101" pitchFamily="49" charset="-122"/>
              </a:rPr>
              <a:t>出</a:t>
            </a:r>
            <a:r>
              <a:rPr lang="zh-CN" altLang="en-US" dirty="0" smtClean="0">
                <a:latin typeface="楷体" panose="02010609060101010101" pitchFamily="49" charset="-122"/>
                <a:ea typeface="楷体" panose="02010609060101010101" pitchFamily="49" charset="-122"/>
              </a:rPr>
              <a:t>。但加上</a:t>
            </a:r>
            <a:r>
              <a:rPr lang="zh-CN" altLang="en-US" dirty="0">
                <a:latin typeface="楷体" panose="02010609060101010101" pitchFamily="49" charset="-122"/>
                <a:ea typeface="楷体" panose="02010609060101010101" pitchFamily="49" charset="-122"/>
              </a:rPr>
              <a:t>红配后，可考虑配</a:t>
            </a:r>
            <a:r>
              <a:rPr lang="zh-CN" altLang="en-US" dirty="0" smtClean="0">
                <a:latin typeface="楷体" panose="02010609060101010101" pitchFamily="49" charset="-122"/>
                <a:ea typeface="楷体" panose="02010609060101010101" pitchFamily="49" charset="-122"/>
              </a:rPr>
              <a:t>成三</a:t>
            </a:r>
            <a:r>
              <a:rPr lang="zh-CN" altLang="en-US" dirty="0">
                <a:latin typeface="楷体" panose="02010609060101010101" pitchFamily="49" charset="-122"/>
                <a:ea typeface="楷体" panose="02010609060101010101" pitchFamily="49" charset="-122"/>
              </a:rPr>
              <a:t>带</a:t>
            </a:r>
            <a:r>
              <a:rPr lang="zh-CN" altLang="en-US" dirty="0" smtClean="0">
                <a:latin typeface="楷体" panose="02010609060101010101" pitchFamily="49" charset="-122"/>
                <a:ea typeface="楷体" panose="02010609060101010101" pitchFamily="49" charset="-122"/>
              </a:rPr>
              <a:t>二：如</a:t>
            </a:r>
            <a:r>
              <a:rPr lang="en-US" altLang="zh-CN" dirty="0" smtClean="0">
                <a:latin typeface="楷体" panose="02010609060101010101" pitchFamily="49" charset="-122"/>
                <a:ea typeface="楷体" panose="02010609060101010101" pitchFamily="49" charset="-122"/>
              </a:rPr>
              <a:t>999</a:t>
            </a:r>
            <a:r>
              <a:rPr lang="zh-CN" altLang="en-US" dirty="0" smtClean="0">
                <a:latin typeface="楷体" panose="02010609060101010101" pitchFamily="49" charset="-122"/>
                <a:ea typeface="楷体" panose="02010609060101010101" pitchFamily="49" charset="-122"/>
              </a:rPr>
              <a:t>、红桃</a:t>
            </a:r>
            <a:r>
              <a:rPr lang="en-US" altLang="zh-CN" dirty="0" smtClean="0">
                <a:latin typeface="楷体" panose="02010609060101010101" pitchFamily="49" charset="-122"/>
                <a:ea typeface="楷体" panose="02010609060101010101" pitchFamily="49" charset="-122"/>
              </a:rPr>
              <a:t>5</a:t>
            </a:r>
            <a:r>
              <a:rPr lang="zh-CN" altLang="en-US" dirty="0" smtClean="0">
                <a:latin typeface="楷体" panose="02010609060101010101" pitchFamily="49" charset="-122"/>
                <a:ea typeface="楷体" panose="02010609060101010101" pitchFamily="49" charset="-122"/>
              </a:rPr>
              <a:t>（红配）、单张</a:t>
            </a:r>
            <a:r>
              <a:rPr lang="en-US" altLang="zh-CN" dirty="0" smtClean="0">
                <a:latin typeface="楷体" panose="02010609060101010101" pitchFamily="49" charset="-122"/>
                <a:ea typeface="楷体" panose="02010609060101010101" pitchFamily="49" charset="-122"/>
              </a:rPr>
              <a:t>2</a:t>
            </a:r>
            <a:r>
              <a:rPr lang="zh-CN" altLang="en-US" dirty="0" smtClean="0">
                <a:latin typeface="楷体" panose="02010609060101010101" pitchFamily="49" charset="-122"/>
                <a:ea typeface="楷体" panose="02010609060101010101" pitchFamily="49" charset="-122"/>
              </a:rPr>
              <a:t>。在外面有大于</a:t>
            </a:r>
            <a:r>
              <a:rPr lang="en-US" altLang="zh-CN" dirty="0" smtClean="0">
                <a:latin typeface="楷体" panose="02010609060101010101" pitchFamily="49" charset="-122"/>
                <a:ea typeface="楷体" panose="02010609060101010101" pitchFamily="49" charset="-122"/>
              </a:rPr>
              <a:t>9</a:t>
            </a:r>
            <a:r>
              <a:rPr lang="zh-CN" altLang="en-US" dirty="0" smtClean="0">
                <a:latin typeface="楷体" panose="02010609060101010101" pitchFamily="49" charset="-122"/>
                <a:ea typeface="楷体" panose="02010609060101010101" pitchFamily="49" charset="-122"/>
              </a:rPr>
              <a:t>炸弹时，若一定配成</a:t>
            </a:r>
            <a:r>
              <a:rPr lang="en-US" altLang="zh-CN" dirty="0" smtClean="0">
                <a:latin typeface="楷体" panose="02010609060101010101" pitchFamily="49" charset="-122"/>
                <a:ea typeface="楷体" panose="02010609060101010101" pitchFamily="49" charset="-122"/>
              </a:rPr>
              <a:t>9</a:t>
            </a:r>
            <a:r>
              <a:rPr lang="zh-CN" altLang="en-US" dirty="0" smtClean="0">
                <a:latin typeface="楷体" panose="02010609060101010101" pitchFamily="49" charset="-122"/>
                <a:ea typeface="楷体" panose="02010609060101010101" pitchFamily="49" charset="-122"/>
              </a:rPr>
              <a:t>炸弹，几乎是死牌，但若有人出了小于</a:t>
            </a:r>
            <a:r>
              <a:rPr lang="en-US" altLang="zh-CN" dirty="0" smtClean="0">
                <a:latin typeface="楷体" panose="02010609060101010101" pitchFamily="49" charset="-122"/>
                <a:ea typeface="楷体" panose="02010609060101010101" pitchFamily="49" charset="-122"/>
              </a:rPr>
              <a:t>9</a:t>
            </a:r>
            <a:r>
              <a:rPr lang="zh-CN" altLang="en-US" dirty="0" smtClean="0">
                <a:latin typeface="楷体" panose="02010609060101010101" pitchFamily="49" charset="-122"/>
                <a:ea typeface="楷体" panose="02010609060101010101" pitchFamily="49" charset="-122"/>
              </a:rPr>
              <a:t>葫芦的牌，就能跑掉。除了孤张外，单张可能可以组顺（含同花顺）、三连对、三带二、对子等（有时需要红配）。</a:t>
            </a:r>
            <a:endParaRPr lang="en-US" altLang="zh-CN" dirty="0">
              <a:latin typeface="楷体" panose="02010609060101010101" pitchFamily="49" charset="-122"/>
              <a:ea typeface="楷体" panose="02010609060101010101" pitchFamily="49" charset="-122"/>
            </a:endParaRPr>
          </a:p>
          <a:p>
            <a:r>
              <a:rPr lang="en-US" altLang="zh-CN" dirty="0" smtClean="0">
                <a:latin typeface="楷体" panose="02010609060101010101" pitchFamily="49" charset="-122"/>
                <a:ea typeface="楷体" panose="02010609060101010101" pitchFamily="49" charset="-122"/>
              </a:rPr>
              <a:t>2.</a:t>
            </a:r>
            <a:r>
              <a:rPr lang="zh-CN" altLang="en-US" dirty="0" smtClean="0">
                <a:latin typeface="楷体" panose="02010609060101010101" pitchFamily="49" charset="-122"/>
                <a:ea typeface="楷体" panose="02010609060101010101" pitchFamily="49" charset="-122"/>
              </a:rPr>
              <a:t>对子</a:t>
            </a:r>
            <a:r>
              <a:rPr lang="zh-CN" altLang="en-US" dirty="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可以是</a:t>
            </a:r>
            <a:r>
              <a:rPr lang="en-US" altLang="zh-CN" dirty="0" smtClean="0">
                <a:latin typeface="楷体" panose="02010609060101010101" pitchFamily="49" charset="-122"/>
                <a:ea typeface="楷体" panose="02010609060101010101" pitchFamily="49" charset="-122"/>
              </a:rPr>
              <a:t>1</a:t>
            </a:r>
            <a:r>
              <a:rPr lang="zh-CN" altLang="en-US" dirty="0" smtClean="0">
                <a:latin typeface="楷体" panose="02010609060101010101" pitchFamily="49" charset="-122"/>
                <a:ea typeface="楷体" panose="02010609060101010101" pitchFamily="49" charset="-122"/>
              </a:rPr>
              <a:t>对、2单</a:t>
            </a:r>
            <a:r>
              <a:rPr lang="zh-CN" altLang="en-US" dirty="0">
                <a:latin typeface="楷体" panose="02010609060101010101" pitchFamily="49" charset="-122"/>
                <a:ea typeface="楷体" panose="02010609060101010101" pitchFamily="49" charset="-122"/>
              </a:rPr>
              <a:t>张</a:t>
            </a:r>
            <a:r>
              <a:rPr lang="zh-CN" altLang="en-US" dirty="0" smtClean="0">
                <a:latin typeface="楷体" panose="02010609060101010101" pitchFamily="49" charset="-122"/>
                <a:ea typeface="楷体" panose="02010609060101010101" pitchFamily="49" charset="-122"/>
              </a:rPr>
              <a:t>，葫芦中带的对，三连对中带的对，钢板等</a:t>
            </a:r>
            <a:endParaRPr lang="en-US" altLang="zh-CN" dirty="0" smtClean="0">
              <a:latin typeface="楷体" panose="02010609060101010101" pitchFamily="49" charset="-122"/>
              <a:ea typeface="楷体" panose="02010609060101010101" pitchFamily="49" charset="-122"/>
            </a:endParaRPr>
          </a:p>
          <a:p>
            <a:r>
              <a:rPr lang="en-US" altLang="zh-CN" dirty="0" smtClean="0">
                <a:latin typeface="楷体" panose="02010609060101010101" pitchFamily="49" charset="-122"/>
                <a:ea typeface="楷体" panose="02010609060101010101" pitchFamily="49" charset="-122"/>
              </a:rPr>
              <a:t>3.</a:t>
            </a:r>
            <a:r>
              <a:rPr lang="zh-CN" altLang="en-US" dirty="0" smtClean="0">
                <a:latin typeface="楷体" panose="02010609060101010101" pitchFamily="49" charset="-122"/>
                <a:ea typeface="楷体" panose="02010609060101010101" pitchFamily="49" charset="-122"/>
              </a:rPr>
              <a:t>三</a:t>
            </a:r>
            <a:r>
              <a:rPr lang="zh-CN" altLang="en-US" dirty="0">
                <a:latin typeface="楷体" panose="02010609060101010101" pitchFamily="49" charset="-122"/>
                <a:ea typeface="楷体" panose="02010609060101010101" pitchFamily="49" charset="-122"/>
              </a:rPr>
              <a:t>头：可拆成单张和对子，可与对子组成 3+</a:t>
            </a:r>
            <a:r>
              <a:rPr lang="zh-CN" altLang="en-US" dirty="0" smtClean="0">
                <a:latin typeface="楷体" panose="02010609060101010101" pitchFamily="49" charset="-122"/>
                <a:ea typeface="楷体" panose="02010609060101010101" pitchFamily="49" charset="-122"/>
              </a:rPr>
              <a:t>2</a:t>
            </a:r>
            <a:endParaRPr lang="en-US" altLang="zh-CN" dirty="0" smtClean="0">
              <a:latin typeface="楷体" panose="02010609060101010101" pitchFamily="49" charset="-122"/>
              <a:ea typeface="楷体" panose="02010609060101010101" pitchFamily="49" charset="-122"/>
            </a:endParaRPr>
          </a:p>
          <a:p>
            <a:r>
              <a:rPr lang="en-US" altLang="zh-CN" dirty="0" smtClean="0">
                <a:latin typeface="楷体" panose="02010609060101010101" pitchFamily="49" charset="-122"/>
                <a:ea typeface="楷体" panose="02010609060101010101" pitchFamily="49" charset="-122"/>
              </a:rPr>
              <a:t>4.</a:t>
            </a:r>
            <a:r>
              <a:rPr lang="zh-CN" altLang="en-US" dirty="0" smtClean="0">
                <a:latin typeface="楷体" panose="02010609060101010101" pitchFamily="49" charset="-122"/>
                <a:ea typeface="楷体" panose="02010609060101010101" pitchFamily="49" charset="-122"/>
              </a:rPr>
              <a:t>三带二：</a:t>
            </a:r>
            <a:r>
              <a:rPr lang="zh-CN" altLang="en-US" dirty="0">
                <a:latin typeface="楷体" panose="02010609060101010101" pitchFamily="49" charset="-122"/>
                <a:ea typeface="楷体" panose="02010609060101010101" pitchFamily="49" charset="-122"/>
              </a:rPr>
              <a:t>可拆成三头和</a:t>
            </a:r>
            <a:r>
              <a:rPr lang="zh-CN" altLang="en-US" dirty="0" smtClean="0">
                <a:latin typeface="楷体" panose="02010609060101010101" pitchFamily="49" charset="-122"/>
                <a:ea typeface="楷体" panose="02010609060101010101" pitchFamily="49" charset="-122"/>
              </a:rPr>
              <a:t>对子</a:t>
            </a:r>
            <a:endParaRPr lang="en-US" altLang="zh-CN" dirty="0" smtClean="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5</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顺</a:t>
            </a:r>
            <a:r>
              <a:rPr lang="zh-CN" altLang="en-US" dirty="0">
                <a:latin typeface="楷体" panose="02010609060101010101" pitchFamily="49" charset="-122"/>
                <a:ea typeface="楷体" panose="02010609060101010101" pitchFamily="49" charset="-122"/>
              </a:rPr>
              <a:t>子：一旦组顺，不宜再拆，拆了手数就太多了</a:t>
            </a:r>
            <a:r>
              <a:rPr lang="zh-CN" altLang="en-US" dirty="0" smtClean="0">
                <a:latin typeface="楷体" panose="02010609060101010101" pitchFamily="49" charset="-122"/>
                <a:ea typeface="楷体" panose="02010609060101010101" pitchFamily="49" charset="-122"/>
              </a:rPr>
              <a:t>。所以一旦组成顺子，几乎没有任何灵活性了，甚至不如单张。尤其是很小的顺子，要么在早期出掉；要么在别人顺子出尽时顺掉；要么听牌等风。</a:t>
            </a:r>
            <a:endParaRPr lang="en-US" altLang="zh-CN" dirty="0" smtClean="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6</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木板</a:t>
            </a:r>
            <a:r>
              <a:rPr lang="zh-CN" altLang="en-US" dirty="0">
                <a:latin typeface="楷体" panose="02010609060101010101" pitchFamily="49" charset="-122"/>
                <a:ea typeface="楷体" panose="02010609060101010101" pitchFamily="49" charset="-122"/>
              </a:rPr>
              <a:t>：拆</a:t>
            </a:r>
            <a:r>
              <a:rPr lang="zh-CN" altLang="en-US" dirty="0" smtClean="0">
                <a:latin typeface="楷体" panose="02010609060101010101" pitchFamily="49" charset="-122"/>
                <a:ea typeface="楷体" panose="02010609060101010101" pitchFamily="49" charset="-122"/>
              </a:rPr>
              <a:t>成3手对子及对子加单张的组合。</a:t>
            </a:r>
            <a:endParaRPr lang="en-US" altLang="zh-CN" dirty="0" smtClean="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7</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钢板</a:t>
            </a:r>
            <a:r>
              <a:rPr lang="zh-CN" altLang="en-US" dirty="0">
                <a:latin typeface="楷体" panose="02010609060101010101" pitchFamily="49" charset="-122"/>
                <a:ea typeface="楷体" panose="02010609060101010101" pitchFamily="49" charset="-122"/>
              </a:rPr>
              <a:t>：可拆成单张和 3+2，也可拆</a:t>
            </a:r>
            <a:r>
              <a:rPr lang="zh-CN" altLang="en-US" dirty="0" smtClean="0">
                <a:latin typeface="楷体" panose="02010609060101010101" pitchFamily="49" charset="-122"/>
                <a:ea typeface="楷体" panose="02010609060101010101" pitchFamily="49" charset="-122"/>
              </a:rPr>
              <a:t>成2手</a:t>
            </a:r>
            <a:r>
              <a:rPr lang="zh-CN" altLang="en-US" dirty="0">
                <a:latin typeface="楷体" panose="02010609060101010101" pitchFamily="49" charset="-122"/>
                <a:ea typeface="楷体" panose="02010609060101010101" pitchFamily="49" charset="-122"/>
              </a:rPr>
              <a:t>三头</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8</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炸弹</a:t>
            </a:r>
            <a:r>
              <a:rPr lang="zh-CN" altLang="en-US" dirty="0">
                <a:latin typeface="楷体" panose="02010609060101010101" pitchFamily="49" charset="-122"/>
                <a:ea typeface="楷体" panose="02010609060101010101" pitchFamily="49" charset="-122"/>
              </a:rPr>
              <a:t>甚至也可拆成别的路子</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9</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红配</a:t>
            </a:r>
            <a:r>
              <a:rPr lang="zh-CN" altLang="en-US" dirty="0">
                <a:latin typeface="楷体" panose="02010609060101010101" pitchFamily="49" charset="-122"/>
                <a:ea typeface="楷体" panose="02010609060101010101" pitchFamily="49" charset="-122"/>
              </a:rPr>
              <a:t>：最灵活，是保持整体牌路灵活性的最佳选择</a:t>
            </a:r>
            <a:r>
              <a:rPr lang="zh-CN" altLang="en-US" dirty="0" smtClean="0">
                <a:latin typeface="楷体" panose="02010609060101010101" pitchFamily="49" charset="-122"/>
                <a:ea typeface="楷体" panose="02010609060101010101" pitchFamily="49" charset="-122"/>
              </a:rPr>
              <a:t>。最蠢的是打到最后发现，它只能单出了（有时单出也是一种好的策略，这种情形较少）。</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注意：牌的组合是在你心里，不是你用胶水给粘住的，一定要能组能拆。胸有沟壑才是最好的组牌。另外就是，新手忌拆牌。因为你还不能有掌控局势的能力，所以你的牌越整越好，手数越少越好。当你能拆牌去控制局势时，你已经至少是中级以上的牌手了。准确的拆牌去控制局势，基本上是高手的行为。</a:t>
            </a:r>
            <a:endParaRPr lang="zh-CN" altLang="en-US" dirty="0">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19418051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3.4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掼蛋中对牌型的认知</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778608" y="1175768"/>
            <a:ext cx="10062307" cy="5478423"/>
          </a:xfrm>
          <a:prstGeom prst="rect">
            <a:avLst/>
          </a:prstGeom>
        </p:spPr>
        <p:txBody>
          <a:bodyPr wrap="square">
            <a:spAutoFit/>
          </a:bodyPr>
          <a:lstStyle/>
          <a:p>
            <a:pPr algn="just">
              <a:spcAft>
                <a:spcPts val="0"/>
              </a:spcAft>
            </a:pPr>
            <a:r>
              <a:rPr lang="zh-CN" altLang="zh-CN" sz="1400" kern="100" dirty="0">
                <a:latin typeface="楷体" panose="02010609060101010101" pitchFamily="49" charset="-122"/>
                <a:ea typeface="楷体" panose="02010609060101010101" pitchFamily="49" charset="-122"/>
                <a:cs typeface="宋体" panose="02010600030101010101" pitchFamily="2" charset="-122"/>
              </a:rPr>
              <a:t>牌型共有单牌、对牌、三张、三带两、顺子、三连对、钢板</a:t>
            </a:r>
            <a:r>
              <a:rPr lang="zh-CN" altLang="zh-CN" sz="1400" kern="100" dirty="0" smtClean="0">
                <a:latin typeface="楷体" panose="02010609060101010101" pitchFamily="49" charset="-122"/>
                <a:ea typeface="楷体" panose="02010609060101010101" pitchFamily="49" charset="-122"/>
                <a:cs typeface="宋体" panose="02010600030101010101" pitchFamily="2" charset="-122"/>
              </a:rPr>
              <a:t>、</a:t>
            </a:r>
            <a:r>
              <a:rPr lang="zh-CN" altLang="en-US" sz="1400" kern="100" dirty="0" smtClean="0">
                <a:latin typeface="楷体" panose="02010609060101010101" pitchFamily="49" charset="-122"/>
                <a:ea typeface="楷体" panose="02010609060101010101" pitchFamily="49" charset="-122"/>
                <a:cs typeface="宋体" panose="02010600030101010101" pitchFamily="2" charset="-122"/>
              </a:rPr>
              <a:t>炸弹</a:t>
            </a:r>
            <a:r>
              <a:rPr lang="zh-CN" altLang="zh-CN" sz="1400" kern="100" dirty="0" smtClean="0">
                <a:latin typeface="楷体" panose="02010609060101010101" pitchFamily="49" charset="-122"/>
                <a:ea typeface="楷体" panose="02010609060101010101" pitchFamily="49" charset="-122"/>
                <a:cs typeface="宋体" panose="02010600030101010101" pitchFamily="2" charset="-122"/>
              </a:rPr>
              <a:t>等</a:t>
            </a:r>
            <a:r>
              <a:rPr lang="en-US" altLang="zh-CN" sz="1400" kern="100" dirty="0">
                <a:latin typeface="楷体" panose="02010609060101010101" pitchFamily="49" charset="-122"/>
                <a:ea typeface="楷体" panose="02010609060101010101" pitchFamily="49" charset="-122"/>
                <a:cs typeface="宋体" panose="02010600030101010101" pitchFamily="2" charset="-122"/>
              </a:rPr>
              <a:t>8</a:t>
            </a:r>
            <a:r>
              <a:rPr lang="zh-CN" altLang="zh-CN" sz="1400" kern="100" dirty="0">
                <a:latin typeface="楷体" panose="02010609060101010101" pitchFamily="49" charset="-122"/>
                <a:ea typeface="楷体" panose="02010609060101010101" pitchFamily="49" charset="-122"/>
                <a:cs typeface="宋体" panose="02010600030101010101" pitchFamily="2" charset="-122"/>
              </a:rPr>
              <a:t>种，它就是我们掼蛋组牌技术的实际载体，是我们组牌过程中所要面对的基本对象。</a:t>
            </a:r>
          </a:p>
          <a:p>
            <a:pPr algn="just">
              <a:spcAft>
                <a:spcPts val="0"/>
              </a:spcAft>
            </a:pPr>
            <a:r>
              <a:rPr lang="zh-CN" altLang="zh-CN" sz="1400" kern="100" dirty="0">
                <a:latin typeface="楷体" panose="02010609060101010101" pitchFamily="49" charset="-122"/>
                <a:ea typeface="楷体" panose="02010609060101010101" pitchFamily="49" charset="-122"/>
                <a:cs typeface="宋体" panose="02010600030101010101" pitchFamily="2" charset="-122"/>
              </a:rPr>
              <a:t>单牌是掼蛋过程中最常打的牌型，平均占局牌总手数的</a:t>
            </a:r>
            <a:r>
              <a:rPr lang="en-US" altLang="zh-CN" sz="1400" kern="100" dirty="0">
                <a:latin typeface="楷体" panose="02010609060101010101" pitchFamily="49" charset="-122"/>
                <a:ea typeface="楷体" panose="02010609060101010101" pitchFamily="49" charset="-122"/>
                <a:cs typeface="宋体" panose="02010600030101010101" pitchFamily="2" charset="-122"/>
              </a:rPr>
              <a:t>41.7%</a:t>
            </a:r>
            <a:r>
              <a:rPr lang="zh-CN" altLang="zh-CN" sz="1400" kern="100" dirty="0">
                <a:latin typeface="楷体" panose="02010609060101010101" pitchFamily="49" charset="-122"/>
                <a:ea typeface="楷体" panose="02010609060101010101" pitchFamily="49" charset="-122"/>
                <a:cs typeface="宋体" panose="02010600030101010101" pitchFamily="2" charset="-122"/>
              </a:rPr>
              <a:t>，所以掼蛋界常说</a:t>
            </a:r>
            <a:r>
              <a:rPr lang="en-US" altLang="zh-CN" sz="1400" kern="100" dirty="0">
                <a:latin typeface="楷体" panose="02010609060101010101" pitchFamily="49" charset="-122"/>
                <a:ea typeface="楷体" panose="02010609060101010101" pitchFamily="49" charset="-122"/>
                <a:cs typeface="宋体" panose="02010600030101010101" pitchFamily="2" charset="-122"/>
              </a:rPr>
              <a:t>“</a:t>
            </a:r>
            <a:r>
              <a:rPr lang="zh-CN" altLang="zh-CN" sz="1400" kern="100" dirty="0">
                <a:latin typeface="楷体" panose="02010609060101010101" pitchFamily="49" charset="-122"/>
                <a:ea typeface="楷体" panose="02010609060101010101" pitchFamily="49" charset="-122"/>
                <a:cs typeface="宋体" panose="02010600030101010101" pitchFamily="2" charset="-122"/>
              </a:rPr>
              <a:t>得单牌者得天下</a:t>
            </a:r>
            <a:r>
              <a:rPr lang="en-US" altLang="zh-CN" sz="1400" kern="100" dirty="0">
                <a:latin typeface="楷体" panose="02010609060101010101" pitchFamily="49" charset="-122"/>
                <a:ea typeface="楷体" panose="02010609060101010101" pitchFamily="49" charset="-122"/>
                <a:cs typeface="宋体" panose="02010600030101010101" pitchFamily="2" charset="-122"/>
              </a:rPr>
              <a:t>”</a:t>
            </a:r>
            <a:r>
              <a:rPr lang="zh-CN" altLang="zh-CN" sz="1400" kern="100" dirty="0">
                <a:latin typeface="楷体" panose="02010609060101010101" pitchFamily="49" charset="-122"/>
                <a:ea typeface="楷体" panose="02010609060101010101" pitchFamily="49" charset="-122"/>
                <a:cs typeface="宋体" panose="02010600030101010101" pitchFamily="2" charset="-122"/>
              </a:rPr>
              <a:t>。局牌中单牌最多的打到</a:t>
            </a:r>
            <a:r>
              <a:rPr lang="en-US" altLang="zh-CN" sz="1400" kern="100" dirty="0">
                <a:latin typeface="楷体" panose="02010609060101010101" pitchFamily="49" charset="-122"/>
                <a:ea typeface="楷体" panose="02010609060101010101" pitchFamily="49" charset="-122"/>
                <a:cs typeface="宋体" panose="02010600030101010101" pitchFamily="2" charset="-122"/>
              </a:rPr>
              <a:t>30</a:t>
            </a:r>
            <a:r>
              <a:rPr lang="zh-CN" altLang="zh-CN" sz="1400" kern="100" dirty="0">
                <a:latin typeface="楷体" panose="02010609060101010101" pitchFamily="49" charset="-122"/>
                <a:ea typeface="楷体" panose="02010609060101010101" pitchFamily="49" charset="-122"/>
                <a:cs typeface="宋体" panose="02010600030101010101" pitchFamily="2" charset="-122"/>
              </a:rPr>
              <a:t>手以上，最少的也接近</a:t>
            </a:r>
            <a:r>
              <a:rPr lang="en-US" altLang="zh-CN" sz="1400" kern="100" dirty="0">
                <a:latin typeface="楷体" panose="02010609060101010101" pitchFamily="49" charset="-122"/>
                <a:ea typeface="楷体" panose="02010609060101010101" pitchFamily="49" charset="-122"/>
                <a:cs typeface="宋体" panose="02010600030101010101" pitchFamily="2" charset="-122"/>
              </a:rPr>
              <a:t>10</a:t>
            </a:r>
            <a:r>
              <a:rPr lang="zh-CN" altLang="zh-CN" sz="1400" kern="100" dirty="0">
                <a:latin typeface="楷体" panose="02010609060101010101" pitchFamily="49" charset="-122"/>
                <a:ea typeface="楷体" panose="02010609060101010101" pitchFamily="49" charset="-122"/>
                <a:cs typeface="宋体" panose="02010600030101010101" pitchFamily="2" charset="-122"/>
              </a:rPr>
              <a:t>手，平均有</a:t>
            </a:r>
            <a:r>
              <a:rPr lang="en-US" altLang="zh-CN" sz="1400" kern="100" dirty="0">
                <a:latin typeface="楷体" panose="02010609060101010101" pitchFamily="49" charset="-122"/>
                <a:ea typeface="楷体" panose="02010609060101010101" pitchFamily="49" charset="-122"/>
                <a:cs typeface="宋体" panose="02010600030101010101" pitchFamily="2" charset="-122"/>
              </a:rPr>
              <a:t>16</a:t>
            </a:r>
            <a:r>
              <a:rPr lang="zh-CN" altLang="zh-CN" sz="1400" kern="100" dirty="0">
                <a:latin typeface="楷体" panose="02010609060101010101" pitchFamily="49" charset="-122"/>
                <a:ea typeface="楷体" panose="02010609060101010101" pitchFamily="49" charset="-122"/>
                <a:cs typeface="宋体" panose="02010600030101010101" pitchFamily="2" charset="-122"/>
              </a:rPr>
              <a:t>手之多。单牌简易明了，容易判断和驾驭，正因为这个特点，在局牌演化过程中，其它牌型往往向单牌转化，使得单牌成为轮次之王。</a:t>
            </a:r>
          </a:p>
          <a:p>
            <a:pPr algn="just">
              <a:spcAft>
                <a:spcPts val="0"/>
              </a:spcAft>
            </a:pPr>
            <a:r>
              <a:rPr lang="zh-CN" altLang="zh-CN" sz="1400" kern="100" dirty="0">
                <a:latin typeface="楷体" panose="02010609060101010101" pitchFamily="49" charset="-122"/>
                <a:ea typeface="楷体" panose="02010609060101010101" pitchFamily="49" charset="-122"/>
                <a:cs typeface="宋体" panose="02010600030101010101" pitchFamily="2" charset="-122"/>
              </a:rPr>
              <a:t>对牌的使用率仅次于单牌，这是基于除单牌外对牌成型的比率最高，这一比率占到总手数的</a:t>
            </a:r>
            <a:r>
              <a:rPr lang="en-US" altLang="zh-CN" sz="1400" kern="100" dirty="0">
                <a:latin typeface="楷体" panose="02010609060101010101" pitchFamily="49" charset="-122"/>
                <a:ea typeface="楷体" panose="02010609060101010101" pitchFamily="49" charset="-122"/>
                <a:cs typeface="宋体" panose="02010600030101010101" pitchFamily="2" charset="-122"/>
              </a:rPr>
              <a:t>19.7%</a:t>
            </a:r>
            <a:r>
              <a:rPr lang="zh-CN" altLang="zh-CN" sz="1400" kern="100" dirty="0">
                <a:latin typeface="楷体" panose="02010609060101010101" pitchFamily="49" charset="-122"/>
                <a:ea typeface="楷体" panose="02010609060101010101" pitchFamily="49" charset="-122"/>
                <a:cs typeface="宋体" panose="02010600030101010101" pitchFamily="2" charset="-122"/>
              </a:rPr>
              <a:t>。局牌中对牌平均打出</a:t>
            </a:r>
            <a:r>
              <a:rPr lang="en-US" altLang="zh-CN" sz="1400" kern="100" dirty="0">
                <a:latin typeface="楷体" panose="02010609060101010101" pitchFamily="49" charset="-122"/>
                <a:ea typeface="楷体" panose="02010609060101010101" pitchFamily="49" charset="-122"/>
                <a:cs typeface="宋体" panose="02010600030101010101" pitchFamily="2" charset="-122"/>
              </a:rPr>
              <a:t>7.6</a:t>
            </a:r>
            <a:r>
              <a:rPr lang="zh-CN" altLang="zh-CN" sz="1400" kern="100" dirty="0">
                <a:latin typeface="楷体" panose="02010609060101010101" pitchFamily="49" charset="-122"/>
                <a:ea typeface="楷体" panose="02010609060101010101" pitchFamily="49" charset="-122"/>
                <a:cs typeface="宋体" panose="02010600030101010101" pitchFamily="2" charset="-122"/>
              </a:rPr>
              <a:t>手，最多的打到</a:t>
            </a:r>
            <a:r>
              <a:rPr lang="en-US" altLang="zh-CN" sz="1400" kern="100" dirty="0">
                <a:latin typeface="楷体" panose="02010609060101010101" pitchFamily="49" charset="-122"/>
                <a:ea typeface="楷体" panose="02010609060101010101" pitchFamily="49" charset="-122"/>
                <a:cs typeface="宋体" panose="02010600030101010101" pitchFamily="2" charset="-122"/>
              </a:rPr>
              <a:t>20</a:t>
            </a:r>
            <a:r>
              <a:rPr lang="zh-CN" altLang="zh-CN" sz="1400" kern="100" dirty="0">
                <a:latin typeface="楷体" panose="02010609060101010101" pitchFamily="49" charset="-122"/>
                <a:ea typeface="楷体" panose="02010609060101010101" pitchFamily="49" charset="-122"/>
                <a:cs typeface="宋体" panose="02010600030101010101" pitchFamily="2" charset="-122"/>
              </a:rPr>
              <a:t>手以上，最少的只有</a:t>
            </a:r>
            <a:r>
              <a:rPr lang="en-US" altLang="zh-CN" sz="1400" kern="100" dirty="0">
                <a:latin typeface="楷体" panose="02010609060101010101" pitchFamily="49" charset="-122"/>
                <a:ea typeface="楷体" panose="02010609060101010101" pitchFamily="49" charset="-122"/>
                <a:cs typeface="宋体" panose="02010600030101010101" pitchFamily="2" charset="-122"/>
              </a:rPr>
              <a:t>1</a:t>
            </a:r>
            <a:r>
              <a:rPr lang="zh-CN" altLang="zh-CN" sz="1400" kern="100" dirty="0">
                <a:latin typeface="楷体" panose="02010609060101010101" pitchFamily="49" charset="-122"/>
                <a:ea typeface="楷体" panose="02010609060101010101" pitchFamily="49" charset="-122"/>
                <a:cs typeface="宋体" panose="02010600030101010101" pitchFamily="2" charset="-122"/>
              </a:rPr>
              <a:t>手</a:t>
            </a:r>
            <a:r>
              <a:rPr lang="zh-CN" altLang="zh-CN" sz="1400" kern="100" dirty="0" smtClean="0">
                <a:latin typeface="楷体" panose="02010609060101010101" pitchFamily="49" charset="-122"/>
                <a:ea typeface="楷体" panose="02010609060101010101" pitchFamily="49" charset="-122"/>
                <a:cs typeface="宋体" panose="02010600030101010101" pitchFamily="2" charset="-122"/>
              </a:rPr>
              <a:t>。</a:t>
            </a:r>
            <a:endParaRPr lang="en-US" altLang="zh-CN" sz="1400" kern="100" dirty="0" smtClean="0">
              <a:latin typeface="楷体" panose="02010609060101010101" pitchFamily="49" charset="-122"/>
              <a:ea typeface="楷体" panose="02010609060101010101" pitchFamily="49" charset="-122"/>
              <a:cs typeface="宋体" panose="02010600030101010101" pitchFamily="2" charset="-122"/>
            </a:endParaRPr>
          </a:p>
          <a:p>
            <a:pPr algn="just">
              <a:spcAft>
                <a:spcPts val="0"/>
              </a:spcAft>
            </a:pPr>
            <a:r>
              <a:rPr lang="zh-CN" altLang="zh-CN" sz="1400" kern="100" dirty="0" smtClean="0">
                <a:latin typeface="楷体" panose="02010609060101010101" pitchFamily="49" charset="-122"/>
                <a:ea typeface="楷体" panose="02010609060101010101" pitchFamily="49" charset="-122"/>
                <a:cs typeface="宋体" panose="02010600030101010101" pitchFamily="2" charset="-122"/>
              </a:rPr>
              <a:t>按照</a:t>
            </a:r>
            <a:r>
              <a:rPr lang="zh-CN" altLang="zh-CN" sz="1400" kern="100" dirty="0">
                <a:latin typeface="楷体" panose="02010609060101010101" pitchFamily="49" charset="-122"/>
                <a:ea typeface="楷体" panose="02010609060101010101" pitchFamily="49" charset="-122"/>
                <a:cs typeface="宋体" panose="02010600030101010101" pitchFamily="2" charset="-122"/>
              </a:rPr>
              <a:t>手数规则，排名第三的应该是三张牌型了，从理论上讲是这样的，因为三张的成型率高于张数多于它的牌型，但实际打出时并不如此，三张的手数占比仅有可怜的</a:t>
            </a:r>
            <a:r>
              <a:rPr lang="en-US" altLang="zh-CN" sz="1400" kern="100" dirty="0">
                <a:latin typeface="楷体" panose="02010609060101010101" pitchFamily="49" charset="-122"/>
                <a:ea typeface="楷体" panose="02010609060101010101" pitchFamily="49" charset="-122"/>
                <a:cs typeface="宋体" panose="02010600030101010101" pitchFamily="2" charset="-122"/>
              </a:rPr>
              <a:t>2.7%</a:t>
            </a:r>
            <a:r>
              <a:rPr lang="zh-CN" altLang="zh-CN" sz="1400" kern="100" dirty="0">
                <a:latin typeface="楷体" panose="02010609060101010101" pitchFamily="49" charset="-122"/>
                <a:ea typeface="楷体" panose="02010609060101010101" pitchFamily="49" charset="-122"/>
                <a:cs typeface="宋体" panose="02010600030101010101" pitchFamily="2" charset="-122"/>
              </a:rPr>
              <a:t>，</a:t>
            </a:r>
            <a:r>
              <a:rPr lang="en-US" altLang="zh-CN" sz="1400" kern="100" dirty="0">
                <a:latin typeface="楷体" panose="02010609060101010101" pitchFamily="49" charset="-122"/>
                <a:ea typeface="楷体" panose="02010609060101010101" pitchFamily="49" charset="-122"/>
                <a:cs typeface="宋体" panose="02010600030101010101" pitchFamily="2" charset="-122"/>
              </a:rPr>
              <a:t>60%</a:t>
            </a:r>
            <a:r>
              <a:rPr lang="zh-CN" altLang="zh-CN" sz="1400" kern="100" dirty="0">
                <a:latin typeface="楷体" panose="02010609060101010101" pitchFamily="49" charset="-122"/>
                <a:ea typeface="楷体" panose="02010609060101010101" pitchFamily="49" charset="-122"/>
                <a:cs typeface="宋体" panose="02010600030101010101" pitchFamily="2" charset="-122"/>
              </a:rPr>
              <a:t>的实战局牌中不打出三张牌型，即使打出，最高的也只达</a:t>
            </a:r>
            <a:r>
              <a:rPr lang="en-US" altLang="zh-CN" sz="1400" kern="100" dirty="0">
                <a:latin typeface="楷体" panose="02010609060101010101" pitchFamily="49" charset="-122"/>
                <a:ea typeface="楷体" panose="02010609060101010101" pitchFamily="49" charset="-122"/>
                <a:cs typeface="宋体" panose="02010600030101010101" pitchFamily="2" charset="-122"/>
              </a:rPr>
              <a:t>6</a:t>
            </a:r>
            <a:r>
              <a:rPr lang="zh-CN" altLang="zh-CN" sz="1400" kern="100" dirty="0">
                <a:latin typeface="楷体" panose="02010609060101010101" pitchFamily="49" charset="-122"/>
                <a:ea typeface="楷体" panose="02010609060101010101" pitchFamily="49" charset="-122"/>
                <a:cs typeface="宋体" panose="02010600030101010101" pitchFamily="2" charset="-122"/>
              </a:rPr>
              <a:t>手，仅高于它的同门兄弟钢板，和三连牌基本持平。为什么呢？这是由于掼蛋的两个特殊规则决定的</a:t>
            </a:r>
            <a:r>
              <a:rPr lang="zh-CN" altLang="zh-CN" sz="1400" kern="100" dirty="0" smtClean="0">
                <a:latin typeface="楷体" panose="02010609060101010101" pitchFamily="49" charset="-122"/>
                <a:ea typeface="楷体" panose="02010609060101010101" pitchFamily="49" charset="-122"/>
                <a:cs typeface="宋体" panose="02010600030101010101" pitchFamily="2" charset="-122"/>
              </a:rPr>
              <a:t>：</a:t>
            </a:r>
            <a:r>
              <a:rPr lang="zh-CN" altLang="en-US" sz="1400" kern="100" dirty="0" smtClean="0">
                <a:latin typeface="楷体" panose="02010609060101010101" pitchFamily="49" charset="-122"/>
                <a:ea typeface="楷体" panose="02010609060101010101" pitchFamily="49" charset="-122"/>
                <a:cs typeface="宋体" panose="02010600030101010101" pitchFamily="2" charset="-122"/>
              </a:rPr>
              <a:t>红</a:t>
            </a:r>
            <a:r>
              <a:rPr lang="zh-CN" altLang="zh-CN" sz="1400" kern="100" dirty="0" smtClean="0">
                <a:latin typeface="楷体" panose="02010609060101010101" pitchFamily="49" charset="-122"/>
                <a:ea typeface="楷体" panose="02010609060101010101" pitchFamily="49" charset="-122"/>
                <a:cs typeface="宋体" panose="02010600030101010101" pitchFamily="2" charset="-122"/>
              </a:rPr>
              <a:t>配</a:t>
            </a:r>
            <a:r>
              <a:rPr lang="zh-CN" altLang="zh-CN" sz="1400" kern="100" dirty="0">
                <a:latin typeface="楷体" panose="02010609060101010101" pitchFamily="49" charset="-122"/>
                <a:ea typeface="楷体" panose="02010609060101010101" pitchFamily="49" charset="-122"/>
                <a:cs typeface="宋体" panose="02010600030101010101" pitchFamily="2" charset="-122"/>
              </a:rPr>
              <a:t>牌和三带</a:t>
            </a:r>
            <a:r>
              <a:rPr lang="zh-CN" altLang="zh-CN" sz="1400" kern="100" dirty="0" smtClean="0">
                <a:latin typeface="楷体" panose="02010609060101010101" pitchFamily="49" charset="-122"/>
                <a:ea typeface="楷体" panose="02010609060101010101" pitchFamily="49" charset="-122"/>
                <a:cs typeface="宋体" panose="02010600030101010101" pitchFamily="2" charset="-122"/>
              </a:rPr>
              <a:t>两</a:t>
            </a:r>
            <a:r>
              <a:rPr lang="zh-CN" altLang="en-US" sz="1400" kern="100" dirty="0" smtClean="0">
                <a:latin typeface="楷体" panose="02010609060101010101" pitchFamily="49" charset="-122"/>
                <a:ea typeface="楷体" panose="02010609060101010101" pitchFamily="49" charset="-122"/>
                <a:cs typeface="宋体" panose="02010600030101010101" pitchFamily="2" charset="-122"/>
              </a:rPr>
              <a:t>。尤其是有红配时，一定要注意是不是需要与三张配成炸弹的需求，别等到三张打光了，发现红配还在</a:t>
            </a:r>
            <a:r>
              <a:rPr lang="zh-CN" altLang="zh-CN" sz="1400" kern="100" dirty="0" smtClean="0">
                <a:latin typeface="楷体" panose="02010609060101010101" pitchFamily="49" charset="-122"/>
                <a:ea typeface="楷体" panose="02010609060101010101" pitchFamily="49" charset="-122"/>
                <a:cs typeface="宋体" panose="02010600030101010101" pitchFamily="2" charset="-122"/>
              </a:rPr>
              <a:t>。</a:t>
            </a:r>
            <a:endParaRPr lang="en-US" altLang="zh-CN" sz="1400" kern="100" dirty="0" smtClean="0">
              <a:latin typeface="楷体" panose="02010609060101010101" pitchFamily="49" charset="-122"/>
              <a:ea typeface="楷体" panose="02010609060101010101" pitchFamily="49" charset="-122"/>
              <a:cs typeface="宋体" panose="02010600030101010101" pitchFamily="2" charset="-122"/>
            </a:endParaRPr>
          </a:p>
          <a:p>
            <a:pPr algn="just">
              <a:spcAft>
                <a:spcPts val="0"/>
              </a:spcAft>
            </a:pPr>
            <a:r>
              <a:rPr lang="zh-CN" altLang="en-US" sz="1400" kern="100" dirty="0" smtClean="0">
                <a:latin typeface="楷体" panose="02010609060101010101" pitchFamily="49" charset="-122"/>
                <a:ea typeface="楷体" panose="02010609060101010101" pitchFamily="49" charset="-122"/>
                <a:cs typeface="宋体" panose="02010600030101010101" pitchFamily="2" charset="-122"/>
              </a:rPr>
              <a:t>三</a:t>
            </a:r>
            <a:r>
              <a:rPr lang="zh-CN" altLang="en-US" sz="1400" kern="100" dirty="0">
                <a:latin typeface="楷体" panose="02010609060101010101" pitchFamily="49" charset="-122"/>
                <a:ea typeface="楷体" panose="02010609060101010101" pitchFamily="49" charset="-122"/>
                <a:cs typeface="宋体" panose="02010600030101010101" pitchFamily="2" charset="-122"/>
              </a:rPr>
              <a:t>带两的优势不言自明，那就是出的越多、跑的越快，所以它的使用率达到</a:t>
            </a:r>
            <a:r>
              <a:rPr lang="en-US" altLang="zh-CN" sz="1400" kern="100" dirty="0">
                <a:latin typeface="楷体" panose="02010609060101010101" pitchFamily="49" charset="-122"/>
                <a:ea typeface="楷体" panose="02010609060101010101" pitchFamily="49" charset="-122"/>
                <a:cs typeface="宋体" panose="02010600030101010101" pitchFamily="2" charset="-122"/>
              </a:rPr>
              <a:t>8.3%</a:t>
            </a:r>
            <a:r>
              <a:rPr lang="zh-CN" altLang="en-US" sz="1400" kern="100" dirty="0">
                <a:latin typeface="楷体" panose="02010609060101010101" pitchFamily="49" charset="-122"/>
                <a:ea typeface="楷体" panose="02010609060101010101" pitchFamily="49" charset="-122"/>
                <a:cs typeface="宋体" panose="02010600030101010101" pitchFamily="2" charset="-122"/>
              </a:rPr>
              <a:t>，仅在</a:t>
            </a:r>
            <a:r>
              <a:rPr lang="en-US" altLang="zh-CN" sz="1400" kern="100" dirty="0">
                <a:latin typeface="楷体" panose="02010609060101010101" pitchFamily="49" charset="-122"/>
                <a:ea typeface="楷体" panose="02010609060101010101" pitchFamily="49" charset="-122"/>
                <a:cs typeface="宋体" panose="02010600030101010101" pitchFamily="2" charset="-122"/>
              </a:rPr>
              <a:t>6.6%</a:t>
            </a:r>
            <a:r>
              <a:rPr lang="zh-CN" altLang="en-US" sz="1400" kern="100" dirty="0">
                <a:latin typeface="楷体" panose="02010609060101010101" pitchFamily="49" charset="-122"/>
                <a:ea typeface="楷体" panose="02010609060101010101" pitchFamily="49" charset="-122"/>
                <a:cs typeface="宋体" panose="02010600030101010101" pitchFamily="2" charset="-122"/>
              </a:rPr>
              <a:t>的局牌中无三带两打出，在个别局牌中，三带两的打出高达</a:t>
            </a:r>
            <a:r>
              <a:rPr lang="en-US" altLang="zh-CN" sz="1400" kern="100" dirty="0">
                <a:latin typeface="楷体" panose="02010609060101010101" pitchFamily="49" charset="-122"/>
                <a:ea typeface="楷体" panose="02010609060101010101" pitchFamily="49" charset="-122"/>
                <a:cs typeface="宋体" panose="02010600030101010101" pitchFamily="2" charset="-122"/>
              </a:rPr>
              <a:t>10</a:t>
            </a:r>
            <a:r>
              <a:rPr lang="zh-CN" altLang="en-US" sz="1400" kern="100" dirty="0">
                <a:latin typeface="楷体" panose="02010609060101010101" pitchFamily="49" charset="-122"/>
                <a:ea typeface="楷体" panose="02010609060101010101" pitchFamily="49" charset="-122"/>
                <a:cs typeface="宋体" panose="02010600030101010101" pitchFamily="2" charset="-122"/>
              </a:rPr>
              <a:t>手以上。三带两的占比高还有一个原因，那就是所带之对牌没有大小限制，较小的对牌可以通过带牌</a:t>
            </a:r>
            <a:r>
              <a:rPr lang="zh-CN" altLang="en-US" sz="1400" kern="100" dirty="0" smtClean="0">
                <a:latin typeface="楷体" panose="02010609060101010101" pitchFamily="49" charset="-122"/>
                <a:ea typeface="楷体" panose="02010609060101010101" pitchFamily="49" charset="-122"/>
                <a:cs typeface="宋体" panose="02010600030101010101" pitchFamily="2" charset="-122"/>
              </a:rPr>
              <a:t>而暗渡陈仓。</a:t>
            </a:r>
            <a:endParaRPr lang="zh-CN" altLang="en-US" sz="1400" kern="100" dirty="0">
              <a:latin typeface="楷体" panose="02010609060101010101" pitchFamily="49" charset="-122"/>
              <a:ea typeface="楷体" panose="02010609060101010101" pitchFamily="49" charset="-122"/>
              <a:cs typeface="宋体" panose="02010600030101010101" pitchFamily="2" charset="-122"/>
            </a:endParaRPr>
          </a:p>
          <a:p>
            <a:pPr algn="just"/>
            <a:r>
              <a:rPr lang="zh-CN" altLang="zh-CN" sz="1400" kern="100" dirty="0">
                <a:latin typeface="楷体" panose="02010609060101010101" pitchFamily="49" charset="-122"/>
                <a:ea typeface="楷体" panose="02010609060101010101" pitchFamily="49" charset="-122"/>
                <a:cs typeface="宋体" panose="02010600030101010101" pitchFamily="2" charset="-122"/>
              </a:rPr>
              <a:t>在实战中纯粹顺牌的使用率为</a:t>
            </a:r>
            <a:r>
              <a:rPr lang="en-US" altLang="zh-CN" sz="1400" kern="100" dirty="0">
                <a:latin typeface="楷体" panose="02010609060101010101" pitchFamily="49" charset="-122"/>
                <a:ea typeface="楷体" panose="02010609060101010101" pitchFamily="49" charset="-122"/>
                <a:cs typeface="宋体" panose="02010600030101010101" pitchFamily="2" charset="-122"/>
              </a:rPr>
              <a:t>5%</a:t>
            </a:r>
            <a:r>
              <a:rPr lang="zh-CN" altLang="zh-CN" sz="1400" kern="100" dirty="0">
                <a:latin typeface="楷体" panose="02010609060101010101" pitchFamily="49" charset="-122"/>
                <a:ea typeface="楷体" panose="02010609060101010101" pitchFamily="49" charset="-122"/>
                <a:cs typeface="宋体" panose="02010600030101010101" pitchFamily="2" charset="-122"/>
              </a:rPr>
              <a:t>，如果加上它的同门同花火，占比上升到</a:t>
            </a:r>
            <a:r>
              <a:rPr lang="en-US" altLang="zh-CN" sz="1400" kern="100" dirty="0">
                <a:latin typeface="楷体" panose="02010609060101010101" pitchFamily="49" charset="-122"/>
                <a:ea typeface="楷体" panose="02010609060101010101" pitchFamily="49" charset="-122"/>
                <a:cs typeface="宋体" panose="02010600030101010101" pitchFamily="2" charset="-122"/>
              </a:rPr>
              <a:t>8.7%</a:t>
            </a:r>
            <a:r>
              <a:rPr lang="zh-CN" altLang="zh-CN" sz="1400" kern="100" dirty="0">
                <a:latin typeface="楷体" panose="02010609060101010101" pitchFamily="49" charset="-122"/>
                <a:ea typeface="楷体" panose="02010609060101010101" pitchFamily="49" charset="-122"/>
                <a:cs typeface="宋体" panose="02010600030101010101" pitchFamily="2" charset="-122"/>
              </a:rPr>
              <a:t>。局牌中平均出现顺牌</a:t>
            </a:r>
            <a:r>
              <a:rPr lang="en-US" altLang="zh-CN" sz="1400" kern="100" dirty="0">
                <a:latin typeface="楷体" panose="02010609060101010101" pitchFamily="49" charset="-122"/>
                <a:ea typeface="楷体" panose="02010609060101010101" pitchFamily="49" charset="-122"/>
                <a:cs typeface="宋体" panose="02010600030101010101" pitchFamily="2" charset="-122"/>
              </a:rPr>
              <a:t>3.3</a:t>
            </a:r>
            <a:r>
              <a:rPr lang="zh-CN" altLang="zh-CN" sz="1400" kern="100" dirty="0">
                <a:latin typeface="楷体" panose="02010609060101010101" pitchFamily="49" charset="-122"/>
                <a:ea typeface="楷体" panose="02010609060101010101" pitchFamily="49" charset="-122"/>
                <a:cs typeface="宋体" panose="02010600030101010101" pitchFamily="2" charset="-122"/>
              </a:rPr>
              <a:t>个，最多</a:t>
            </a:r>
            <a:r>
              <a:rPr lang="en-US" altLang="zh-CN" sz="1400" kern="100" dirty="0">
                <a:latin typeface="楷体" panose="02010609060101010101" pitchFamily="49" charset="-122"/>
                <a:ea typeface="楷体" panose="02010609060101010101" pitchFamily="49" charset="-122"/>
                <a:cs typeface="宋体" panose="02010600030101010101" pitchFamily="2" charset="-122"/>
              </a:rPr>
              <a:t>9</a:t>
            </a:r>
            <a:r>
              <a:rPr lang="zh-CN" altLang="zh-CN" sz="1400" kern="100" dirty="0">
                <a:latin typeface="楷体" panose="02010609060101010101" pitchFamily="49" charset="-122"/>
                <a:ea typeface="楷体" panose="02010609060101010101" pitchFamily="49" charset="-122"/>
                <a:cs typeface="宋体" panose="02010600030101010101" pitchFamily="2" charset="-122"/>
              </a:rPr>
              <a:t>个，几乎很少见到没有顺牌的局牌。顺牌的优势在于它的连贯性，能够顺畅牌势；劣势是单调性，改变组合的难度较大，大多是一旦组成，守株整局</a:t>
            </a:r>
            <a:r>
              <a:rPr lang="zh-CN" altLang="zh-CN" sz="1400" kern="100" dirty="0" smtClean="0">
                <a:latin typeface="楷体" panose="02010609060101010101" pitchFamily="49" charset="-122"/>
                <a:ea typeface="楷体" panose="02010609060101010101" pitchFamily="49" charset="-122"/>
                <a:cs typeface="宋体" panose="02010600030101010101" pitchFamily="2" charset="-122"/>
              </a:rPr>
              <a:t>。</a:t>
            </a:r>
            <a:r>
              <a:rPr lang="zh-CN" altLang="en-US" sz="1400" kern="100" dirty="0">
                <a:latin typeface="楷体" panose="02010609060101010101" pitchFamily="49" charset="-122"/>
                <a:ea typeface="楷体" panose="02010609060101010101" pitchFamily="49" charset="-122"/>
                <a:cs typeface="宋体" panose="02010600030101010101" pitchFamily="2" charset="-122"/>
              </a:rPr>
              <a:t>组顺要以减少手数为第一原则，配合战略需要为第二原则，</a:t>
            </a:r>
            <a:r>
              <a:rPr lang="zh-CN" altLang="en-US" sz="1400" kern="100" dirty="0" smtClean="0">
                <a:latin typeface="楷体" panose="02010609060101010101" pitchFamily="49" charset="-122"/>
                <a:ea typeface="楷体" panose="02010609060101010101" pitchFamily="49" charset="-122"/>
                <a:cs typeface="宋体" panose="02010600030101010101" pitchFamily="2" charset="-122"/>
              </a:rPr>
              <a:t>其他因素另外</a:t>
            </a:r>
            <a:r>
              <a:rPr lang="zh-CN" altLang="en-US" sz="1400" kern="100" dirty="0">
                <a:latin typeface="楷体" panose="02010609060101010101" pitchFamily="49" charset="-122"/>
                <a:ea typeface="楷体" panose="02010609060101010101" pitchFamily="49" charset="-122"/>
                <a:cs typeface="宋体" panose="02010600030101010101" pitchFamily="2" charset="-122"/>
              </a:rPr>
              <a:t>再</a:t>
            </a:r>
            <a:r>
              <a:rPr lang="zh-CN" altLang="en-US" sz="1400" kern="100" dirty="0" smtClean="0">
                <a:latin typeface="楷体" panose="02010609060101010101" pitchFamily="49" charset="-122"/>
                <a:ea typeface="楷体" panose="02010609060101010101" pitchFamily="49" charset="-122"/>
                <a:cs typeface="宋体" panose="02010600030101010101" pitchFamily="2" charset="-122"/>
              </a:rPr>
              <a:t>考虑。</a:t>
            </a:r>
            <a:endParaRPr lang="en-US" altLang="zh-CN" sz="1400" kern="100" dirty="0" smtClean="0">
              <a:latin typeface="楷体" panose="02010609060101010101" pitchFamily="49" charset="-122"/>
              <a:ea typeface="楷体" panose="02010609060101010101" pitchFamily="49" charset="-122"/>
              <a:cs typeface="宋体" panose="02010600030101010101" pitchFamily="2" charset="-122"/>
            </a:endParaRPr>
          </a:p>
          <a:p>
            <a:pPr algn="just"/>
            <a:r>
              <a:rPr lang="zh-CN" altLang="en-US" sz="1400" kern="100" dirty="0">
                <a:latin typeface="楷体" panose="02010609060101010101" pitchFamily="49" charset="-122"/>
                <a:ea typeface="楷体" panose="02010609060101010101" pitchFamily="49" charset="-122"/>
                <a:cs typeface="宋体" panose="02010600030101010101" pitchFamily="2" charset="-122"/>
              </a:rPr>
              <a:t>三连牌由于需要三个连续对牌来组成，所以它在局牌中占比很低，仅为</a:t>
            </a:r>
            <a:r>
              <a:rPr lang="en-US" altLang="zh-CN" sz="1400" kern="100" dirty="0">
                <a:latin typeface="楷体" panose="02010609060101010101" pitchFamily="49" charset="-122"/>
                <a:ea typeface="楷体" panose="02010609060101010101" pitchFamily="49" charset="-122"/>
                <a:cs typeface="宋体" panose="02010600030101010101" pitchFamily="2" charset="-122"/>
              </a:rPr>
              <a:t>2.3%</a:t>
            </a:r>
            <a:r>
              <a:rPr lang="zh-CN" altLang="en-US" sz="1400" kern="100" dirty="0">
                <a:latin typeface="楷体" panose="02010609060101010101" pitchFamily="49" charset="-122"/>
                <a:ea typeface="楷体" panose="02010609060101010101" pitchFamily="49" charset="-122"/>
                <a:cs typeface="宋体" panose="02010600030101010101" pitchFamily="2" charset="-122"/>
              </a:rPr>
              <a:t>，约有接近半数的局牌没有三连牌打出，局牌中三连打出最多的不超过</a:t>
            </a:r>
            <a:r>
              <a:rPr lang="en-US" altLang="zh-CN" sz="1400" kern="100" dirty="0">
                <a:latin typeface="楷体" panose="02010609060101010101" pitchFamily="49" charset="-122"/>
                <a:ea typeface="楷体" panose="02010609060101010101" pitchFamily="49" charset="-122"/>
                <a:cs typeface="宋体" panose="02010600030101010101" pitchFamily="2" charset="-122"/>
              </a:rPr>
              <a:t>5</a:t>
            </a:r>
            <a:r>
              <a:rPr lang="zh-CN" altLang="en-US" sz="1400" kern="100" dirty="0">
                <a:latin typeface="楷体" panose="02010609060101010101" pitchFamily="49" charset="-122"/>
                <a:ea typeface="楷体" panose="02010609060101010101" pitchFamily="49" charset="-122"/>
                <a:cs typeface="宋体" panose="02010600030101010101" pitchFamily="2" charset="-122"/>
              </a:rPr>
              <a:t>手。</a:t>
            </a:r>
          </a:p>
          <a:p>
            <a:pPr algn="just"/>
            <a:r>
              <a:rPr lang="zh-CN" altLang="en-US" sz="1400" kern="100" dirty="0">
                <a:latin typeface="楷体" panose="02010609060101010101" pitchFamily="49" charset="-122"/>
                <a:ea typeface="楷体" panose="02010609060101010101" pitchFamily="49" charset="-122"/>
                <a:cs typeface="宋体" panose="02010600030101010101" pitchFamily="2" charset="-122"/>
              </a:rPr>
              <a:t>钢板是掼蛋中出现最少的牌型，仅占局牌总手数的</a:t>
            </a:r>
            <a:r>
              <a:rPr lang="en-US" altLang="zh-CN" sz="1400" kern="100" dirty="0">
                <a:latin typeface="楷体" panose="02010609060101010101" pitchFamily="49" charset="-122"/>
                <a:ea typeface="楷体" panose="02010609060101010101" pitchFamily="49" charset="-122"/>
                <a:cs typeface="宋体" panose="02010600030101010101" pitchFamily="2" charset="-122"/>
              </a:rPr>
              <a:t>0.8%</a:t>
            </a:r>
            <a:r>
              <a:rPr lang="zh-CN" altLang="en-US" sz="1400" kern="100" dirty="0">
                <a:latin typeface="楷体" panose="02010609060101010101" pitchFamily="49" charset="-122"/>
                <a:ea typeface="楷体" panose="02010609060101010101" pitchFamily="49" charset="-122"/>
                <a:cs typeface="宋体" panose="02010600030101010101" pitchFamily="2" charset="-122"/>
              </a:rPr>
              <a:t>，最多的局牌打不出超过</a:t>
            </a:r>
            <a:r>
              <a:rPr lang="en-US" altLang="zh-CN" sz="1400" kern="100" dirty="0">
                <a:latin typeface="楷体" panose="02010609060101010101" pitchFamily="49" charset="-122"/>
                <a:ea typeface="楷体" panose="02010609060101010101" pitchFamily="49" charset="-122"/>
                <a:cs typeface="宋体" panose="02010600030101010101" pitchFamily="2" charset="-122"/>
              </a:rPr>
              <a:t>3</a:t>
            </a:r>
            <a:r>
              <a:rPr lang="zh-CN" altLang="en-US" sz="1400" kern="100" dirty="0">
                <a:latin typeface="楷体" panose="02010609060101010101" pitchFamily="49" charset="-122"/>
                <a:ea typeface="楷体" panose="02010609060101010101" pitchFamily="49" charset="-122"/>
                <a:cs typeface="宋体" panose="02010600030101010101" pitchFamily="2" charset="-122"/>
              </a:rPr>
              <a:t>手的钢板</a:t>
            </a:r>
            <a:r>
              <a:rPr lang="zh-CN" altLang="en-US" sz="1400" kern="100" dirty="0" smtClean="0">
                <a:latin typeface="楷体" panose="02010609060101010101" pitchFamily="49" charset="-122"/>
                <a:ea typeface="楷体" panose="02010609060101010101" pitchFamily="49" charset="-122"/>
                <a:cs typeface="宋体" panose="02010600030101010101" pitchFamily="2" charset="-122"/>
              </a:rPr>
              <a:t>。打牌时一定要根据自己手中对子的多少和搭档及对手的牌路去思考是出钢板，还是变成三带二的牌型。</a:t>
            </a:r>
            <a:endParaRPr lang="zh-CN" altLang="en-US" sz="1400" kern="100" dirty="0">
              <a:latin typeface="楷体" panose="02010609060101010101" pitchFamily="49" charset="-122"/>
              <a:ea typeface="楷体" panose="02010609060101010101" pitchFamily="49" charset="-122"/>
              <a:cs typeface="宋体" panose="02010600030101010101" pitchFamily="2" charset="-122"/>
            </a:endParaRPr>
          </a:p>
          <a:p>
            <a:pPr algn="just">
              <a:spcAft>
                <a:spcPts val="0"/>
              </a:spcAft>
            </a:pPr>
            <a:endParaRPr lang="en-US" altLang="zh-CN" sz="1400" kern="100" dirty="0">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r>
              <a:rPr lang="zh-CN" altLang="en-US" sz="1400" b="1" kern="100" dirty="0">
                <a:latin typeface="等线" panose="02010600030101010101" pitchFamily="2" charset="-122"/>
                <a:ea typeface="等线" panose="02010600030101010101" pitchFamily="2" charset="-122"/>
                <a:cs typeface="宋体" panose="02010600030101010101" pitchFamily="2" charset="-122"/>
              </a:rPr>
              <a:t>顺牌拆散后，变五手牌，三带二是两手，三连对是三手，钢板是两手。所以只剩下一手牌时，顺子是最没有战斗力的。炸</a:t>
            </a:r>
            <a:r>
              <a:rPr lang="en-US" altLang="zh-CN" sz="1400" b="1" kern="100" dirty="0">
                <a:latin typeface="等线" panose="02010600030101010101" pitchFamily="2" charset="-122"/>
                <a:ea typeface="等线" panose="02010600030101010101" pitchFamily="2" charset="-122"/>
                <a:cs typeface="宋体" panose="02010600030101010101" pitchFamily="2" charset="-122"/>
              </a:rPr>
              <a:t>+</a:t>
            </a:r>
            <a:r>
              <a:rPr lang="zh-CN" altLang="en-US" sz="1400" b="1" kern="100" dirty="0">
                <a:latin typeface="等线" panose="02010600030101010101" pitchFamily="2" charset="-122"/>
                <a:ea typeface="等线" panose="02010600030101010101" pitchFamily="2" charset="-122"/>
                <a:cs typeface="宋体" panose="02010600030101010101" pitchFamily="2" charset="-122"/>
              </a:rPr>
              <a:t>一手牌时，炸弹被迫先出，而只留一手牌，你怎么办？顺子是最没办法</a:t>
            </a:r>
            <a:r>
              <a:rPr lang="zh-CN" altLang="en-US" sz="1400" b="1" kern="100" dirty="0" smtClean="0">
                <a:latin typeface="等线" panose="02010600030101010101" pitchFamily="2" charset="-122"/>
                <a:ea typeface="等线" panose="02010600030101010101" pitchFamily="2" charset="-122"/>
                <a:cs typeface="宋体" panose="02010600030101010101" pitchFamily="2" charset="-122"/>
              </a:rPr>
              <a:t>的，只有听张等风或偷鸡跑掉。</a:t>
            </a:r>
            <a:endParaRPr lang="zh-CN" altLang="zh-CN" sz="1400" b="1" kern="100" dirty="0">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endParaRPr lang="zh-CN" altLang="zh-CN" sz="1400" kern="100" dirty="0">
              <a:effectLst/>
              <a:latin typeface="楷体" panose="02010609060101010101" pitchFamily="49" charset="-122"/>
              <a:ea typeface="楷体" panose="02010609060101010101" pitchFamily="49" charset="-122"/>
              <a:cs typeface="宋体" panose="02010600030101010101" pitchFamily="2" charset="-122"/>
            </a:endParaRPr>
          </a:p>
        </p:txBody>
      </p:sp>
    </p:spTree>
    <p:custDataLst>
      <p:tags r:id="rId1"/>
    </p:custDataLst>
    <p:extLst>
      <p:ext uri="{BB962C8B-B14F-4D97-AF65-F5344CB8AC3E}">
        <p14:creationId xmlns:p14="http://schemas.microsoft.com/office/powerpoint/2010/main" val="25743937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3.5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掼蛋中对出牌的认识</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778608" y="1269939"/>
            <a:ext cx="9924143" cy="4278094"/>
          </a:xfrm>
          <a:prstGeom prst="rect">
            <a:avLst/>
          </a:prstGeom>
        </p:spPr>
        <p:txBody>
          <a:bodyPr wrap="square">
            <a:spAutoFit/>
          </a:bodyPr>
          <a:lstStyle/>
          <a:p>
            <a:pPr algn="just">
              <a:spcAft>
                <a:spcPts val="0"/>
              </a:spcAft>
            </a:pP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出</a:t>
            </a:r>
            <a:r>
              <a:rPr lang="zh-CN" altLang="zh-CN" sz="1600" kern="100" dirty="0">
                <a:latin typeface="楷体" panose="02010609060101010101" pitchFamily="49" charset="-122"/>
                <a:ea typeface="楷体" panose="02010609060101010101" pitchFamily="49" charset="-122"/>
                <a:cs typeface="宋体" panose="02010600030101010101" pitchFamily="2" charset="-122"/>
              </a:rPr>
              <a:t>牌时的考量：</a:t>
            </a:r>
          </a:p>
          <a:p>
            <a:pPr algn="just">
              <a:spcAft>
                <a:spcPts val="0"/>
              </a:spcAft>
            </a:pPr>
            <a:r>
              <a:rPr lang="zh-CN" altLang="zh-CN" sz="1600" kern="100" dirty="0">
                <a:latin typeface="楷体" panose="02010609060101010101" pitchFamily="49" charset="-122"/>
                <a:ea typeface="楷体" panose="02010609060101010101" pitchFamily="49" charset="-122"/>
                <a:cs typeface="宋体" panose="02010600030101010101" pitchFamily="2" charset="-122"/>
              </a:rPr>
              <a:t>（一）衡量牌</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能否</a:t>
            </a:r>
            <a:r>
              <a:rPr lang="zh-CN" altLang="en-US" sz="1600" kern="100" dirty="0" smtClean="0">
                <a:latin typeface="楷体" panose="02010609060101010101" pitchFamily="49" charset="-122"/>
                <a:ea typeface="楷体" panose="02010609060101010101" pitchFamily="49" charset="-122"/>
                <a:cs typeface="宋体" panose="02010600030101010101" pitchFamily="2" charset="-122"/>
              </a:rPr>
              <a:t>顺</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掉</a:t>
            </a:r>
            <a:endParaRPr lang="zh-CN" altLang="zh-CN" sz="1600" kern="100" dirty="0">
              <a:latin typeface="楷体" panose="02010609060101010101" pitchFamily="49" charset="-122"/>
              <a:ea typeface="楷体" panose="02010609060101010101" pitchFamily="49" charset="-122"/>
              <a:cs typeface="宋体" panose="02010600030101010101" pitchFamily="2" charset="-122"/>
            </a:endParaRPr>
          </a:p>
          <a:p>
            <a:pPr algn="just">
              <a:spcAft>
                <a:spcPts val="0"/>
              </a:spcAft>
            </a:pPr>
            <a:r>
              <a:rPr lang="en-US" altLang="zh-CN" sz="1600" kern="100" dirty="0">
                <a:latin typeface="楷体" panose="02010609060101010101" pitchFamily="49" charset="-122"/>
                <a:ea typeface="楷体" panose="02010609060101010101" pitchFamily="49" charset="-122"/>
                <a:cs typeface="宋体" panose="02010600030101010101" pitchFamily="2" charset="-122"/>
              </a:rPr>
              <a:t>1.</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肯定</a:t>
            </a:r>
            <a:r>
              <a:rPr lang="zh-CN" altLang="en-US" sz="1600" kern="100" dirty="0" smtClean="0">
                <a:latin typeface="楷体" panose="02010609060101010101" pitchFamily="49" charset="-122"/>
                <a:ea typeface="楷体" panose="02010609060101010101" pitchFamily="49" charset="-122"/>
                <a:cs typeface="宋体" panose="02010600030101010101" pitchFamily="2" charset="-122"/>
              </a:rPr>
              <a:t>顺</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不</a:t>
            </a:r>
            <a:r>
              <a:rPr lang="zh-CN" altLang="zh-CN" sz="1600" kern="100" dirty="0">
                <a:latin typeface="楷体" panose="02010609060101010101" pitchFamily="49" charset="-122"/>
                <a:ea typeface="楷体" panose="02010609060101010101" pitchFamily="49" charset="-122"/>
                <a:cs typeface="宋体" panose="02010600030101010101" pitchFamily="2" charset="-122"/>
              </a:rPr>
              <a:t>掉</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的</a:t>
            </a:r>
            <a:r>
              <a:rPr lang="zh-CN" altLang="en-US" sz="1600" kern="100" dirty="0" smtClean="0">
                <a:latin typeface="楷体" panose="02010609060101010101" pitchFamily="49" charset="-122"/>
                <a:ea typeface="楷体" panose="02010609060101010101" pitchFamily="49" charset="-122"/>
                <a:cs typeface="宋体" panose="02010600030101010101" pitchFamily="2" charset="-122"/>
              </a:rPr>
              <a:t>。若手里控制牌多，可以晚出；若控制牌少，则要思考，是不是会成为末游，若可能成为末游，尽量不出，宁可废在手里，不让下家过牌；若不会成为末游，则有上手权，就考虑是否要出掉。</a:t>
            </a:r>
            <a:endParaRPr lang="zh-CN" altLang="zh-CN" sz="1600" kern="100" dirty="0">
              <a:latin typeface="楷体" panose="02010609060101010101" pitchFamily="49" charset="-122"/>
              <a:ea typeface="楷体" panose="02010609060101010101" pitchFamily="49" charset="-122"/>
              <a:cs typeface="宋体" panose="02010600030101010101" pitchFamily="2" charset="-122"/>
            </a:endParaRPr>
          </a:p>
          <a:p>
            <a:pPr algn="just">
              <a:spcAft>
                <a:spcPts val="0"/>
              </a:spcAft>
            </a:pPr>
            <a:r>
              <a:rPr lang="en-US" altLang="zh-CN" sz="1600" kern="100" dirty="0">
                <a:latin typeface="楷体" panose="02010609060101010101" pitchFamily="49" charset="-122"/>
                <a:ea typeface="楷体" panose="02010609060101010101" pitchFamily="49" charset="-122"/>
                <a:cs typeface="宋体" panose="02010600030101010101" pitchFamily="2" charset="-122"/>
              </a:rPr>
              <a:t>2.</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可能</a:t>
            </a:r>
            <a:r>
              <a:rPr lang="zh-CN" altLang="en-US" sz="1600" kern="100" dirty="0" smtClean="0">
                <a:latin typeface="楷体" panose="02010609060101010101" pitchFamily="49" charset="-122"/>
                <a:ea typeface="楷体" panose="02010609060101010101" pitchFamily="49" charset="-122"/>
                <a:cs typeface="宋体" panose="02010600030101010101" pitchFamily="2" charset="-122"/>
              </a:rPr>
              <a:t>顺</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得</a:t>
            </a:r>
            <a:r>
              <a:rPr lang="zh-CN" altLang="zh-CN" sz="1600" kern="100" dirty="0">
                <a:latin typeface="楷体" panose="02010609060101010101" pitchFamily="49" charset="-122"/>
                <a:ea typeface="楷体" panose="02010609060101010101" pitchFamily="49" charset="-122"/>
                <a:cs typeface="宋体" panose="02010600030101010101" pitchFamily="2" charset="-122"/>
              </a:rPr>
              <a:t>掉</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的</a:t>
            </a:r>
            <a:r>
              <a:rPr lang="zh-CN" altLang="en-US" sz="1600" kern="100" dirty="0" smtClean="0">
                <a:latin typeface="楷体" panose="02010609060101010101" pitchFamily="49" charset="-122"/>
                <a:ea typeface="楷体" panose="02010609060101010101" pitchFamily="49" charset="-122"/>
                <a:cs typeface="宋体" panose="02010600030101010101" pitchFamily="2" charset="-122"/>
              </a:rPr>
              <a:t>。也是结合手里控制牌的多少，考虑是主动出，还是等顺牌。</a:t>
            </a:r>
            <a:endParaRPr lang="zh-CN" altLang="zh-CN" sz="1600" kern="100" dirty="0">
              <a:latin typeface="楷体" panose="02010609060101010101" pitchFamily="49" charset="-122"/>
              <a:ea typeface="楷体" panose="02010609060101010101" pitchFamily="49" charset="-122"/>
              <a:cs typeface="宋体" panose="02010600030101010101" pitchFamily="2" charset="-122"/>
            </a:endParaRPr>
          </a:p>
          <a:p>
            <a:pPr algn="just">
              <a:spcAft>
                <a:spcPts val="0"/>
              </a:spcAft>
            </a:pPr>
            <a:r>
              <a:rPr lang="en-US" altLang="zh-CN" sz="1600" kern="100" dirty="0">
                <a:latin typeface="楷体" panose="02010609060101010101" pitchFamily="49" charset="-122"/>
                <a:ea typeface="楷体" panose="02010609060101010101" pitchFamily="49" charset="-122"/>
                <a:cs typeface="宋体" panose="02010600030101010101" pitchFamily="2" charset="-122"/>
              </a:rPr>
              <a:t>3.</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肯定</a:t>
            </a:r>
            <a:r>
              <a:rPr lang="zh-CN" altLang="en-US" sz="1600" kern="100" dirty="0" smtClean="0">
                <a:latin typeface="楷体" panose="02010609060101010101" pitchFamily="49" charset="-122"/>
                <a:ea typeface="楷体" panose="02010609060101010101" pitchFamily="49" charset="-122"/>
                <a:cs typeface="宋体" panose="02010600030101010101" pitchFamily="2" charset="-122"/>
              </a:rPr>
              <a:t>顺</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得</a:t>
            </a:r>
            <a:r>
              <a:rPr lang="zh-CN" altLang="zh-CN" sz="1600" kern="100" dirty="0">
                <a:latin typeface="楷体" panose="02010609060101010101" pitchFamily="49" charset="-122"/>
                <a:ea typeface="楷体" panose="02010609060101010101" pitchFamily="49" charset="-122"/>
                <a:cs typeface="宋体" panose="02010600030101010101" pitchFamily="2" charset="-122"/>
              </a:rPr>
              <a:t>掉</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的</a:t>
            </a:r>
            <a:r>
              <a:rPr lang="zh-CN" altLang="en-US" sz="1600" kern="100" dirty="0" smtClean="0">
                <a:latin typeface="楷体" panose="02010609060101010101" pitchFamily="49" charset="-122"/>
                <a:ea typeface="楷体" panose="02010609060101010101" pitchFamily="49" charset="-122"/>
                <a:cs typeface="宋体" panose="02010600030101010101" pitchFamily="2" charset="-122"/>
              </a:rPr>
              <a:t>。结合手里的牌和搭档的需求及对手的牌路决定如何出。</a:t>
            </a:r>
            <a:endParaRPr lang="en-US" altLang="zh-CN" sz="1600" kern="100" dirty="0" smtClean="0">
              <a:latin typeface="楷体" panose="02010609060101010101" pitchFamily="49" charset="-122"/>
              <a:ea typeface="楷体" panose="02010609060101010101" pitchFamily="49" charset="-122"/>
              <a:cs typeface="宋体" panose="02010600030101010101" pitchFamily="2" charset="-122"/>
            </a:endParaRPr>
          </a:p>
          <a:p>
            <a:pPr algn="just">
              <a:spcAft>
                <a:spcPts val="0"/>
              </a:spcAft>
            </a:pPr>
            <a:r>
              <a:rPr lang="zh-CN" altLang="en-US" sz="1600" kern="100" dirty="0" smtClean="0">
                <a:latin typeface="楷体" panose="02010609060101010101" pitchFamily="49" charset="-122"/>
                <a:ea typeface="楷体" panose="02010609060101010101" pitchFamily="49" charset="-122"/>
                <a:cs typeface="宋体" panose="02010600030101010101" pitchFamily="2" charset="-122"/>
              </a:rPr>
              <a:t>要判断出你需要获得主动权多少次，顺掉多少次（包含自己出某一路特别多的牌持续的过掉），从而计算出整副牌的价值。再加上初始时估算敌方的控制权数量，基本能判断出自己是否能顺利出清手中的牌。</a:t>
            </a:r>
            <a:endParaRPr lang="zh-CN" altLang="zh-CN" sz="1600" kern="100" dirty="0">
              <a:latin typeface="楷体" panose="02010609060101010101" pitchFamily="49" charset="-122"/>
              <a:ea typeface="楷体" panose="02010609060101010101" pitchFamily="49" charset="-122"/>
              <a:cs typeface="宋体" panose="02010600030101010101" pitchFamily="2" charset="-122"/>
            </a:endParaRPr>
          </a:p>
          <a:p>
            <a:pPr algn="just">
              <a:spcAft>
                <a:spcPts val="0"/>
              </a:spcAft>
            </a:pPr>
            <a:r>
              <a:rPr lang="zh-CN" altLang="zh-CN" sz="1600" kern="100" dirty="0">
                <a:latin typeface="楷体" panose="02010609060101010101" pitchFamily="49" charset="-122"/>
                <a:ea typeface="楷体" panose="02010609060101010101" pitchFamily="49" charset="-122"/>
                <a:cs typeface="宋体" panose="02010600030101010101" pitchFamily="2" charset="-122"/>
              </a:rPr>
              <a:t>（二）出手后是否能收回</a:t>
            </a:r>
          </a:p>
          <a:p>
            <a:pPr algn="just">
              <a:spcAft>
                <a:spcPts val="0"/>
              </a:spcAft>
            </a:pPr>
            <a:r>
              <a:rPr lang="zh-CN" altLang="zh-CN" sz="1600" kern="100" dirty="0">
                <a:latin typeface="楷体" panose="02010609060101010101" pitchFamily="49" charset="-122"/>
                <a:ea typeface="楷体" panose="02010609060101010101" pitchFamily="49" charset="-122"/>
                <a:cs typeface="宋体" panose="02010600030101010101" pitchFamily="2" charset="-122"/>
              </a:rPr>
              <a:t>出手无</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回手</a:t>
            </a:r>
            <a:r>
              <a:rPr lang="zh-CN" altLang="en-US" sz="1600" kern="100" dirty="0" smtClean="0">
                <a:latin typeface="楷体" panose="02010609060101010101" pitchFamily="49" charset="-122"/>
                <a:ea typeface="楷体" panose="02010609060101010101" pitchFamily="49" charset="-122"/>
                <a:cs typeface="宋体" panose="02010600030101010101" pitchFamily="2" charset="-122"/>
              </a:rPr>
              <a:t>，同时也要考虑，还有顺掉同类型牌与否及炸弹的多少决定是否出。</a:t>
            </a:r>
            <a:endParaRPr lang="zh-CN" altLang="zh-CN" sz="1600" kern="100" dirty="0">
              <a:latin typeface="楷体" panose="02010609060101010101" pitchFamily="49" charset="-122"/>
              <a:ea typeface="楷体" panose="02010609060101010101" pitchFamily="49" charset="-122"/>
              <a:cs typeface="宋体" panose="02010600030101010101" pitchFamily="2" charset="-122"/>
            </a:endParaRPr>
          </a:p>
          <a:p>
            <a:pPr algn="just">
              <a:spcAft>
                <a:spcPts val="0"/>
              </a:spcAft>
            </a:pPr>
            <a:r>
              <a:rPr lang="zh-CN" altLang="zh-CN" sz="1600" kern="100" dirty="0">
                <a:latin typeface="楷体" panose="02010609060101010101" pitchFamily="49" charset="-122"/>
                <a:ea typeface="楷体" panose="02010609060101010101" pitchFamily="49" charset="-122"/>
                <a:cs typeface="宋体" panose="02010600030101010101" pitchFamily="2" charset="-122"/>
              </a:rPr>
              <a:t>出手有</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回手</a:t>
            </a:r>
            <a:r>
              <a:rPr lang="zh-CN" altLang="en-US" sz="1600" kern="100" dirty="0" smtClean="0">
                <a:latin typeface="楷体" panose="02010609060101010101" pitchFamily="49" charset="-122"/>
                <a:ea typeface="楷体" panose="02010609060101010101" pitchFamily="49" charset="-122"/>
                <a:cs typeface="宋体" panose="02010600030101010101" pitchFamily="2" charset="-122"/>
              </a:rPr>
              <a:t>，这是理想的结构。</a:t>
            </a:r>
            <a:endParaRPr lang="zh-CN" altLang="zh-CN" sz="1600" kern="100" dirty="0">
              <a:latin typeface="楷体" panose="02010609060101010101" pitchFamily="49" charset="-122"/>
              <a:ea typeface="楷体" panose="02010609060101010101" pitchFamily="49" charset="-122"/>
              <a:cs typeface="宋体" panose="02010600030101010101" pitchFamily="2" charset="-122"/>
            </a:endParaRPr>
          </a:p>
          <a:p>
            <a:pPr algn="just">
              <a:spcAft>
                <a:spcPts val="0"/>
              </a:spcAft>
            </a:pPr>
            <a:r>
              <a:rPr lang="zh-CN" altLang="zh-CN" sz="1600" kern="100" dirty="0">
                <a:latin typeface="楷体" panose="02010609060101010101" pitchFamily="49" charset="-122"/>
                <a:ea typeface="楷体" panose="02010609060101010101" pitchFamily="49" charset="-122"/>
                <a:cs typeface="宋体" panose="02010600030101010101" pitchFamily="2" charset="-122"/>
              </a:rPr>
              <a:t>出手可能大</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住</a:t>
            </a:r>
            <a:r>
              <a:rPr lang="zh-CN" altLang="en-US" sz="1600" kern="100" dirty="0" smtClean="0">
                <a:latin typeface="楷体" panose="02010609060101010101" pitchFamily="49" charset="-122"/>
                <a:ea typeface="楷体" panose="02010609060101010101" pitchFamily="49" charset="-122"/>
                <a:cs typeface="宋体" panose="02010600030101010101" pitchFamily="2" charset="-122"/>
              </a:rPr>
              <a:t>，持续输出这类牌是非常爽快的感觉。</a:t>
            </a:r>
            <a:endParaRPr lang="zh-CN" altLang="zh-CN" sz="1600" kern="100" dirty="0">
              <a:latin typeface="楷体" panose="02010609060101010101" pitchFamily="49" charset="-122"/>
              <a:ea typeface="楷体" panose="02010609060101010101" pitchFamily="49" charset="-122"/>
              <a:cs typeface="宋体" panose="02010600030101010101" pitchFamily="2" charset="-122"/>
            </a:endParaRPr>
          </a:p>
          <a:p>
            <a:pPr algn="just">
              <a:spcAft>
                <a:spcPts val="0"/>
              </a:spcAft>
            </a:pPr>
            <a:r>
              <a:rPr lang="zh-CN" altLang="zh-CN" sz="1600" kern="100" dirty="0">
                <a:latin typeface="楷体" panose="02010609060101010101" pitchFamily="49" charset="-122"/>
                <a:ea typeface="楷体" panose="02010609060101010101" pitchFamily="49" charset="-122"/>
                <a:cs typeface="宋体" panose="02010600030101010101" pitchFamily="2" charset="-122"/>
              </a:rPr>
              <a:t>留手可能顺</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出</a:t>
            </a:r>
            <a:r>
              <a:rPr lang="zh-CN" altLang="en-US" sz="1600" kern="100" dirty="0" smtClean="0">
                <a:latin typeface="楷体" panose="02010609060101010101" pitchFamily="49" charset="-122"/>
                <a:ea typeface="楷体" panose="02010609060101010101" pitchFamily="49" charset="-122"/>
                <a:cs typeface="宋体" panose="02010600030101010101" pitchFamily="2" charset="-122"/>
              </a:rPr>
              <a:t>，尽量晚出，等顺出的机会。</a:t>
            </a:r>
            <a:endParaRPr lang="zh-CN" altLang="zh-CN" sz="1600" kern="100" dirty="0">
              <a:latin typeface="楷体" panose="02010609060101010101" pitchFamily="49" charset="-122"/>
              <a:ea typeface="楷体" panose="02010609060101010101" pitchFamily="49" charset="-122"/>
              <a:cs typeface="宋体" panose="02010600030101010101" pitchFamily="2" charset="-122"/>
            </a:endParaRPr>
          </a:p>
          <a:p>
            <a:pPr algn="just">
              <a:spcAft>
                <a:spcPts val="0"/>
              </a:spcAft>
            </a:pPr>
            <a:r>
              <a:rPr lang="zh-CN" altLang="zh-CN" sz="1600" kern="100" dirty="0">
                <a:latin typeface="楷体" panose="02010609060101010101" pitchFamily="49" charset="-122"/>
                <a:ea typeface="楷体" panose="02010609060101010101" pitchFamily="49" charset="-122"/>
                <a:cs typeface="宋体" panose="02010600030101010101" pitchFamily="2" charset="-122"/>
              </a:rPr>
              <a:t>留手可能大</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住</a:t>
            </a:r>
            <a:r>
              <a:rPr lang="zh-CN" altLang="en-US" sz="1600" kern="100" dirty="0" smtClean="0">
                <a:latin typeface="楷体" panose="02010609060101010101" pitchFamily="49" charset="-122"/>
                <a:ea typeface="楷体" panose="02010609060101010101" pitchFamily="49" charset="-122"/>
                <a:cs typeface="宋体" panose="02010600030101010101" pitchFamily="2" charset="-122"/>
              </a:rPr>
              <a:t>（则可持续出手）。</a:t>
            </a:r>
            <a:endParaRPr lang="zh-CN" altLang="zh-CN" sz="1600" kern="100" dirty="0">
              <a:latin typeface="楷体" panose="02010609060101010101" pitchFamily="49" charset="-122"/>
              <a:ea typeface="楷体" panose="02010609060101010101" pitchFamily="49" charset="-122"/>
              <a:cs typeface="宋体" panose="02010600030101010101" pitchFamily="2" charset="-122"/>
            </a:endParaRPr>
          </a:p>
          <a:p>
            <a:pPr algn="just">
              <a:spcAft>
                <a:spcPts val="0"/>
              </a:spcAft>
            </a:pPr>
            <a:r>
              <a:rPr lang="zh-CN" altLang="zh-CN" sz="1600" kern="100" dirty="0">
                <a:latin typeface="楷体" panose="02010609060101010101" pitchFamily="49" charset="-122"/>
                <a:ea typeface="楷体" panose="02010609060101010101" pitchFamily="49" charset="-122"/>
                <a:cs typeface="宋体" panose="02010600030101010101" pitchFamily="2" charset="-122"/>
              </a:rPr>
              <a:t>出手</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给</a:t>
            </a:r>
            <a:r>
              <a:rPr lang="zh-CN" altLang="en-US" sz="1600" kern="100" dirty="0" smtClean="0">
                <a:latin typeface="楷体" panose="02010609060101010101" pitchFamily="49" charset="-122"/>
                <a:ea typeface="楷体" panose="02010609060101010101" pitchFamily="49" charset="-122"/>
                <a:cs typeface="宋体" panose="02010600030101010101" pitchFamily="2" charset="-122"/>
              </a:rPr>
              <a:t>搭档</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顺牌</a:t>
            </a:r>
            <a:r>
              <a:rPr lang="zh-CN" altLang="en-US" sz="1600" kern="100" dirty="0" smtClean="0">
                <a:latin typeface="楷体" panose="02010609060101010101" pitchFamily="49" charset="-122"/>
                <a:ea typeface="楷体" panose="02010609060101010101" pitchFamily="49" charset="-122"/>
                <a:cs typeface="宋体" panose="02010600030101010101" pitchFamily="2" charset="-122"/>
              </a:rPr>
              <a:t>，尽可能的在二选一或三选一时，出这种牌，甚至可能让</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给</a:t>
            </a:r>
            <a:r>
              <a:rPr lang="zh-CN" altLang="zh-CN" sz="1600" kern="100" dirty="0">
                <a:latin typeface="楷体" panose="02010609060101010101" pitchFamily="49" charset="-122"/>
                <a:ea typeface="楷体" panose="02010609060101010101" pitchFamily="49" charset="-122"/>
                <a:cs typeface="宋体" panose="02010600030101010101" pitchFamily="2" charset="-122"/>
              </a:rPr>
              <a:t>下家或上家顺</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牌</a:t>
            </a:r>
            <a:r>
              <a:rPr lang="zh-CN" altLang="en-US" sz="1600" kern="100" dirty="0" smtClean="0">
                <a:latin typeface="楷体" panose="02010609060101010101" pitchFamily="49" charset="-122"/>
                <a:ea typeface="楷体" panose="02010609060101010101" pitchFamily="49" charset="-122"/>
                <a:cs typeface="宋体" panose="02010600030101010101" pitchFamily="2" charset="-122"/>
              </a:rPr>
              <a:t>都愿意。</a:t>
            </a:r>
            <a:endParaRPr lang="zh-CN" altLang="zh-CN" sz="1600" kern="100" dirty="0">
              <a:latin typeface="楷体" panose="02010609060101010101" pitchFamily="49" charset="-122"/>
              <a:ea typeface="楷体" panose="02010609060101010101" pitchFamily="49" charset="-122"/>
              <a:cs typeface="宋体" panose="02010600030101010101" pitchFamily="2" charset="-122"/>
            </a:endParaRPr>
          </a:p>
          <a:p>
            <a:pPr algn="just">
              <a:spcAft>
                <a:spcPts val="0"/>
              </a:spcAft>
            </a:pPr>
            <a:r>
              <a:rPr lang="zh-CN" altLang="zh-CN" sz="1600" kern="100" dirty="0">
                <a:latin typeface="楷体" panose="02010609060101010101" pitchFamily="49" charset="-122"/>
                <a:ea typeface="楷体" panose="02010609060101010101" pitchFamily="49" charset="-122"/>
                <a:cs typeface="宋体" panose="02010600030101010101" pitchFamily="2" charset="-122"/>
              </a:rPr>
              <a:t>出手给下家或上家顺</a:t>
            </a:r>
            <a:r>
              <a:rPr lang="zh-CN" altLang="zh-CN" sz="1600" kern="100" dirty="0" smtClean="0">
                <a:latin typeface="楷体" panose="02010609060101010101" pitchFamily="49" charset="-122"/>
                <a:ea typeface="楷体" panose="02010609060101010101" pitchFamily="49" charset="-122"/>
                <a:cs typeface="宋体" panose="02010600030101010101" pitchFamily="2" charset="-122"/>
              </a:rPr>
              <a:t>牌</a:t>
            </a:r>
            <a:r>
              <a:rPr lang="zh-CN" altLang="en-US" sz="1600" kern="100" dirty="0" smtClean="0">
                <a:latin typeface="楷体" panose="02010609060101010101" pitchFamily="49" charset="-122"/>
                <a:ea typeface="楷体" panose="02010609060101010101" pitchFamily="49" charset="-122"/>
                <a:cs typeface="宋体" panose="02010600030101010101" pitchFamily="2" charset="-122"/>
              </a:rPr>
              <a:t>，这样的牌尽可能不出或晚出（因为晚出了，你的下家或上家等不及，自己出掉了，你就不用给他们顺牌了。</a:t>
            </a:r>
            <a:endParaRPr lang="en-US" altLang="zh-CN" sz="1600" kern="100" dirty="0" smtClean="0">
              <a:latin typeface="楷体" panose="02010609060101010101" pitchFamily="49" charset="-122"/>
              <a:ea typeface="楷体" panose="02010609060101010101" pitchFamily="49" charset="-122"/>
              <a:cs typeface="宋体" panose="02010600030101010101" pitchFamily="2" charset="-122"/>
            </a:endParaRPr>
          </a:p>
        </p:txBody>
      </p:sp>
    </p:spTree>
    <p:custDataLst>
      <p:tags r:id="rId1"/>
    </p:custDataLst>
    <p:extLst>
      <p:ext uri="{BB962C8B-B14F-4D97-AF65-F5344CB8AC3E}">
        <p14:creationId xmlns:p14="http://schemas.microsoft.com/office/powerpoint/2010/main" val="78933965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3.5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掼蛋中对出牌的认识</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778607" y="1363997"/>
            <a:ext cx="9924143" cy="3693319"/>
          </a:xfrm>
          <a:prstGeom prst="rect">
            <a:avLst/>
          </a:prstGeom>
        </p:spPr>
        <p:txBody>
          <a:bodyPr wrap="square">
            <a:spAutoFit/>
          </a:bodyPr>
          <a:lstStyle/>
          <a:p>
            <a:r>
              <a:rPr lang="zh-CN" altLang="en-US" dirty="0" smtClean="0">
                <a:latin typeface="楷体" panose="02010609060101010101" pitchFamily="49" charset="-122"/>
                <a:ea typeface="楷体" panose="02010609060101010101" pitchFamily="49" charset="-122"/>
              </a:rPr>
              <a:t>在打牌进程中还要注意：</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1</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出牌的先后次序。比如你有：QQQQ</a:t>
            </a:r>
            <a:r>
              <a:rPr lang="zh-CN" altLang="en-US" dirty="0">
                <a:latin typeface="楷体" panose="02010609060101010101" pitchFamily="49" charset="-122"/>
                <a:ea typeface="楷体" panose="02010609060101010101" pitchFamily="49" charset="-122"/>
              </a:rPr>
              <a:t>、大王、</a:t>
            </a:r>
            <a:r>
              <a:rPr lang="zh-CN" altLang="en-US" dirty="0" smtClean="0">
                <a:latin typeface="楷体" panose="02010609060101010101" pitchFamily="49" charset="-122"/>
                <a:ea typeface="楷体" panose="02010609060101010101" pitchFamily="49" charset="-122"/>
              </a:rPr>
              <a:t>2、99933、8。此时</a:t>
            </a:r>
            <a:r>
              <a:rPr lang="zh-CN" altLang="en-US" dirty="0">
                <a:latin typeface="楷体" panose="02010609060101010101" pitchFamily="49" charset="-122"/>
                <a:ea typeface="楷体" panose="02010609060101010101" pitchFamily="49" charset="-122"/>
              </a:rPr>
              <a:t>先出 8 顺走 2 并用大王回收，一路下来减少了 3 手牌。如果先出 99933 被盖住后，只减少了一手牌，之后如果无人出单路，想拿头游就很难了</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2</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组</a:t>
            </a:r>
            <a:r>
              <a:rPr lang="zh-CN" altLang="en-US" dirty="0">
                <a:latin typeface="楷体" panose="02010609060101010101" pitchFamily="49" charset="-122"/>
                <a:ea typeface="楷体" panose="02010609060101010101" pitchFamily="49" charset="-122"/>
              </a:rPr>
              <a:t>牌适时出小的 3+2 和小的顺子，开始出大多能被敌方盖住，相当于出一次赘牌。如果到了后期，敌方的大组牌已出，你的小组牌就有</a:t>
            </a:r>
            <a:r>
              <a:rPr lang="zh-CN" altLang="en-US" dirty="0" smtClean="0">
                <a:latin typeface="楷体" panose="02010609060101010101" pitchFamily="49" charset="-122"/>
                <a:ea typeface="楷体" panose="02010609060101010101" pitchFamily="49" charset="-122"/>
              </a:rPr>
              <a:t>可能顶级，</a:t>
            </a:r>
            <a:r>
              <a:rPr lang="zh-CN" altLang="en-US" dirty="0">
                <a:latin typeface="楷体" panose="02010609060101010101" pitchFamily="49" charset="-122"/>
                <a:ea typeface="楷体" panose="02010609060101010101" pitchFamily="49" charset="-122"/>
              </a:rPr>
              <a:t>无形中相当于减少了 1 手牌。当然，如果组牌能回收就可以考虑先出</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3</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保留</a:t>
            </a:r>
            <a:r>
              <a:rPr lang="zh-CN" altLang="en-US" dirty="0">
                <a:latin typeface="楷体" panose="02010609060101010101" pitchFamily="49" charset="-122"/>
                <a:ea typeface="楷体" panose="02010609060101010101" pitchFamily="49" charset="-122"/>
              </a:rPr>
              <a:t>对方可能有的牌</a:t>
            </a:r>
            <a:r>
              <a:rPr lang="zh-CN" altLang="en-US" dirty="0" smtClean="0">
                <a:latin typeface="楷体" panose="02010609060101010101" pitchFamily="49" charset="-122"/>
                <a:ea typeface="楷体" panose="02010609060101010101" pitchFamily="49" charset="-122"/>
              </a:rPr>
              <a:t>路。敌方</a:t>
            </a:r>
            <a:r>
              <a:rPr lang="zh-CN" altLang="en-US" dirty="0">
                <a:latin typeface="楷体" panose="02010609060101010101" pitchFamily="49" charset="-122"/>
                <a:ea typeface="楷体" panose="02010609060101010101" pitchFamily="49" charset="-122"/>
              </a:rPr>
              <a:t>某一位不吃 3+2，则手中的 KQJ109 可保留不发，因为其很可能有顺子。等他发顺子时，不仅可以截住对方，而且自然减少了手数</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4</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调</a:t>
            </a:r>
            <a:r>
              <a:rPr lang="zh-CN" altLang="en-US" dirty="0">
                <a:latin typeface="楷体" panose="02010609060101010101" pitchFamily="49" charset="-122"/>
                <a:ea typeface="楷体" panose="02010609060101010101" pitchFamily="49" charset="-122"/>
              </a:rPr>
              <a:t>成对方要不住的牌</a:t>
            </a:r>
            <a:r>
              <a:rPr lang="zh-CN" altLang="en-US" dirty="0" smtClean="0">
                <a:latin typeface="楷体" panose="02010609060101010101" pitchFamily="49" charset="-122"/>
                <a:ea typeface="楷体" panose="02010609060101010101" pitchFamily="49" charset="-122"/>
              </a:rPr>
              <a:t>路。手中组不成同花顺的8877665544，打牌</a:t>
            </a:r>
            <a:r>
              <a:rPr lang="zh-CN" altLang="en-US" dirty="0">
                <a:latin typeface="楷体" panose="02010609060101010101" pitchFamily="49" charset="-122"/>
                <a:ea typeface="楷体" panose="02010609060101010101" pitchFamily="49" charset="-122"/>
              </a:rPr>
              <a:t>过程</a:t>
            </a:r>
            <a:r>
              <a:rPr lang="zh-CN" altLang="en-US" dirty="0" smtClean="0">
                <a:latin typeface="楷体" panose="02010609060101010101" pitchFamily="49" charset="-122"/>
                <a:ea typeface="楷体" panose="02010609060101010101" pitchFamily="49" charset="-122"/>
              </a:rPr>
              <a:t>中视情况可心变成两顺、三连对加两对，甚至有可能拆单打等。如果是组不成同花顺的</a:t>
            </a:r>
            <a:r>
              <a:rPr lang="en-US" altLang="zh-CN" dirty="0" smtClean="0">
                <a:latin typeface="楷体" panose="02010609060101010101" pitchFamily="49" charset="-122"/>
                <a:ea typeface="楷体" panose="02010609060101010101" pitchFamily="49" charset="-122"/>
              </a:rPr>
              <a:t>KKQQJJ101099</a:t>
            </a:r>
            <a:r>
              <a:rPr lang="zh-CN" altLang="en-US" dirty="0" smtClean="0">
                <a:latin typeface="楷体" panose="02010609060101010101" pitchFamily="49" charset="-122"/>
                <a:ea typeface="楷体" panose="02010609060101010101" pitchFamily="49" charset="-122"/>
              </a:rPr>
              <a:t>，更要多思考如何使用。因为在对手对子多的时候，你的每一对，都可能是对对方的阻击。但在对手打出小顺子时，你则可以用两套顺子对付他们。</a:t>
            </a:r>
            <a:endParaRPr lang="zh-CN" altLang="en-US" dirty="0">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30795568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nSpc>
                <a:spcPct val="120000"/>
              </a:lnSpc>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3.6 </a:t>
            </a:r>
            <a:r>
              <a:rPr lang="zh-CN" altLang="en-US" sz="2400" dirty="0">
                <a:solidFill>
                  <a:srgbClr val="0F2C5D"/>
                </a:solidFill>
                <a:latin typeface="黑体" panose="02010609060101010101" charset="-122"/>
                <a:ea typeface="黑体" panose="02010609060101010101" charset="-122"/>
                <a:cs typeface="黑体" panose="02010609060101010101" charset="-122"/>
              </a:rPr>
              <a:t>掼蛋中炸弹的运用</a:t>
            </a: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77049" y="1095360"/>
            <a:ext cx="10688714" cy="4801314"/>
          </a:xfrm>
          <a:prstGeom prst="rect">
            <a:avLst/>
          </a:prstGeom>
        </p:spPr>
        <p:txBody>
          <a:bodyPr wrap="square">
            <a:spAutoFit/>
          </a:bodyPr>
          <a:lstStyle/>
          <a:p>
            <a:r>
              <a:rPr lang="zh-CN" altLang="en-US" dirty="0" smtClean="0">
                <a:latin typeface="楷体" panose="02010609060101010101" pitchFamily="49" charset="-122"/>
                <a:ea typeface="楷体" panose="02010609060101010101" pitchFamily="49" charset="-122"/>
              </a:rPr>
              <a:t>一、配</a:t>
            </a:r>
            <a:r>
              <a:rPr lang="zh-CN" altLang="en-US" dirty="0">
                <a:latin typeface="楷体" panose="02010609060101010101" pitchFamily="49" charset="-122"/>
                <a:ea typeface="楷体" panose="02010609060101010101" pitchFamily="49" charset="-122"/>
              </a:rPr>
              <a:t>炸的</a:t>
            </a:r>
            <a:r>
              <a:rPr lang="zh-CN" altLang="en-US" dirty="0" smtClean="0">
                <a:latin typeface="楷体" panose="02010609060101010101" pitchFamily="49" charset="-122"/>
                <a:ea typeface="楷体" panose="02010609060101010101" pitchFamily="49" charset="-122"/>
              </a:rPr>
              <a:t>技巧</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（一）炸弹</a:t>
            </a:r>
            <a:r>
              <a:rPr lang="zh-CN" altLang="en-US" dirty="0">
                <a:latin typeface="楷体" panose="02010609060101010101" pitchFamily="49" charset="-122"/>
                <a:ea typeface="楷体" panose="02010609060101010101" pitchFamily="49" charset="-122"/>
              </a:rPr>
              <a:t>的</a:t>
            </a:r>
            <a:r>
              <a:rPr lang="zh-CN" altLang="en-US" dirty="0" smtClean="0">
                <a:latin typeface="楷体" panose="02010609060101010101" pitchFamily="49" charset="-122"/>
                <a:ea typeface="楷体" panose="02010609060101010101" pitchFamily="49" charset="-122"/>
              </a:rPr>
              <a:t>类型</a:t>
            </a:r>
            <a:endParaRPr lang="en-US" altLang="zh-CN" dirty="0" smtClean="0">
              <a:latin typeface="楷体" panose="02010609060101010101" pitchFamily="49" charset="-122"/>
              <a:ea typeface="楷体" panose="02010609060101010101" pitchFamily="49" charset="-122"/>
            </a:endParaRPr>
          </a:p>
          <a:p>
            <a:r>
              <a:rPr lang="en-US" altLang="zh-CN" dirty="0" smtClean="0">
                <a:latin typeface="楷体" panose="02010609060101010101" pitchFamily="49" charset="-122"/>
                <a:ea typeface="楷体" panose="02010609060101010101" pitchFamily="49" charset="-122"/>
              </a:rPr>
              <a:t>1.</a:t>
            </a:r>
            <a:r>
              <a:rPr lang="zh-CN" altLang="en-US" dirty="0" smtClean="0">
                <a:latin typeface="楷体" panose="02010609060101010101" pitchFamily="49" charset="-122"/>
                <a:ea typeface="楷体" panose="02010609060101010101" pitchFamily="49" charset="-122"/>
              </a:rPr>
              <a:t>普通炸：</a:t>
            </a:r>
            <a:r>
              <a:rPr lang="en-US" altLang="zh-CN" dirty="0" smtClean="0">
                <a:latin typeface="楷体" panose="02010609060101010101" pitchFamily="49" charset="-122"/>
                <a:ea typeface="楷体" panose="02010609060101010101" pitchFamily="49" charset="-122"/>
              </a:rPr>
              <a:t>4</a:t>
            </a:r>
            <a:r>
              <a:rPr lang="zh-CN" altLang="en-US" dirty="0" smtClean="0">
                <a:latin typeface="楷体" panose="02010609060101010101" pitchFamily="49" charset="-122"/>
                <a:ea typeface="楷体" panose="02010609060101010101" pitchFamily="49" charset="-122"/>
              </a:rPr>
              <a:t>张～</a:t>
            </a:r>
            <a:r>
              <a:rPr lang="en-US" altLang="zh-CN" dirty="0" smtClean="0">
                <a:latin typeface="楷体" panose="02010609060101010101" pitchFamily="49" charset="-122"/>
                <a:ea typeface="楷体" panose="02010609060101010101" pitchFamily="49" charset="-122"/>
              </a:rPr>
              <a:t>8</a:t>
            </a:r>
            <a:r>
              <a:rPr lang="zh-CN" altLang="en-US" dirty="0" smtClean="0">
                <a:latin typeface="楷体" panose="02010609060101010101" pitchFamily="49" charset="-122"/>
                <a:ea typeface="楷体" panose="02010609060101010101" pitchFamily="49" charset="-122"/>
              </a:rPr>
              <a:t>张，</a:t>
            </a:r>
            <a:r>
              <a:rPr lang="zh-CN" altLang="en-US" dirty="0">
                <a:latin typeface="楷体" panose="02010609060101010101" pitchFamily="49" charset="-122"/>
                <a:ea typeface="楷体" panose="02010609060101010101" pitchFamily="49" charset="-122"/>
              </a:rPr>
              <a:t>不考虑逢人配，</a:t>
            </a:r>
            <a:r>
              <a:rPr lang="en-US" altLang="zh-CN" dirty="0" smtClean="0">
                <a:latin typeface="楷体" panose="02010609060101010101" pitchFamily="49" charset="-122"/>
                <a:ea typeface="楷体" panose="02010609060101010101" pitchFamily="49" charset="-122"/>
              </a:rPr>
              <a:t>7</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8</a:t>
            </a:r>
            <a:r>
              <a:rPr lang="zh-CN" altLang="en-US" dirty="0" smtClean="0">
                <a:latin typeface="楷体" panose="02010609060101010101" pitchFamily="49" charset="-122"/>
                <a:ea typeface="楷体" panose="02010609060101010101" pitchFamily="49" charset="-122"/>
              </a:rPr>
              <a:t>张的炸弹有时候</a:t>
            </a:r>
            <a:r>
              <a:rPr lang="zh-CN" altLang="en-US" dirty="0">
                <a:latin typeface="楷体" panose="02010609060101010101" pitchFamily="49" charset="-122"/>
                <a:ea typeface="楷体" panose="02010609060101010101" pitchFamily="49" charset="-122"/>
              </a:rPr>
              <a:t>打一年牌也碰不到一次，极为少见</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en-US" altLang="zh-CN" dirty="0" smtClean="0">
                <a:latin typeface="楷体" panose="02010609060101010101" pitchFamily="49" charset="-122"/>
                <a:ea typeface="楷体" panose="02010609060101010101" pitchFamily="49" charset="-122"/>
              </a:rPr>
              <a:t>2.</a:t>
            </a:r>
            <a:r>
              <a:rPr lang="zh-CN" altLang="en-US" dirty="0" smtClean="0">
                <a:latin typeface="楷体" panose="02010609060101010101" pitchFamily="49" charset="-122"/>
                <a:ea typeface="楷体" panose="02010609060101010101" pitchFamily="49" charset="-122"/>
              </a:rPr>
              <a:t>王</a:t>
            </a:r>
            <a:r>
              <a:rPr lang="zh-CN" altLang="en-US" dirty="0">
                <a:latin typeface="楷体" panose="02010609060101010101" pitchFamily="49" charset="-122"/>
                <a:ea typeface="楷体" panose="02010609060101010101" pitchFamily="49" charset="-122"/>
              </a:rPr>
              <a:t>炸：虽然起手就有的可能性不大，但考虑到进贡因素，在一局牌中还是偶尔能见到的</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en-US" altLang="zh-CN" dirty="0" smtClean="0">
                <a:latin typeface="楷体" panose="02010609060101010101" pitchFamily="49" charset="-122"/>
                <a:ea typeface="楷体" panose="02010609060101010101" pitchFamily="49" charset="-122"/>
              </a:rPr>
              <a:t>3.</a:t>
            </a:r>
            <a:r>
              <a:rPr lang="zh-CN" altLang="en-US" dirty="0" smtClean="0">
                <a:latin typeface="楷体" panose="02010609060101010101" pitchFamily="49" charset="-122"/>
                <a:ea typeface="楷体" panose="02010609060101010101" pitchFamily="49" charset="-122"/>
              </a:rPr>
              <a:t>同</a:t>
            </a:r>
            <a:r>
              <a:rPr lang="zh-CN" altLang="en-US" dirty="0">
                <a:latin typeface="楷体" panose="02010609060101010101" pitchFamily="49" charset="-122"/>
                <a:ea typeface="楷体" panose="02010609060101010101" pitchFamily="49" charset="-122"/>
              </a:rPr>
              <a:t>花炸：火力强大，深受牌手喜爱，因为有逢人配补缺，所有几乎盘盘都有人配同花炸</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据概率计算和红配全配炸弹推断：一轮中</a:t>
            </a:r>
            <a:r>
              <a:rPr lang="zh-CN" altLang="en-US" dirty="0">
                <a:latin typeface="楷体" panose="02010609060101010101" pitchFamily="49" charset="-122"/>
                <a:ea typeface="楷体" panose="02010609060101010101" pitchFamily="49" charset="-122"/>
              </a:rPr>
              <a:t>，四人共有</a:t>
            </a:r>
            <a:r>
              <a:rPr lang="zh-CN" altLang="en-US" dirty="0" smtClean="0">
                <a:latin typeface="楷体" panose="02010609060101010101" pitchFamily="49" charset="-122"/>
                <a:ea typeface="楷体" panose="02010609060101010101" pitchFamily="49" charset="-122"/>
              </a:rPr>
              <a:t>平均</a:t>
            </a:r>
            <a:r>
              <a:rPr lang="en-US" altLang="zh-CN" dirty="0" smtClean="0">
                <a:latin typeface="楷体" panose="02010609060101010101" pitchFamily="49" charset="-122"/>
                <a:ea typeface="楷体" panose="02010609060101010101" pitchFamily="49" charset="-122"/>
              </a:rPr>
              <a:t>10</a:t>
            </a:r>
            <a:r>
              <a:rPr lang="zh-CN" altLang="en-US" dirty="0" smtClean="0">
                <a:latin typeface="楷体" panose="02010609060101010101" pitchFamily="49" charset="-122"/>
                <a:ea typeface="楷体" panose="02010609060101010101" pitchFamily="49" charset="-122"/>
              </a:rPr>
              <a:t>个</a:t>
            </a:r>
            <a:r>
              <a:rPr lang="zh-CN" altLang="en-US" dirty="0">
                <a:latin typeface="楷体" panose="02010609060101010101" pitchFamily="49" charset="-122"/>
                <a:ea typeface="楷体" panose="02010609060101010101" pitchFamily="49" charset="-122"/>
              </a:rPr>
              <a:t>炸弹</a:t>
            </a:r>
            <a:r>
              <a:rPr lang="zh-CN" altLang="en-US" dirty="0" smtClean="0">
                <a:latin typeface="楷体" panose="02010609060101010101" pitchFamily="49" charset="-122"/>
                <a:ea typeface="楷体" panose="02010609060101010101" pitchFamily="49" charset="-122"/>
              </a:rPr>
              <a:t>，其中：普通炸</a:t>
            </a:r>
            <a:r>
              <a:rPr lang="en-US" altLang="zh-CN" dirty="0" smtClean="0">
                <a:latin typeface="楷体" panose="02010609060101010101" pitchFamily="49" charset="-122"/>
                <a:ea typeface="楷体" panose="02010609060101010101" pitchFamily="49" charset="-122"/>
              </a:rPr>
              <a:t>6.8</a:t>
            </a:r>
            <a:r>
              <a:rPr lang="zh-CN" altLang="en-US" dirty="0" smtClean="0">
                <a:latin typeface="楷体" panose="02010609060101010101" pitchFamily="49" charset="-122"/>
                <a:ea typeface="楷体" panose="02010609060101010101" pitchFamily="49" charset="-122"/>
              </a:rPr>
              <a:t>个</a:t>
            </a:r>
            <a:r>
              <a:rPr lang="zh-CN" altLang="en-US" dirty="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其中</a:t>
            </a:r>
            <a:r>
              <a:rPr lang="en-US" altLang="zh-CN" dirty="0" smtClean="0">
                <a:latin typeface="楷体" panose="02010609060101010101" pitchFamily="49" charset="-122"/>
                <a:ea typeface="楷体" panose="02010609060101010101" pitchFamily="49" charset="-122"/>
              </a:rPr>
              <a:t>4</a:t>
            </a:r>
            <a:r>
              <a:rPr lang="zh-CN" altLang="en-US" dirty="0" smtClean="0">
                <a:latin typeface="楷体" panose="02010609060101010101" pitchFamily="49" charset="-122"/>
                <a:ea typeface="楷体" panose="02010609060101010101" pitchFamily="49" charset="-122"/>
              </a:rPr>
              <a:t>头：</a:t>
            </a:r>
            <a:r>
              <a:rPr lang="en-US" altLang="zh-CN" dirty="0" smtClean="0">
                <a:latin typeface="楷体" panose="02010609060101010101" pitchFamily="49" charset="-122"/>
                <a:ea typeface="楷体" panose="02010609060101010101" pitchFamily="49" charset="-122"/>
              </a:rPr>
              <a:t>6.7</a:t>
            </a:r>
            <a:r>
              <a:rPr lang="zh-CN" altLang="en-US" dirty="0" smtClean="0">
                <a:latin typeface="楷体" panose="02010609060101010101" pitchFamily="49" charset="-122"/>
                <a:ea typeface="楷体" panose="02010609060101010101" pitchFamily="49" charset="-122"/>
              </a:rPr>
              <a:t>个</a:t>
            </a:r>
            <a:r>
              <a:rPr lang="zh-CN" altLang="en-US" dirty="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5</a:t>
            </a:r>
            <a:r>
              <a:rPr lang="zh-CN" altLang="en-US" dirty="0" smtClean="0">
                <a:latin typeface="楷体" panose="02010609060101010101" pitchFamily="49" charset="-122"/>
                <a:ea typeface="楷体" panose="02010609060101010101" pitchFamily="49" charset="-122"/>
              </a:rPr>
              <a:t>头：</a:t>
            </a:r>
            <a:r>
              <a:rPr lang="en-US" altLang="zh-CN" dirty="0" smtClean="0">
                <a:latin typeface="楷体" panose="02010609060101010101" pitchFamily="49" charset="-122"/>
                <a:ea typeface="楷体" panose="02010609060101010101" pitchFamily="49" charset="-122"/>
              </a:rPr>
              <a:t>1.57</a:t>
            </a:r>
            <a:r>
              <a:rPr lang="zh-CN" altLang="en-US" dirty="0" smtClean="0">
                <a:latin typeface="楷体" panose="02010609060101010101" pitchFamily="49" charset="-122"/>
                <a:ea typeface="楷体" panose="02010609060101010101" pitchFamily="49" charset="-122"/>
              </a:rPr>
              <a:t>个</a:t>
            </a:r>
            <a:r>
              <a:rPr lang="zh-CN" altLang="en-US" dirty="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6</a:t>
            </a:r>
            <a:r>
              <a:rPr lang="zh-CN" altLang="en-US" dirty="0" smtClean="0">
                <a:latin typeface="楷体" panose="02010609060101010101" pitchFamily="49" charset="-122"/>
                <a:ea typeface="楷体" panose="02010609060101010101" pitchFamily="49" charset="-122"/>
              </a:rPr>
              <a:t>头</a:t>
            </a:r>
            <a:r>
              <a:rPr lang="en-US" altLang="zh-CN" dirty="0" smtClean="0">
                <a:latin typeface="楷体" panose="02010609060101010101" pitchFamily="49" charset="-122"/>
                <a:ea typeface="楷体" panose="02010609060101010101" pitchFamily="49" charset="-122"/>
              </a:rPr>
              <a:t>0.2</a:t>
            </a:r>
            <a:r>
              <a:rPr lang="zh-CN" altLang="en-US" dirty="0" smtClean="0">
                <a:latin typeface="楷体" panose="02010609060101010101" pitchFamily="49" charset="-122"/>
                <a:ea typeface="楷体" panose="02010609060101010101" pitchFamily="49" charset="-122"/>
              </a:rPr>
              <a:t>个</a:t>
            </a:r>
            <a:r>
              <a:rPr lang="zh-CN" altLang="en-US" dirty="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7</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8</a:t>
            </a:r>
            <a:r>
              <a:rPr lang="zh-CN" altLang="en-US" dirty="0" smtClean="0">
                <a:latin typeface="楷体" panose="02010609060101010101" pitchFamily="49" charset="-122"/>
                <a:ea typeface="楷体" panose="02010609060101010101" pitchFamily="49" charset="-122"/>
              </a:rPr>
              <a:t>头</a:t>
            </a:r>
            <a:r>
              <a:rPr lang="zh-CN" altLang="en-US" dirty="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0.02</a:t>
            </a:r>
            <a:r>
              <a:rPr lang="zh-CN" altLang="en-US" dirty="0" smtClean="0">
                <a:latin typeface="楷体" panose="02010609060101010101" pitchFamily="49" charset="-122"/>
                <a:ea typeface="楷体" panose="02010609060101010101" pitchFamily="49" charset="-122"/>
              </a:rPr>
              <a:t>个</a:t>
            </a:r>
            <a:r>
              <a:rPr lang="zh-CN" altLang="en-US" dirty="0">
                <a:latin typeface="楷体" panose="02010609060101010101" pitchFamily="49" charset="-122"/>
                <a:ea typeface="楷体" panose="02010609060101010101" pitchFamily="49" charset="-122"/>
              </a:rPr>
              <a:t>。同花</a:t>
            </a:r>
            <a:r>
              <a:rPr lang="zh-CN" altLang="en-US" dirty="0" smtClean="0">
                <a:latin typeface="楷体" panose="02010609060101010101" pitchFamily="49" charset="-122"/>
                <a:ea typeface="楷体" panose="02010609060101010101" pitchFamily="49" charset="-122"/>
              </a:rPr>
              <a:t>炸</a:t>
            </a:r>
            <a:r>
              <a:rPr lang="en-US" altLang="zh-CN" dirty="0" smtClean="0">
                <a:latin typeface="楷体" panose="02010609060101010101" pitchFamily="49" charset="-122"/>
                <a:ea typeface="楷体" panose="02010609060101010101" pitchFamily="49" charset="-122"/>
              </a:rPr>
              <a:t>1.4</a:t>
            </a:r>
            <a:r>
              <a:rPr lang="zh-CN" altLang="en-US" dirty="0" smtClean="0">
                <a:latin typeface="楷体" panose="02010609060101010101" pitchFamily="49" charset="-122"/>
                <a:ea typeface="楷体" panose="02010609060101010101" pitchFamily="49" charset="-122"/>
              </a:rPr>
              <a:t>个</a:t>
            </a:r>
            <a:r>
              <a:rPr lang="zh-CN" altLang="en-US" dirty="0">
                <a:latin typeface="楷体" panose="02010609060101010101" pitchFamily="49" charset="-122"/>
                <a:ea typeface="楷体" panose="02010609060101010101" pitchFamily="49" charset="-122"/>
              </a:rPr>
              <a:t>。王</a:t>
            </a:r>
            <a:r>
              <a:rPr lang="zh-CN" altLang="en-US" dirty="0" smtClean="0">
                <a:latin typeface="楷体" panose="02010609060101010101" pitchFamily="49" charset="-122"/>
                <a:ea typeface="楷体" panose="02010609060101010101" pitchFamily="49" charset="-122"/>
              </a:rPr>
              <a:t>炸</a:t>
            </a:r>
            <a:r>
              <a:rPr lang="en-US" altLang="zh-CN" dirty="0" smtClean="0">
                <a:latin typeface="楷体" panose="02010609060101010101" pitchFamily="49" charset="-122"/>
                <a:ea typeface="楷体" panose="02010609060101010101" pitchFamily="49" charset="-122"/>
              </a:rPr>
              <a:t>0.01</a:t>
            </a:r>
            <a:r>
              <a:rPr lang="zh-CN" altLang="en-US" dirty="0" smtClean="0">
                <a:latin typeface="楷体" panose="02010609060101010101" pitchFamily="49" charset="-122"/>
                <a:ea typeface="楷体" panose="02010609060101010101" pitchFamily="49" charset="-122"/>
              </a:rPr>
              <a:t>个</a:t>
            </a:r>
            <a:r>
              <a:rPr lang="zh-CN" altLang="en-US" dirty="0">
                <a:latin typeface="楷体" panose="02010609060101010101" pitchFamily="49" charset="-122"/>
                <a:ea typeface="楷体" panose="02010609060101010101" pitchFamily="49" charset="-122"/>
              </a:rPr>
              <a:t>。因此，</a:t>
            </a:r>
            <a:r>
              <a:rPr lang="zh-CN" altLang="en-US" dirty="0" smtClean="0">
                <a:latin typeface="楷体" panose="02010609060101010101" pitchFamily="49" charset="-122"/>
                <a:ea typeface="楷体" panose="02010609060101010101" pitchFamily="49" charset="-122"/>
              </a:rPr>
              <a:t>用</a:t>
            </a:r>
            <a:r>
              <a:rPr lang="en-US" altLang="zh-CN" dirty="0" smtClean="0">
                <a:latin typeface="楷体" panose="02010609060101010101" pitchFamily="49" charset="-122"/>
                <a:ea typeface="楷体" panose="02010609060101010101" pitchFamily="49" charset="-122"/>
              </a:rPr>
              <a:t>6</a:t>
            </a:r>
            <a:r>
              <a:rPr lang="zh-CN" altLang="en-US" dirty="0" smtClean="0">
                <a:latin typeface="楷体" panose="02010609060101010101" pitchFamily="49" charset="-122"/>
                <a:ea typeface="楷体" panose="02010609060101010101" pitchFamily="49" charset="-122"/>
              </a:rPr>
              <a:t>头</a:t>
            </a:r>
            <a:r>
              <a:rPr lang="zh-CN" altLang="en-US" dirty="0">
                <a:latin typeface="楷体" panose="02010609060101010101" pitchFamily="49" charset="-122"/>
                <a:ea typeface="楷体" panose="02010609060101010101" pitchFamily="49" charset="-122"/>
              </a:rPr>
              <a:t>炸</a:t>
            </a:r>
            <a:r>
              <a:rPr lang="zh-CN" altLang="en-US" dirty="0" smtClean="0">
                <a:latin typeface="楷体" panose="02010609060101010101" pitchFamily="49" charset="-122"/>
                <a:ea typeface="楷体" panose="02010609060101010101" pitchFamily="49" charset="-122"/>
              </a:rPr>
              <a:t>或顶级同</a:t>
            </a:r>
            <a:r>
              <a:rPr lang="zh-CN" altLang="en-US" dirty="0">
                <a:latin typeface="楷体" panose="02010609060101010101" pitchFamily="49" charset="-122"/>
                <a:ea typeface="楷体" panose="02010609060101010101" pitchFamily="49" charset="-122"/>
              </a:rPr>
              <a:t>花闯关成功的可能性非常</a:t>
            </a:r>
            <a:r>
              <a:rPr lang="zh-CN" altLang="en-US" dirty="0" smtClean="0">
                <a:latin typeface="楷体" panose="02010609060101010101" pitchFamily="49" charset="-122"/>
                <a:ea typeface="楷体" panose="02010609060101010101" pitchFamily="49" charset="-122"/>
              </a:rPr>
              <a:t>大。</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（二）配</a:t>
            </a:r>
            <a:r>
              <a:rPr lang="zh-CN" altLang="en-US" dirty="0">
                <a:latin typeface="楷体" panose="02010609060101010101" pitchFamily="49" charset="-122"/>
                <a:ea typeface="楷体" panose="02010609060101010101" pitchFamily="49" charset="-122"/>
              </a:rPr>
              <a:t>炸的技巧</a:t>
            </a:r>
            <a:endParaRPr lang="en-US" altLang="zh-CN" dirty="0">
              <a:latin typeface="楷体" panose="02010609060101010101" pitchFamily="49" charset="-122"/>
              <a:ea typeface="楷体" panose="02010609060101010101" pitchFamily="49" charset="-122"/>
            </a:endParaRPr>
          </a:p>
          <a:p>
            <a:r>
              <a:rPr lang="zh-CN" altLang="en-US" dirty="0" smtClean="0">
                <a:solidFill>
                  <a:srgbClr val="FF0000"/>
                </a:solidFill>
                <a:latin typeface="楷体" panose="02010609060101010101" pitchFamily="49" charset="-122"/>
                <a:ea typeface="楷体" panose="02010609060101010101" pitchFamily="49" charset="-122"/>
              </a:rPr>
              <a:t>技巧</a:t>
            </a:r>
            <a:r>
              <a:rPr lang="zh-CN" altLang="en-US" dirty="0">
                <a:solidFill>
                  <a:srgbClr val="FF0000"/>
                </a:solidFill>
                <a:latin typeface="楷体" panose="02010609060101010101" pitchFamily="49" charset="-122"/>
                <a:ea typeface="楷体" panose="02010609060101010101" pitchFamily="49" charset="-122"/>
              </a:rPr>
              <a:t>一：</a:t>
            </a:r>
            <a:r>
              <a:rPr lang="zh-CN" altLang="en-US" dirty="0">
                <a:latin typeface="楷体" panose="02010609060101010101" pitchFamily="49" charset="-122"/>
                <a:ea typeface="楷体" panose="02010609060101010101" pitchFamily="49" charset="-122"/>
              </a:rPr>
              <a:t>炸弹数量</a:t>
            </a:r>
            <a:r>
              <a:rPr lang="zh-CN" altLang="en-US" dirty="0" smtClean="0">
                <a:latin typeface="楷体" panose="02010609060101010101" pitchFamily="49" charset="-122"/>
                <a:ea typeface="楷体" panose="02010609060101010101" pitchFamily="49" charset="-122"/>
              </a:rPr>
              <a:t>越多越好，数量</a:t>
            </a:r>
            <a:r>
              <a:rPr lang="zh-CN" altLang="en-US" dirty="0">
                <a:latin typeface="楷体" panose="02010609060101010101" pitchFamily="49" charset="-122"/>
                <a:ea typeface="楷体" panose="02010609060101010101" pitchFamily="49" charset="-122"/>
              </a:rPr>
              <a:t>越多</a:t>
            </a:r>
            <a:r>
              <a:rPr lang="zh-CN" altLang="en-US" dirty="0" smtClean="0">
                <a:latin typeface="楷体" panose="02010609060101010101" pitchFamily="49" charset="-122"/>
                <a:ea typeface="楷体" panose="02010609060101010101" pitchFamily="49" charset="-122"/>
              </a:rPr>
              <a:t>，控制权（上手权）就越多，牌</a:t>
            </a:r>
            <a:r>
              <a:rPr lang="zh-CN" altLang="en-US" dirty="0">
                <a:latin typeface="楷体" panose="02010609060101010101" pitchFamily="49" charset="-122"/>
                <a:ea typeface="楷体" panose="02010609060101010101" pitchFamily="49" charset="-122"/>
              </a:rPr>
              <a:t>力越强</a:t>
            </a:r>
            <a:r>
              <a:rPr lang="zh-CN" altLang="en-US" dirty="0" smtClean="0">
                <a:latin typeface="楷体" panose="02010609060101010101" pitchFamily="49" charset="-122"/>
                <a:ea typeface="楷体" panose="02010609060101010101" pitchFamily="49" charset="-122"/>
              </a:rPr>
              <a:t>。思考：</a:t>
            </a:r>
            <a:r>
              <a:rPr lang="zh-CN" altLang="en-US" dirty="0">
                <a:latin typeface="楷体" panose="02010609060101010101" pitchFamily="49" charset="-122"/>
                <a:ea typeface="楷体" panose="02010609060101010101" pitchFamily="49" charset="-122"/>
              </a:rPr>
              <a:t>如果多配一把炸弹，导致赘牌多了 </a:t>
            </a:r>
            <a:r>
              <a:rPr lang="en-US" altLang="zh-CN" dirty="0">
                <a:latin typeface="楷体" panose="02010609060101010101" pitchFamily="49" charset="-122"/>
                <a:ea typeface="楷体" panose="02010609060101010101" pitchFamily="49" charset="-122"/>
              </a:rPr>
              <a:t>2 </a:t>
            </a:r>
            <a:r>
              <a:rPr lang="zh-CN" altLang="en-US" dirty="0">
                <a:latin typeface="楷体" panose="02010609060101010101" pitchFamily="49" charset="-122"/>
                <a:ea typeface="楷体" panose="02010609060101010101" pitchFamily="49" charset="-122"/>
              </a:rPr>
              <a:t>个以上</a:t>
            </a:r>
            <a:r>
              <a:rPr lang="zh-CN" altLang="en-US" dirty="0" smtClean="0">
                <a:latin typeface="楷体" panose="02010609060101010101" pitchFamily="49" charset="-122"/>
                <a:ea typeface="楷体" panose="02010609060101010101" pitchFamily="49" charset="-122"/>
              </a:rPr>
              <a:t>，是否考虑配炸弹？</a:t>
            </a:r>
            <a:endParaRPr lang="en-US" altLang="zh-CN" dirty="0" smtClean="0">
              <a:latin typeface="楷体" panose="02010609060101010101" pitchFamily="49" charset="-122"/>
              <a:ea typeface="楷体" panose="02010609060101010101" pitchFamily="49" charset="-122"/>
            </a:endParaRPr>
          </a:p>
          <a:p>
            <a:r>
              <a:rPr lang="zh-CN" altLang="en-US" dirty="0">
                <a:solidFill>
                  <a:srgbClr val="FF0000"/>
                </a:solidFill>
                <a:latin typeface="楷体" panose="02010609060101010101" pitchFamily="49" charset="-122"/>
                <a:ea typeface="楷体" panose="02010609060101010101" pitchFamily="49" charset="-122"/>
              </a:rPr>
              <a:t>技巧二：</a:t>
            </a:r>
            <a:r>
              <a:rPr lang="zh-CN" altLang="en-US" dirty="0">
                <a:latin typeface="楷体" panose="02010609060101010101" pitchFamily="49" charset="-122"/>
                <a:ea typeface="楷体" panose="02010609060101010101" pitchFamily="49" charset="-122"/>
              </a:rPr>
              <a:t>炸弹数量相同，整体牌力</a:t>
            </a:r>
            <a:r>
              <a:rPr lang="zh-CN" altLang="en-US" dirty="0" smtClean="0">
                <a:latin typeface="楷体" panose="02010609060101010101" pitchFamily="49" charset="-122"/>
                <a:ea typeface="楷体" panose="02010609060101010101" pitchFamily="49" charset="-122"/>
              </a:rPr>
              <a:t>越强越好。</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可以选择的情况，炸弹可以往小了配，型牌往大了留）</a:t>
            </a:r>
            <a:endParaRPr lang="en-US" altLang="zh-CN" dirty="0" smtClean="0">
              <a:latin typeface="楷体" panose="02010609060101010101" pitchFamily="49" charset="-122"/>
              <a:ea typeface="楷体" panose="02010609060101010101" pitchFamily="49" charset="-122"/>
            </a:endParaRPr>
          </a:p>
          <a:p>
            <a:r>
              <a:rPr lang="zh-CN" altLang="en-US" dirty="0">
                <a:solidFill>
                  <a:srgbClr val="FF0000"/>
                </a:solidFill>
                <a:latin typeface="楷体" panose="02010609060101010101" pitchFamily="49" charset="-122"/>
                <a:ea typeface="楷体" panose="02010609060101010101" pitchFamily="49" charset="-122"/>
              </a:rPr>
              <a:t>技巧三：</a:t>
            </a:r>
            <a:r>
              <a:rPr lang="zh-CN" altLang="en-US" dirty="0">
                <a:latin typeface="楷体" panose="02010609060101010101" pitchFamily="49" charset="-122"/>
                <a:ea typeface="楷体" panose="02010609060101010101" pitchFamily="49" charset="-122"/>
              </a:rPr>
              <a:t>数量相同整体牌力差不多，炸弹</a:t>
            </a:r>
            <a:r>
              <a:rPr lang="zh-CN" altLang="en-US" dirty="0" smtClean="0">
                <a:latin typeface="楷体" panose="02010609060101010101" pitchFamily="49" charset="-122"/>
                <a:ea typeface="楷体" panose="02010609060101010101" pitchFamily="49" charset="-122"/>
              </a:rPr>
              <a:t>越大越好大</a:t>
            </a:r>
            <a:r>
              <a:rPr lang="zh-CN" altLang="en-US" dirty="0">
                <a:latin typeface="楷体" panose="02010609060101010101" pitchFamily="49" charset="-122"/>
                <a:ea typeface="楷体" panose="02010609060101010101" pitchFamily="49" charset="-122"/>
              </a:rPr>
              <a:t>炸的优势将在闯关与阻击闯关中显现出来。</a:t>
            </a:r>
            <a:endParaRPr lang="en-US" altLang="zh-CN" dirty="0">
              <a:latin typeface="楷体" panose="02010609060101010101" pitchFamily="49" charset="-122"/>
              <a:ea typeface="楷体" panose="02010609060101010101" pitchFamily="49" charset="-122"/>
            </a:endParaRPr>
          </a:p>
          <a:p>
            <a:r>
              <a:rPr lang="zh-CN" altLang="en-US" dirty="0">
                <a:solidFill>
                  <a:srgbClr val="FF0000"/>
                </a:solidFill>
                <a:latin typeface="楷体" panose="02010609060101010101" pitchFamily="49" charset="-122"/>
                <a:ea typeface="楷体" panose="02010609060101010101" pitchFamily="49" charset="-122"/>
              </a:rPr>
              <a:t>技巧四：</a:t>
            </a:r>
            <a:r>
              <a:rPr lang="zh-CN" altLang="en-US" dirty="0">
                <a:latin typeface="楷体" panose="02010609060101010101" pitchFamily="49" charset="-122"/>
                <a:ea typeface="楷体" panose="02010609060101010101" pitchFamily="49" charset="-122"/>
              </a:rPr>
              <a:t>慎组王</a:t>
            </a:r>
            <a:r>
              <a:rPr lang="zh-CN" altLang="en-US" dirty="0" smtClean="0">
                <a:latin typeface="楷体" panose="02010609060101010101" pitchFamily="49" charset="-122"/>
                <a:ea typeface="楷体" panose="02010609060101010101" pitchFamily="49" charset="-122"/>
              </a:rPr>
              <a:t>炸。王</a:t>
            </a:r>
            <a:r>
              <a:rPr lang="zh-CN" altLang="en-US" dirty="0">
                <a:latin typeface="楷体" panose="02010609060101010101" pitchFamily="49" charset="-122"/>
                <a:ea typeface="楷体" panose="02010609060101010101" pitchFamily="49" charset="-122"/>
              </a:rPr>
              <a:t>炸虽贵为最大的天炸，但只有一手牌权，而拆为 </a:t>
            </a:r>
            <a:r>
              <a:rPr lang="en-US" altLang="zh-CN" dirty="0">
                <a:latin typeface="楷体" panose="02010609060101010101" pitchFamily="49" charset="-122"/>
                <a:ea typeface="楷体" panose="02010609060101010101" pitchFamily="49" charset="-122"/>
              </a:rPr>
              <a:t>4 </a:t>
            </a:r>
            <a:r>
              <a:rPr lang="zh-CN" altLang="en-US" dirty="0">
                <a:latin typeface="楷体" panose="02010609060101010101" pitchFamily="49" charset="-122"/>
                <a:ea typeface="楷体" panose="02010609060101010101" pitchFamily="49" charset="-122"/>
              </a:rPr>
              <a:t>张单牌几乎是</a:t>
            </a:r>
            <a:r>
              <a:rPr lang="en-US" altLang="zh-CN" dirty="0">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手牌权。所以，四王的拆牌非常灵活，可以是</a:t>
            </a:r>
            <a:r>
              <a:rPr lang="en-US" altLang="zh-CN" dirty="0">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单，可以是两对，可以是</a:t>
            </a:r>
            <a:r>
              <a:rPr lang="en-US" altLang="zh-CN" dirty="0">
                <a:latin typeface="楷体" panose="02010609060101010101" pitchFamily="49" charset="-122"/>
                <a:ea typeface="楷体" panose="02010609060101010101" pitchFamily="49" charset="-122"/>
              </a:rPr>
              <a:t>1+1+2</a:t>
            </a:r>
            <a:r>
              <a:rPr lang="zh-CN" altLang="en-US" dirty="0">
                <a:latin typeface="楷体" panose="02010609060101010101" pitchFamily="49" charset="-122"/>
                <a:ea typeface="楷体" panose="02010609060101010101" pitchFamily="49" charset="-122"/>
              </a:rPr>
              <a:t>，基本上都能获得牌权。因此，四王是不是做为天王炸，要认真思考。此外，王炸缺少隐蔽性，很容易被对方发现，之后对手马上会出主牌顶你，让你在拆与不拆之间犹疑。如果你有四王</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张主牌，那基本可以考虑不拆了！但这种牌你很少能拿到</a:t>
            </a:r>
            <a:r>
              <a:rPr lang="zh-CN" altLang="en-US" dirty="0" smtClean="0">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84316462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nSpc>
                <a:spcPct val="120000"/>
              </a:lnSpc>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3.6 </a:t>
            </a:r>
            <a:r>
              <a:rPr lang="zh-CN" altLang="en-US" sz="2400" dirty="0">
                <a:solidFill>
                  <a:srgbClr val="0F2C5D"/>
                </a:solidFill>
                <a:latin typeface="黑体" panose="02010609060101010101" charset="-122"/>
                <a:ea typeface="黑体" panose="02010609060101010101" charset="-122"/>
                <a:cs typeface="黑体" panose="02010609060101010101" charset="-122"/>
              </a:rPr>
              <a:t>掼蛋中炸弹的运用</a:t>
            </a: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778607" y="1258035"/>
            <a:ext cx="9924143" cy="4801314"/>
          </a:xfrm>
          <a:prstGeom prst="rect">
            <a:avLst/>
          </a:prstGeom>
        </p:spPr>
        <p:txBody>
          <a:bodyPr wrap="square">
            <a:spAutoFit/>
          </a:bodyPr>
          <a:lstStyle/>
          <a:p>
            <a:r>
              <a:rPr lang="zh-CN" altLang="en-US" dirty="0" smtClean="0">
                <a:latin typeface="楷体" panose="02010609060101010101" pitchFamily="49" charset="-122"/>
                <a:ea typeface="楷体" panose="02010609060101010101" pitchFamily="49" charset="-122"/>
              </a:rPr>
              <a:t>二、出</a:t>
            </a:r>
            <a:r>
              <a:rPr lang="zh-CN" altLang="en-US" dirty="0">
                <a:latin typeface="楷体" panose="02010609060101010101" pitchFamily="49" charset="-122"/>
                <a:ea typeface="楷体" panose="02010609060101010101" pitchFamily="49" charset="-122"/>
              </a:rPr>
              <a:t>炸</a:t>
            </a:r>
            <a:r>
              <a:rPr lang="zh-CN" altLang="en-US" dirty="0" smtClean="0">
                <a:latin typeface="楷体" panose="02010609060101010101" pitchFamily="49" charset="-122"/>
                <a:ea typeface="楷体" panose="02010609060101010101" pitchFamily="49" charset="-122"/>
              </a:rPr>
              <a:t>技巧</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（一）炸</a:t>
            </a:r>
            <a:r>
              <a:rPr lang="zh-CN" altLang="en-US" dirty="0">
                <a:latin typeface="楷体" panose="02010609060101010101" pitchFamily="49" charset="-122"/>
                <a:ea typeface="楷体" panose="02010609060101010101" pitchFamily="49" charset="-122"/>
              </a:rPr>
              <a:t>什么</a:t>
            </a:r>
            <a:r>
              <a:rPr lang="zh-CN" altLang="en-US" dirty="0" smtClean="0">
                <a:latin typeface="楷体" panose="02010609060101010101" pitchFamily="49" charset="-122"/>
                <a:ea typeface="楷体" panose="02010609060101010101" pitchFamily="49" charset="-122"/>
              </a:rPr>
              <a:t>牌</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炸弹是可以跨牌型压牌的，因此是重型</a:t>
            </a:r>
            <a:r>
              <a:rPr lang="zh-CN" altLang="en-US" dirty="0">
                <a:latin typeface="楷体" panose="02010609060101010101" pitchFamily="49" charset="-122"/>
                <a:ea typeface="楷体" panose="02010609060101010101" pitchFamily="49" charset="-122"/>
              </a:rPr>
              <a:t>武器</a:t>
            </a:r>
            <a:r>
              <a:rPr lang="zh-CN" altLang="en-US" dirty="0" smtClean="0">
                <a:latin typeface="楷体" panose="02010609060101010101" pitchFamily="49" charset="-122"/>
                <a:ea typeface="楷体" panose="02010609060101010101" pitchFamily="49" charset="-122"/>
              </a:rPr>
              <a:t>。使用炸弹时即要避免超打升级，又要有等值的概念</a:t>
            </a:r>
            <a:r>
              <a:rPr lang="zh-CN" altLang="en-US" dirty="0">
                <a:latin typeface="楷体" panose="02010609060101010101" pitchFamily="49" charset="-122"/>
                <a:ea typeface="楷体" panose="02010609060101010101" pitchFamily="49" charset="-122"/>
              </a:rPr>
              <a:t>。超打：压牌时</a:t>
            </a:r>
            <a:r>
              <a:rPr lang="zh-CN" altLang="en-US" dirty="0" smtClean="0">
                <a:latin typeface="楷体" panose="02010609060101010101" pitchFamily="49" charset="-122"/>
                <a:ea typeface="楷体" panose="02010609060101010101" pitchFamily="49" charset="-122"/>
              </a:rPr>
              <a:t>，用了大对方几级</a:t>
            </a:r>
            <a:r>
              <a:rPr lang="zh-CN" altLang="en-US" dirty="0">
                <a:latin typeface="楷体" panose="02010609060101010101" pitchFamily="49" charset="-122"/>
                <a:ea typeface="楷体" panose="02010609060101010101" pitchFamily="49" charset="-122"/>
              </a:rPr>
              <a:t>的</a:t>
            </a:r>
            <a:r>
              <a:rPr lang="zh-CN" altLang="en-US" dirty="0" smtClean="0">
                <a:latin typeface="楷体" panose="02010609060101010101" pitchFamily="49" charset="-122"/>
                <a:ea typeface="楷体" panose="02010609060101010101" pitchFamily="49" charset="-122"/>
              </a:rPr>
              <a:t>牌，</a:t>
            </a:r>
            <a:r>
              <a:rPr lang="zh-CN" altLang="en-US" dirty="0">
                <a:latin typeface="楷体" panose="02010609060101010101" pitchFamily="49" charset="-122"/>
                <a:ea typeface="楷体" panose="02010609060101010101" pitchFamily="49" charset="-122"/>
              </a:rPr>
              <a:t>称为超打</a:t>
            </a:r>
            <a:r>
              <a:rPr lang="zh-CN" altLang="en-US" dirty="0" smtClean="0">
                <a:latin typeface="楷体" panose="02010609060101010101" pitchFamily="49" charset="-122"/>
                <a:ea typeface="楷体" panose="02010609060101010101" pitchFamily="49" charset="-122"/>
              </a:rPr>
              <a:t>。它会造成</a:t>
            </a:r>
            <a:r>
              <a:rPr lang="zh-CN" altLang="en-US" dirty="0">
                <a:latin typeface="楷体" panose="02010609060101010101" pitchFamily="49" charset="-122"/>
                <a:ea typeface="楷体" panose="02010609060101010101" pitchFamily="49" charset="-122"/>
              </a:rPr>
              <a:t>敌方的小</a:t>
            </a:r>
            <a:r>
              <a:rPr lang="zh-CN" altLang="en-US" dirty="0" smtClean="0">
                <a:latin typeface="楷体" panose="02010609060101010101" pitchFamily="49" charset="-122"/>
                <a:ea typeface="楷体" panose="02010609060101010101" pitchFamily="49" charset="-122"/>
              </a:rPr>
              <a:t>牌顶级。</a:t>
            </a:r>
            <a:r>
              <a:rPr lang="zh-CN" altLang="en-US" dirty="0">
                <a:latin typeface="楷体" panose="02010609060101010101" pitchFamily="49" charset="-122"/>
                <a:ea typeface="楷体" panose="02010609060101010101" pitchFamily="49" charset="-122"/>
              </a:rPr>
              <a:t>比如：你手中有大王、</a:t>
            </a:r>
            <a:r>
              <a:rPr lang="en-US" altLang="zh-CN" dirty="0">
                <a:latin typeface="楷体" panose="02010609060101010101" pitchFamily="49" charset="-122"/>
                <a:ea typeface="楷体" panose="02010609060101010101" pitchFamily="49" charset="-122"/>
              </a:rPr>
              <a:t>A</a:t>
            </a:r>
            <a:r>
              <a:rPr lang="zh-CN" altLang="en-US" dirty="0">
                <a:latin typeface="楷体" panose="02010609060101010101" pitchFamily="49" charset="-122"/>
                <a:ea typeface="楷体" panose="02010609060101010101" pitchFamily="49" charset="-122"/>
              </a:rPr>
              <a:t>，上家</a:t>
            </a:r>
            <a:r>
              <a:rPr lang="zh-CN" altLang="en-US" dirty="0" smtClean="0">
                <a:latin typeface="楷体" panose="02010609060101010101" pitchFamily="49" charset="-122"/>
                <a:ea typeface="楷体" panose="02010609060101010101" pitchFamily="49" charset="-122"/>
              </a:rPr>
              <a:t>出</a:t>
            </a:r>
            <a:r>
              <a:rPr lang="en-US" altLang="zh-CN" dirty="0" smtClean="0">
                <a:latin typeface="楷体" panose="02010609060101010101" pitchFamily="49" charset="-122"/>
                <a:ea typeface="楷体" panose="02010609060101010101" pitchFamily="49" charset="-122"/>
              </a:rPr>
              <a:t>K</a:t>
            </a:r>
            <a:r>
              <a:rPr lang="zh-CN" altLang="en-US" dirty="0" smtClean="0">
                <a:latin typeface="楷体" panose="02010609060101010101" pitchFamily="49" charset="-122"/>
                <a:ea typeface="楷体" panose="02010609060101010101" pitchFamily="49" charset="-122"/>
              </a:rPr>
              <a:t>你</a:t>
            </a:r>
            <a:r>
              <a:rPr lang="zh-CN" altLang="en-US" dirty="0">
                <a:latin typeface="楷体" panose="02010609060101010101" pitchFamily="49" charset="-122"/>
                <a:ea typeface="楷体" panose="02010609060101010101" pitchFamily="49" charset="-122"/>
              </a:rPr>
              <a:t>直接用大王压，就是超打。如果敌方有大王，则其小王</a:t>
            </a:r>
            <a:r>
              <a:rPr lang="zh-CN" altLang="en-US" dirty="0" smtClean="0">
                <a:latin typeface="楷体" panose="02010609060101010101" pitchFamily="49" charset="-122"/>
                <a:ea typeface="楷体" panose="02010609060101010101" pitchFamily="49" charset="-122"/>
              </a:rPr>
              <a:t>提前顶级。但你更要了解你和同伴联合审视牌的时候，出现超打的情况。比如你有大王，你搭档有小王。而你的对手方出了主牌，你直接用大王压住，那对手的小王就升级了。你应该放过，让你的搭档用小王打这个主牌。</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等值：如果你有一副炸弹，又有</a:t>
            </a:r>
            <a:r>
              <a:rPr lang="en-US" altLang="zh-CN" dirty="0" smtClean="0">
                <a:latin typeface="楷体" panose="02010609060101010101" pitchFamily="49" charset="-122"/>
                <a:ea typeface="楷体" panose="02010609060101010101" pitchFamily="49" charset="-122"/>
              </a:rPr>
              <a:t>10JQKA</a:t>
            </a:r>
            <a:r>
              <a:rPr lang="zh-CN" altLang="en-US" dirty="0" smtClean="0">
                <a:latin typeface="楷体" panose="02010609060101010101" pitchFamily="49" charset="-122"/>
                <a:ea typeface="楷体" panose="02010609060101010101" pitchFamily="49" charset="-122"/>
              </a:rPr>
              <a:t>的顺子。对于你来说，你的炸弹被炸掉，和你的顺子被炸掉，其实是一样的，都是让对手用掉一副炸弹。所以从某种意义来说，它俩是等值的。所以你尽量让对手炸掉你的顺子，因为它只能管顺子。你留下炸弹可以压任何型牌。</a:t>
            </a:r>
            <a:endParaRPr lang="en-US" altLang="zh-CN" dirty="0" smtClean="0">
              <a:latin typeface="楷体" panose="02010609060101010101" pitchFamily="49" charset="-122"/>
              <a:ea typeface="楷体" panose="02010609060101010101" pitchFamily="49" charset="-122"/>
            </a:endParaRPr>
          </a:p>
          <a:p>
            <a:r>
              <a:rPr lang="en-US" altLang="zh-CN" dirty="0" smtClean="0">
                <a:latin typeface="楷体" panose="02010609060101010101" pitchFamily="49" charset="-122"/>
                <a:ea typeface="楷体" panose="02010609060101010101" pitchFamily="49" charset="-122"/>
              </a:rPr>
              <a:t>1.</a:t>
            </a:r>
            <a:r>
              <a:rPr lang="zh-CN" altLang="en-US" dirty="0" smtClean="0">
                <a:latin typeface="楷体" panose="02010609060101010101" pitchFamily="49" charset="-122"/>
                <a:ea typeface="楷体" panose="02010609060101010101" pitchFamily="49" charset="-122"/>
              </a:rPr>
              <a:t>炸弹</a:t>
            </a:r>
            <a:r>
              <a:rPr lang="zh-CN" altLang="en-US" dirty="0">
                <a:latin typeface="楷体" panose="02010609060101010101" pitchFamily="49" charset="-122"/>
                <a:ea typeface="楷体" panose="02010609060101010101" pitchFamily="49" charset="-122"/>
              </a:rPr>
              <a:t>打</a:t>
            </a:r>
            <a:r>
              <a:rPr lang="zh-CN" altLang="en-US" dirty="0" smtClean="0">
                <a:latin typeface="楷体" panose="02010609060101010101" pitchFamily="49" charset="-122"/>
                <a:ea typeface="楷体" panose="02010609060101010101" pitchFamily="49" charset="-122"/>
              </a:rPr>
              <a:t>炸弹基本是最合适的出牌。碰到</a:t>
            </a:r>
            <a:r>
              <a:rPr lang="zh-CN" altLang="en-US" dirty="0">
                <a:latin typeface="楷体" panose="02010609060101010101" pitchFamily="49" charset="-122"/>
                <a:ea typeface="楷体" panose="02010609060101010101" pitchFamily="49" charset="-122"/>
              </a:rPr>
              <a:t>敌人的炸弹闭眼</a:t>
            </a:r>
            <a:r>
              <a:rPr lang="zh-CN" altLang="en-US" dirty="0" smtClean="0">
                <a:latin typeface="楷体" panose="02010609060101010101" pitchFamily="49" charset="-122"/>
                <a:ea typeface="楷体" panose="02010609060101010101" pitchFamily="49" charset="-122"/>
              </a:rPr>
              <a:t>打，</a:t>
            </a:r>
            <a:r>
              <a:rPr lang="en-US" altLang="zh-CN" dirty="0">
                <a:latin typeface="楷体" panose="02010609060101010101" pitchFamily="49" charset="-122"/>
                <a:ea typeface="楷体" panose="02010609060101010101" pitchFamily="49" charset="-122"/>
              </a:rPr>
              <a:t>80%</a:t>
            </a:r>
            <a:r>
              <a:rPr lang="zh-CN" altLang="en-US" dirty="0">
                <a:latin typeface="楷体" panose="02010609060101010101" pitchFamily="49" charset="-122"/>
                <a:ea typeface="楷体" panose="02010609060101010101" pitchFamily="49" charset="-122"/>
              </a:rPr>
              <a:t>的情况下是正确的</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en-US" altLang="zh-CN" dirty="0" smtClean="0">
                <a:latin typeface="楷体" panose="02010609060101010101" pitchFamily="49" charset="-122"/>
                <a:ea typeface="楷体" panose="02010609060101010101" pitchFamily="49" charset="-122"/>
              </a:rPr>
              <a:t>2.</a:t>
            </a:r>
            <a:r>
              <a:rPr lang="zh-CN" altLang="en-US" dirty="0" smtClean="0">
                <a:latin typeface="楷体" panose="02010609060101010101" pitchFamily="49" charset="-122"/>
                <a:ea typeface="楷体" panose="02010609060101010101" pitchFamily="49" charset="-122"/>
              </a:rPr>
              <a:t>打</a:t>
            </a:r>
            <a:r>
              <a:rPr lang="zh-CN" altLang="en-US" dirty="0">
                <a:latin typeface="楷体" panose="02010609060101010101" pitchFamily="49" charset="-122"/>
                <a:ea typeface="楷体" panose="02010609060101010101" pitchFamily="49" charset="-122"/>
              </a:rPr>
              <a:t>双大王</a:t>
            </a:r>
            <a:r>
              <a:rPr lang="zh-CN" altLang="en-US" dirty="0" smtClean="0">
                <a:latin typeface="楷体" panose="02010609060101010101" pitchFamily="49" charset="-122"/>
                <a:ea typeface="楷体" panose="02010609060101010101" pitchFamily="49" charset="-122"/>
              </a:rPr>
              <a:t>双，双王既控制</a:t>
            </a:r>
            <a:r>
              <a:rPr lang="en-US" altLang="zh-CN" dirty="0" smtClean="0">
                <a:latin typeface="楷体" panose="02010609060101010101" pitchFamily="49" charset="-122"/>
                <a:ea typeface="楷体" panose="02010609060101010101" pitchFamily="49" charset="-122"/>
              </a:rPr>
              <a:t>2</a:t>
            </a:r>
            <a:r>
              <a:rPr lang="zh-CN" altLang="en-US" dirty="0" smtClean="0">
                <a:latin typeface="楷体" panose="02010609060101010101" pitchFamily="49" charset="-122"/>
                <a:ea typeface="楷体" panose="02010609060101010101" pitchFamily="49" charset="-122"/>
              </a:rPr>
              <a:t>手</a:t>
            </a:r>
            <a:r>
              <a:rPr lang="zh-CN" altLang="en-US" dirty="0">
                <a:latin typeface="楷体" panose="02010609060101010101" pitchFamily="49" charset="-122"/>
                <a:ea typeface="楷体" panose="02010609060101010101" pitchFamily="49" charset="-122"/>
              </a:rPr>
              <a:t>单路，也可控制对子，牌力仅次于炸弹</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en-US" altLang="zh-CN" dirty="0" smtClean="0">
                <a:latin typeface="楷体" panose="02010609060101010101" pitchFamily="49" charset="-122"/>
                <a:ea typeface="楷体" panose="02010609060101010101" pitchFamily="49" charset="-122"/>
              </a:rPr>
              <a:t>3 </a:t>
            </a:r>
            <a:r>
              <a:rPr lang="zh-CN" altLang="en-US" dirty="0">
                <a:latin typeface="楷体" panose="02010609060101010101" pitchFamily="49" charset="-122"/>
                <a:ea typeface="楷体" panose="02010609060101010101" pitchFamily="49" charset="-122"/>
              </a:rPr>
              <a:t>打主</a:t>
            </a:r>
            <a:r>
              <a:rPr lang="zh-CN" altLang="en-US" dirty="0" smtClean="0">
                <a:latin typeface="楷体" panose="02010609060101010101" pitchFamily="49" charset="-122"/>
                <a:ea typeface="楷体" panose="02010609060101010101" pitchFamily="49" charset="-122"/>
              </a:rPr>
              <a:t>牌。</a:t>
            </a:r>
            <a:r>
              <a:rPr lang="en-US" altLang="zh-CN" dirty="0" smtClean="0">
                <a:latin typeface="楷体" panose="02010609060101010101" pitchFamily="49" charset="-122"/>
                <a:ea typeface="楷体" panose="02010609060101010101" pitchFamily="49" charset="-122"/>
              </a:rPr>
              <a:t>3</a:t>
            </a:r>
            <a:r>
              <a:rPr lang="zh-CN" altLang="en-US" dirty="0" smtClean="0">
                <a:latin typeface="楷体" panose="02010609060101010101" pitchFamily="49" charset="-122"/>
                <a:ea typeface="楷体" panose="02010609060101010101" pitchFamily="49" charset="-122"/>
              </a:rPr>
              <a:t>张主牌带对的三带二或者对主牌。 </a:t>
            </a:r>
            <a:endParaRPr lang="en-US" altLang="zh-CN" dirty="0" smtClean="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4 </a:t>
            </a:r>
            <a:r>
              <a:rPr lang="zh-CN" altLang="en-US" dirty="0">
                <a:latin typeface="楷体" panose="02010609060101010101" pitchFamily="49" charset="-122"/>
                <a:ea typeface="楷体" panose="02010609060101010101" pitchFamily="49" charset="-122"/>
              </a:rPr>
              <a:t>打</a:t>
            </a:r>
            <a:r>
              <a:rPr lang="zh-CN" altLang="en-US" dirty="0" smtClean="0">
                <a:latin typeface="楷体" panose="02010609060101010101" pitchFamily="49" charset="-122"/>
                <a:ea typeface="楷体" panose="02010609060101010101" pitchFamily="49" charset="-122"/>
              </a:rPr>
              <a:t>其他顶级牌。这种牌不压，对手会有连续出牌的机会。</a:t>
            </a:r>
            <a:endParaRPr lang="en-US" altLang="zh-CN" dirty="0" smtClean="0">
              <a:latin typeface="楷体" panose="02010609060101010101" pitchFamily="49" charset="-122"/>
              <a:ea typeface="楷体" panose="02010609060101010101" pitchFamily="49" charset="-122"/>
            </a:endParaRPr>
          </a:p>
          <a:p>
            <a:r>
              <a:rPr lang="en-US" altLang="zh-CN" dirty="0" smtClean="0">
                <a:latin typeface="楷体" panose="02010609060101010101" pitchFamily="49" charset="-122"/>
                <a:ea typeface="楷体" panose="02010609060101010101" pitchFamily="49" charset="-122"/>
              </a:rPr>
              <a:t>5 </a:t>
            </a:r>
            <a:r>
              <a:rPr lang="zh-CN" altLang="en-US" dirty="0">
                <a:latin typeface="楷体" panose="02010609060101010101" pitchFamily="49" charset="-122"/>
                <a:ea typeface="楷体" panose="02010609060101010101" pitchFamily="49" charset="-122"/>
              </a:rPr>
              <a:t>打其他</a:t>
            </a:r>
            <a:r>
              <a:rPr lang="zh-CN" altLang="en-US" dirty="0" smtClean="0">
                <a:latin typeface="楷体" panose="02010609060101010101" pitchFamily="49" charset="-122"/>
                <a:ea typeface="楷体" panose="02010609060101010101" pitchFamily="49" charset="-122"/>
              </a:rPr>
              <a:t>牌。弄</a:t>
            </a:r>
            <a:r>
              <a:rPr lang="zh-CN" altLang="en-US" dirty="0">
                <a:latin typeface="楷体" panose="02010609060101010101" pitchFamily="49" charset="-122"/>
                <a:ea typeface="楷体" panose="02010609060101010101" pitchFamily="49" charset="-122"/>
              </a:rPr>
              <a:t>不准是否</a:t>
            </a:r>
            <a:r>
              <a:rPr lang="zh-CN" altLang="en-US" dirty="0" smtClean="0">
                <a:latin typeface="楷体" panose="02010609060101010101" pitchFamily="49" charset="-122"/>
                <a:ea typeface="楷体" panose="02010609060101010101" pitchFamily="49" charset="-122"/>
              </a:rPr>
              <a:t>为顶级牌</a:t>
            </a:r>
            <a:r>
              <a:rPr lang="zh-CN" altLang="en-US" dirty="0">
                <a:latin typeface="楷体" panose="02010609060101010101" pitchFamily="49" charset="-122"/>
                <a:ea typeface="楷体" panose="02010609060101010101" pitchFamily="49" charset="-122"/>
              </a:rPr>
              <a:t>，但为了避免敌方跑牌太多，可及时出炸制止。虽属超打，但有时很有</a:t>
            </a:r>
            <a:r>
              <a:rPr lang="zh-CN" altLang="en-US" dirty="0" smtClean="0">
                <a:latin typeface="楷体" panose="02010609060101010101" pitchFamily="49" charset="-122"/>
                <a:ea typeface="楷体" panose="02010609060101010101" pitchFamily="49" charset="-122"/>
              </a:rPr>
              <a:t>必要。</a:t>
            </a:r>
            <a:endParaRPr lang="zh-CN" altLang="en-US" dirty="0">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242245636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nSpc>
                <a:spcPct val="120000"/>
              </a:lnSpc>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3.6 </a:t>
            </a:r>
            <a:r>
              <a:rPr lang="zh-CN" altLang="en-US" sz="2400" dirty="0">
                <a:solidFill>
                  <a:srgbClr val="0F2C5D"/>
                </a:solidFill>
                <a:latin typeface="黑体" panose="02010609060101010101" charset="-122"/>
                <a:ea typeface="黑体" panose="02010609060101010101" charset="-122"/>
                <a:cs typeface="黑体" panose="02010609060101010101" charset="-122"/>
              </a:rPr>
              <a:t>掼蛋中炸弹的运用</a:t>
            </a: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730738" y="1269939"/>
            <a:ext cx="9972013" cy="3970318"/>
          </a:xfrm>
          <a:prstGeom prst="rect">
            <a:avLst/>
          </a:prstGeom>
        </p:spPr>
        <p:txBody>
          <a:bodyPr wrap="square">
            <a:spAutoFit/>
          </a:bodyPr>
          <a:lstStyle/>
          <a:p>
            <a:r>
              <a:rPr lang="zh-CN" altLang="en-US" dirty="0" smtClean="0">
                <a:latin typeface="楷体" panose="02010609060101010101" pitchFamily="49" charset="-122"/>
                <a:ea typeface="楷体" panose="02010609060101010101" pitchFamily="49" charset="-122"/>
              </a:rPr>
              <a:t>（二）打哪一家</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方向选择。大多数情况下：优选打</a:t>
            </a:r>
            <a:r>
              <a:rPr lang="zh-CN" altLang="en-US" dirty="0">
                <a:latin typeface="楷体" panose="02010609060101010101" pitchFamily="49" charset="-122"/>
                <a:ea typeface="楷体" panose="02010609060101010101" pitchFamily="49" charset="-122"/>
              </a:rPr>
              <a:t>上家，</a:t>
            </a:r>
            <a:r>
              <a:rPr lang="zh-CN" altLang="en-US" dirty="0" smtClean="0">
                <a:latin typeface="楷体" panose="02010609060101010101" pitchFamily="49" charset="-122"/>
                <a:ea typeface="楷体" panose="02010609060101010101" pitchFamily="49" charset="-122"/>
              </a:rPr>
              <a:t>次之打下</a:t>
            </a:r>
            <a:r>
              <a:rPr lang="zh-CN" altLang="en-US" dirty="0">
                <a:latin typeface="楷体" panose="02010609060101010101" pitchFamily="49" charset="-122"/>
                <a:ea typeface="楷体" panose="02010609060101010101" pitchFamily="49" charset="-122"/>
              </a:rPr>
              <a:t>家，必要时可</a:t>
            </a:r>
            <a:r>
              <a:rPr lang="zh-CN" altLang="en-US" dirty="0" smtClean="0">
                <a:latin typeface="楷体" panose="02010609060101010101" pitchFamily="49" charset="-122"/>
                <a:ea typeface="楷体" panose="02010609060101010101" pitchFamily="49" charset="-122"/>
              </a:rPr>
              <a:t>打对家。</a:t>
            </a:r>
            <a:endParaRPr lang="en-US" altLang="zh-CN" dirty="0" smtClean="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1</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首选打</a:t>
            </a:r>
            <a:r>
              <a:rPr lang="zh-CN" altLang="en-US" dirty="0" smtClean="0">
                <a:latin typeface="楷体" panose="02010609060101010101" pitchFamily="49" charset="-122"/>
                <a:ea typeface="楷体" panose="02010609060101010101" pitchFamily="49" charset="-122"/>
              </a:rPr>
              <a:t>上家</a:t>
            </a:r>
            <a:endParaRPr lang="en-US" altLang="zh-CN" dirty="0" smtClean="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 </a:t>
            </a:r>
            <a:r>
              <a:rPr lang="en-US" altLang="zh-CN" dirty="0" smtClean="0">
                <a:latin typeface="楷体" panose="02010609060101010101" pitchFamily="49" charset="-122"/>
                <a:ea typeface="楷体" panose="02010609060101010101" pitchFamily="49" charset="-122"/>
              </a:rPr>
              <a:t>   </a:t>
            </a:r>
            <a:r>
              <a:rPr lang="zh-CN" altLang="en-US" dirty="0" smtClean="0">
                <a:latin typeface="楷体" panose="02010609060101010101" pitchFamily="49" charset="-122"/>
                <a:ea typeface="楷体" panose="02010609060101010101" pitchFamily="49" charset="-122"/>
              </a:rPr>
              <a:t>很多新手不愿意打上家，因为上家出牌，你可以顺牌。事实上只要你一直压住上家，没让他出过牌，那他永远晚于你把牌出清。第二是你炸掉他后</a:t>
            </a:r>
            <a:r>
              <a:rPr lang="zh-CN" altLang="en-US" dirty="0">
                <a:latin typeface="楷体" panose="02010609060101010101" pitchFamily="49" charset="-122"/>
                <a:ea typeface="楷体" panose="02010609060101010101" pitchFamily="49" charset="-122"/>
              </a:rPr>
              <a:t>获得出牌权，不用担心上家顺牌</a:t>
            </a:r>
            <a:r>
              <a:rPr lang="zh-CN" altLang="en-US" dirty="0" smtClean="0">
                <a:latin typeface="楷体" panose="02010609060101010101" pitchFamily="49" charset="-122"/>
                <a:ea typeface="楷体" panose="02010609060101010101" pitchFamily="49" charset="-122"/>
              </a:rPr>
              <a:t>，因为隔</a:t>
            </a:r>
            <a:r>
              <a:rPr lang="zh-CN" altLang="en-US" dirty="0">
                <a:latin typeface="楷体" panose="02010609060101010101" pitchFamily="49" charset="-122"/>
                <a:ea typeface="楷体" panose="02010609060101010101" pitchFamily="49" charset="-122"/>
              </a:rPr>
              <a:t>太远了</a:t>
            </a:r>
            <a:r>
              <a:rPr lang="zh-CN" altLang="en-US" dirty="0" smtClean="0">
                <a:latin typeface="楷体" panose="02010609060101010101" pitchFamily="49" charset="-122"/>
                <a:ea typeface="楷体" panose="02010609060101010101" pitchFamily="49" charset="-122"/>
              </a:rPr>
              <a:t>。所以幻想自己能顺牌而不</a:t>
            </a:r>
            <a:r>
              <a:rPr lang="zh-CN" altLang="en-US" dirty="0">
                <a:latin typeface="楷体" panose="02010609060101010101" pitchFamily="49" charset="-122"/>
                <a:ea typeface="楷体" panose="02010609060101010101" pitchFamily="49" charset="-122"/>
              </a:rPr>
              <a:t>打上家，把出炸任务交给队友，是弊大于利</a:t>
            </a:r>
            <a:r>
              <a:rPr lang="zh-CN" altLang="en-US" dirty="0" smtClean="0">
                <a:latin typeface="楷体" panose="02010609060101010101" pitchFamily="49" charset="-122"/>
                <a:ea typeface="楷体" panose="02010609060101010101" pitchFamily="49" charset="-122"/>
              </a:rPr>
              <a:t>的</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主要有以下三个方面：未必能顺到牌；你搭档压住他后可能会给他顺牌；让他多出手后，他走的快了。</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2</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次</a:t>
            </a:r>
            <a:r>
              <a:rPr lang="zh-CN" altLang="en-US" dirty="0">
                <a:latin typeface="楷体" panose="02010609060101010101" pitchFamily="49" charset="-122"/>
                <a:ea typeface="楷体" panose="02010609060101010101" pitchFamily="49" charset="-122"/>
              </a:rPr>
              <a:t>打下</a:t>
            </a:r>
            <a:r>
              <a:rPr lang="zh-CN" altLang="en-US" dirty="0" smtClean="0">
                <a:latin typeface="楷体" panose="02010609060101010101" pitchFamily="49" charset="-122"/>
                <a:ea typeface="楷体" panose="02010609060101010101" pitchFamily="49" charset="-122"/>
              </a:rPr>
              <a:t>家。炸</a:t>
            </a:r>
            <a:r>
              <a:rPr lang="zh-CN" altLang="en-US" dirty="0">
                <a:latin typeface="楷体" panose="02010609060101010101" pitchFamily="49" charset="-122"/>
                <a:ea typeface="楷体" panose="02010609060101010101" pitchFamily="49" charset="-122"/>
              </a:rPr>
              <a:t>后获得出牌权</a:t>
            </a:r>
            <a:r>
              <a:rPr lang="zh-CN" altLang="en-US" dirty="0" smtClean="0">
                <a:latin typeface="楷体" panose="02010609060101010101" pitchFamily="49" charset="-122"/>
                <a:ea typeface="楷体" panose="02010609060101010101" pitchFamily="49" charset="-122"/>
              </a:rPr>
              <a:t>，一定一定要</a:t>
            </a:r>
            <a:r>
              <a:rPr lang="zh-CN" altLang="en-US" dirty="0">
                <a:latin typeface="楷体" panose="02010609060101010101" pitchFamily="49" charset="-122"/>
                <a:ea typeface="楷体" panose="02010609060101010101" pitchFamily="49" charset="-122"/>
              </a:rPr>
              <a:t>慎重考虑出什么牌。出到下家手上，导致下家跑牌速度加快，自己的炸弹也白出了。忌：炸下家的顺子后出对子</a:t>
            </a:r>
            <a:r>
              <a:rPr lang="zh-CN" altLang="en-US" dirty="0" smtClean="0">
                <a:latin typeface="楷体" panose="02010609060101010101" pitchFamily="49" charset="-122"/>
                <a:ea typeface="楷体" panose="02010609060101010101" pitchFamily="49" charset="-122"/>
              </a:rPr>
              <a:t>。最忌</a:t>
            </a:r>
            <a:r>
              <a:rPr lang="zh-CN" altLang="en-US" dirty="0">
                <a:latin typeface="楷体" panose="02010609060101010101" pitchFamily="49" charset="-122"/>
                <a:ea typeface="楷体" panose="02010609060101010101" pitchFamily="49" charset="-122"/>
              </a:rPr>
              <a:t>：炸下家后放</a:t>
            </a:r>
            <a:r>
              <a:rPr lang="zh-CN" altLang="en-US" dirty="0" smtClean="0">
                <a:latin typeface="楷体" panose="02010609060101010101" pitchFamily="49" charset="-122"/>
                <a:ea typeface="楷体" panose="02010609060101010101" pitchFamily="49" charset="-122"/>
              </a:rPr>
              <a:t>小单，如果下家原本就想出小单的，那是最亏的，等于白扔一个炸弹，下家没任何损失。</a:t>
            </a:r>
            <a:r>
              <a:rPr lang="zh-CN" altLang="en-US" dirty="0">
                <a:latin typeface="楷体" panose="02010609060101010101" pitchFamily="49" charset="-122"/>
                <a:ea typeface="楷体" panose="02010609060101010101" pitchFamily="49" charset="-122"/>
              </a:rPr>
              <a:t>类似的问题比比皆是，老掼手也不能幸免。因此</a:t>
            </a:r>
            <a:r>
              <a:rPr lang="zh-CN" altLang="en-US" dirty="0" smtClean="0">
                <a:latin typeface="楷体" panose="02010609060101010101" pitchFamily="49" charset="-122"/>
                <a:ea typeface="楷体" panose="02010609060101010101" pitchFamily="49" charset="-122"/>
              </a:rPr>
              <a:t>，最基本的原则是：你炸掉下家后，出一手牌没任何人要牌，然后再出牌给下家顺掉牌都是相对正确的打法。</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3</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必要时也可以打对家，有</a:t>
            </a:r>
            <a:r>
              <a:rPr lang="zh-CN" altLang="en-US" dirty="0">
                <a:latin typeface="楷体" panose="02010609060101010101" pitchFamily="49" charset="-122"/>
                <a:ea typeface="楷体" panose="02010609060101010101" pitchFamily="49" charset="-122"/>
              </a:rPr>
              <a:t>两种情况</a:t>
            </a:r>
            <a:r>
              <a:rPr lang="zh-CN" altLang="en-US" dirty="0" smtClean="0">
                <a:latin typeface="楷体" panose="02010609060101010101" pitchFamily="49" charset="-122"/>
                <a:ea typeface="楷体" panose="02010609060101010101" pitchFamily="49" charset="-122"/>
              </a:rPr>
              <a:t>：为了抢到头</a:t>
            </a:r>
            <a:r>
              <a:rPr lang="zh-CN" altLang="en-US" dirty="0">
                <a:latin typeface="楷体" panose="02010609060101010101" pitchFamily="49" charset="-122"/>
                <a:ea typeface="楷体" panose="02010609060101010101" pitchFamily="49" charset="-122"/>
              </a:rPr>
              <a:t>游；</a:t>
            </a:r>
            <a:r>
              <a:rPr lang="zh-CN" altLang="en-US" dirty="0" smtClean="0">
                <a:latin typeface="楷体" panose="02010609060101010101" pitchFamily="49" charset="-122"/>
                <a:ea typeface="楷体" panose="02010609060101010101" pitchFamily="49" charset="-122"/>
              </a:rPr>
              <a:t>纠正搭档的错误。</a:t>
            </a:r>
            <a:endParaRPr lang="en-US" altLang="zh-CN" dirty="0" smtClean="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所以牌强打上家是必然的选择。牌弱可以进行综合考虑</a:t>
            </a:r>
            <a:r>
              <a:rPr lang="zh-CN" altLang="en-US" dirty="0">
                <a:latin typeface="楷体" panose="02010609060101010101" pitchFamily="49" charset="-122"/>
                <a:ea typeface="楷体" panose="02010609060101010101" pitchFamily="49" charset="-122"/>
              </a:rPr>
              <a:t>。</a:t>
            </a:r>
          </a:p>
        </p:txBody>
      </p:sp>
    </p:spTree>
    <p:custDataLst>
      <p:tags r:id="rId1"/>
    </p:custDataLst>
    <p:extLst>
      <p:ext uri="{BB962C8B-B14F-4D97-AF65-F5344CB8AC3E}">
        <p14:creationId xmlns:p14="http://schemas.microsoft.com/office/powerpoint/2010/main" val="2391948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nSpc>
                <a:spcPct val="120000"/>
              </a:lnSpc>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3.6 </a:t>
            </a:r>
            <a:r>
              <a:rPr lang="zh-CN" altLang="en-US" sz="2400" dirty="0">
                <a:solidFill>
                  <a:srgbClr val="0F2C5D"/>
                </a:solidFill>
                <a:latin typeface="黑体" panose="02010609060101010101" charset="-122"/>
                <a:ea typeface="黑体" panose="02010609060101010101" charset="-122"/>
                <a:cs typeface="黑体" panose="02010609060101010101" charset="-122"/>
              </a:rPr>
              <a:t>掼蛋中炸弹的运用</a:t>
            </a: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778607" y="1258035"/>
            <a:ext cx="9924143" cy="2862322"/>
          </a:xfrm>
          <a:prstGeom prst="rect">
            <a:avLst/>
          </a:prstGeom>
        </p:spPr>
        <p:txBody>
          <a:bodyPr wrap="square">
            <a:spAutoFit/>
          </a:bodyPr>
          <a:lstStyle/>
          <a:p>
            <a:r>
              <a:rPr lang="zh-CN" altLang="en-US" dirty="0">
                <a:latin typeface="楷体" panose="02010609060101010101" pitchFamily="49" charset="-122"/>
                <a:ea typeface="楷体" panose="02010609060101010101" pitchFamily="49" charset="-122"/>
              </a:rPr>
              <a:t>（二）打哪一家</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局势选择</a:t>
            </a:r>
            <a:r>
              <a:rPr lang="zh-CN" altLang="en-US" dirty="0">
                <a:latin typeface="楷体" panose="02010609060101010101" pitchFamily="49" charset="-122"/>
                <a:ea typeface="楷体" panose="02010609060101010101" pitchFamily="49" charset="-122"/>
              </a:rPr>
              <a:t>。分析了炸上、下</a:t>
            </a:r>
            <a:r>
              <a:rPr lang="zh-CN" altLang="en-US" dirty="0" smtClean="0">
                <a:latin typeface="楷体" panose="02010609060101010101" pitchFamily="49" charset="-122"/>
                <a:ea typeface="楷体" panose="02010609060101010101" pitchFamily="49" charset="-122"/>
              </a:rPr>
              <a:t>、对家的</a:t>
            </a:r>
            <a:r>
              <a:rPr lang="zh-CN" altLang="en-US" dirty="0">
                <a:latin typeface="楷体" panose="02010609060101010101" pitchFamily="49" charset="-122"/>
                <a:ea typeface="楷体" panose="02010609060101010101" pitchFamily="49" charset="-122"/>
              </a:rPr>
              <a:t>利弊后，还有以下几种情况需要及时开炸</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1</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炸</a:t>
            </a:r>
            <a:r>
              <a:rPr lang="zh-CN" altLang="en-US" dirty="0">
                <a:latin typeface="楷体" panose="02010609060101010101" pitchFamily="49" charset="-122"/>
                <a:ea typeface="楷体" panose="02010609060101010101" pitchFamily="49" charset="-122"/>
              </a:rPr>
              <a:t>跑牌多</a:t>
            </a:r>
            <a:r>
              <a:rPr lang="zh-CN" altLang="en-US" dirty="0" smtClean="0">
                <a:latin typeface="楷体" panose="02010609060101010101" pitchFamily="49" charset="-122"/>
                <a:ea typeface="楷体" panose="02010609060101010101" pitchFamily="49" charset="-122"/>
              </a:rPr>
              <a:t>者。敌方</a:t>
            </a:r>
            <a:r>
              <a:rPr lang="zh-CN" altLang="en-US" dirty="0">
                <a:latin typeface="楷体" panose="02010609060101010101" pitchFamily="49" charset="-122"/>
                <a:ea typeface="楷体" panose="02010609060101010101" pitchFamily="49" charset="-122"/>
              </a:rPr>
              <a:t>某一家的组牌连发加</a:t>
            </a:r>
            <a:r>
              <a:rPr lang="zh-CN" altLang="en-US" dirty="0" smtClean="0">
                <a:latin typeface="楷体" panose="02010609060101010101" pitchFamily="49" charset="-122"/>
                <a:ea typeface="楷体" panose="02010609060101010101" pitchFamily="49" charset="-122"/>
              </a:rPr>
              <a:t>顺牌，</a:t>
            </a:r>
            <a:r>
              <a:rPr lang="zh-CN" altLang="en-US" dirty="0">
                <a:latin typeface="楷体" panose="02010609060101010101" pitchFamily="49" charset="-122"/>
                <a:ea typeface="楷体" panose="02010609060101010101" pitchFamily="49" charset="-122"/>
              </a:rPr>
              <a:t>跑了不少牌，要及时将其制止，避免其过快形成冲刺之势</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2</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炸</a:t>
            </a:r>
            <a:r>
              <a:rPr lang="zh-CN" altLang="en-US" dirty="0">
                <a:latin typeface="楷体" panose="02010609060101010101" pitchFamily="49" charset="-122"/>
                <a:ea typeface="楷体" panose="02010609060101010101" pitchFamily="49" charset="-122"/>
              </a:rPr>
              <a:t>忍耐</a:t>
            </a:r>
            <a:r>
              <a:rPr lang="zh-CN" altLang="en-US" dirty="0" smtClean="0">
                <a:latin typeface="楷体" panose="02010609060101010101" pitchFamily="49" charset="-122"/>
                <a:ea typeface="楷体" panose="02010609060101010101" pitchFamily="49" charset="-122"/>
              </a:rPr>
              <a:t>者。敌方</a:t>
            </a:r>
            <a:r>
              <a:rPr lang="zh-CN" altLang="en-US" dirty="0">
                <a:latin typeface="楷体" panose="02010609060101010101" pitchFamily="49" charset="-122"/>
                <a:ea typeface="楷体" panose="02010609060101010101" pitchFamily="49" charset="-122"/>
              </a:rPr>
              <a:t>某一家忍耐了很久，终于忍无可忍出炸</a:t>
            </a:r>
            <a:r>
              <a:rPr lang="zh-CN" altLang="en-US" dirty="0" smtClean="0">
                <a:latin typeface="楷体" panose="02010609060101010101" pitchFamily="49" charset="-122"/>
                <a:ea typeface="楷体" panose="02010609060101010101" pitchFamily="49" charset="-122"/>
              </a:rPr>
              <a:t>，一般来说他有两种情况：一是炸弹少，他想在合适时机使用；另一方面是他认为时机合适了；第三是没等到合适他的牌路；四是可能想帮助他的搭档。此时</a:t>
            </a:r>
            <a:r>
              <a:rPr lang="zh-CN" altLang="en-US" dirty="0">
                <a:latin typeface="楷体" panose="02010609060101010101" pitchFamily="49" charset="-122"/>
                <a:ea typeface="楷体" panose="02010609060101010101" pitchFamily="49" charset="-122"/>
              </a:rPr>
              <a:t>直接盖过</a:t>
            </a:r>
            <a:r>
              <a:rPr lang="zh-CN" altLang="en-US" dirty="0" smtClean="0">
                <a:latin typeface="楷体" panose="02010609060101010101" pitchFamily="49" charset="-122"/>
                <a:ea typeface="楷体" panose="02010609060101010101" pitchFamily="49" charset="-122"/>
              </a:rPr>
              <a:t>，基本上是你控制他的最佳机会。</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3</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炸</a:t>
            </a:r>
            <a:r>
              <a:rPr lang="zh-CN" altLang="en-US" dirty="0">
                <a:latin typeface="楷体" panose="02010609060101010101" pitchFamily="49" charset="-122"/>
                <a:ea typeface="楷体" panose="02010609060101010101" pitchFamily="49" charset="-122"/>
              </a:rPr>
              <a:t>敌方牌技高</a:t>
            </a:r>
            <a:r>
              <a:rPr lang="zh-CN" altLang="en-US" dirty="0" smtClean="0">
                <a:latin typeface="楷体" panose="02010609060101010101" pitchFamily="49" charset="-122"/>
                <a:ea typeface="楷体" panose="02010609060101010101" pitchFamily="49" charset="-122"/>
              </a:rPr>
              <a:t>者。敌方</a:t>
            </a:r>
            <a:r>
              <a:rPr lang="zh-CN" altLang="en-US" dirty="0">
                <a:latin typeface="楷体" panose="02010609060101010101" pitchFamily="49" charset="-122"/>
                <a:ea typeface="楷体" panose="02010609060101010101" pitchFamily="49" charset="-122"/>
              </a:rPr>
              <a:t>某一家牌技高超，善于接牌送牌，将自己的牌力叠加给队友，就要对其严防死守。把牌技高的打哑火了</a:t>
            </a:r>
            <a:r>
              <a:rPr lang="zh-CN" altLang="en-US" dirty="0" smtClean="0">
                <a:latin typeface="楷体" panose="02010609060101010101" pitchFamily="49" charset="-122"/>
                <a:ea typeface="楷体" panose="02010609060101010101" pitchFamily="49" charset="-122"/>
              </a:rPr>
              <a:t>，让牌技差的对手多出牌，他犯错的可能性加大，我方</a:t>
            </a:r>
            <a:r>
              <a:rPr lang="zh-CN" altLang="en-US" dirty="0">
                <a:latin typeface="楷体" panose="02010609060101010101" pitchFamily="49" charset="-122"/>
                <a:ea typeface="楷体" panose="02010609060101010101" pitchFamily="49" charset="-122"/>
              </a:rPr>
              <a:t>的胜率就会大大提高</a:t>
            </a:r>
            <a:r>
              <a:rPr lang="zh-CN" altLang="en-US" dirty="0" smtClean="0">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311372132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nSpc>
                <a:spcPct val="120000"/>
              </a:lnSpc>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3.6 </a:t>
            </a:r>
            <a:r>
              <a:rPr lang="zh-CN" altLang="en-US" sz="2400" dirty="0">
                <a:solidFill>
                  <a:srgbClr val="0F2C5D"/>
                </a:solidFill>
                <a:latin typeface="黑体" panose="02010609060101010101" charset="-122"/>
                <a:ea typeface="黑体" panose="02010609060101010101" charset="-122"/>
                <a:cs typeface="黑体" panose="02010609060101010101" charset="-122"/>
              </a:rPr>
              <a:t>掼蛋中炸弹的运用</a:t>
            </a: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778607" y="1258035"/>
            <a:ext cx="9924143" cy="4524315"/>
          </a:xfrm>
          <a:prstGeom prst="rect">
            <a:avLst/>
          </a:prstGeom>
        </p:spPr>
        <p:txBody>
          <a:bodyPr wrap="square">
            <a:spAutoFit/>
          </a:bodyPr>
          <a:lstStyle/>
          <a:p>
            <a:r>
              <a:rPr lang="zh-CN" altLang="en-US" sz="1600" dirty="0" smtClean="0">
                <a:latin typeface="楷体" panose="02010609060101010101" pitchFamily="49" charset="-122"/>
                <a:ea typeface="楷体" panose="02010609060101010101" pitchFamily="49" charset="-122"/>
              </a:rPr>
              <a:t>（三）什么时候出炸弹。</a:t>
            </a:r>
            <a:r>
              <a:rPr lang="zh-CN" altLang="en-US" sz="1600" dirty="0">
                <a:latin typeface="楷体" panose="02010609060101010101" pitchFamily="49" charset="-122"/>
                <a:ea typeface="楷体" panose="02010609060101010101" pitchFamily="49" charset="-122"/>
              </a:rPr>
              <a:t>出炸</a:t>
            </a:r>
            <a:r>
              <a:rPr lang="zh-CN" altLang="en-US" sz="1600" dirty="0" smtClean="0">
                <a:latin typeface="楷体" panose="02010609060101010101" pitchFamily="49" charset="-122"/>
                <a:ea typeface="楷体" panose="02010609060101010101" pitchFamily="49" charset="-122"/>
              </a:rPr>
              <a:t>的时候，你一定要问问自己为什么要炸？出炸的原因有三：一是制止对手持续出牌；二是对手某路牌出清你又有这路牌时；三是你对手需要某路牌需要你配合时；四是你自己需要上手出牌时；五是阻止对手冲刺闯关。所以炸了对手之后，如何出牌，一定是在你炸之前就想好的。千万不要因为沉不住气或争口气而炸！</a:t>
            </a:r>
            <a:endParaRPr lang="en-US" altLang="zh-CN" sz="1600" dirty="0" smtClean="0">
              <a:latin typeface="楷体" panose="02010609060101010101" pitchFamily="49" charset="-122"/>
              <a:ea typeface="楷体" panose="02010609060101010101" pitchFamily="49" charset="-122"/>
            </a:endParaRPr>
          </a:p>
          <a:p>
            <a:r>
              <a:rPr lang="en-US" altLang="zh-CN" sz="1600" dirty="0" smtClean="0">
                <a:latin typeface="楷体" panose="02010609060101010101" pitchFamily="49" charset="-122"/>
                <a:ea typeface="楷体" panose="02010609060101010101" pitchFamily="49" charset="-122"/>
              </a:rPr>
              <a:t>1.</a:t>
            </a:r>
            <a:r>
              <a:rPr lang="zh-CN" altLang="en-US" sz="1600" dirty="0" smtClean="0">
                <a:latin typeface="楷体" panose="02010609060101010101" pitchFamily="49" charset="-122"/>
                <a:ea typeface="楷体" panose="02010609060101010101" pitchFamily="49" charset="-122"/>
              </a:rPr>
              <a:t>小</a:t>
            </a:r>
            <a:r>
              <a:rPr lang="zh-CN" altLang="en-US" sz="1600" dirty="0">
                <a:latin typeface="楷体" panose="02010609060101010101" pitchFamily="49" charset="-122"/>
                <a:ea typeface="楷体" panose="02010609060101010101" pitchFamily="49" charset="-122"/>
              </a:rPr>
              <a:t>炸多，及时用</a:t>
            </a:r>
            <a:r>
              <a:rPr lang="zh-CN" altLang="en-US" sz="1600" dirty="0" smtClean="0">
                <a:latin typeface="楷体" panose="02010609060101010101" pitchFamily="49" charset="-122"/>
                <a:ea typeface="楷体" panose="02010609060101010101" pitchFamily="49" charset="-122"/>
              </a:rPr>
              <a:t>炸弹。炸弹多但都很小，具有顶级牌和炸弹的双重特性。要</a:t>
            </a:r>
            <a:r>
              <a:rPr lang="zh-CN" altLang="en-US" sz="1600" dirty="0">
                <a:latin typeface="楷体" panose="02010609060101010101" pitchFamily="49" charset="-122"/>
                <a:ea typeface="楷体" panose="02010609060101010101" pitchFamily="49" charset="-122"/>
              </a:rPr>
              <a:t>抢先用</a:t>
            </a:r>
            <a:r>
              <a:rPr lang="zh-CN" altLang="en-US" sz="1600" dirty="0" smtClean="0">
                <a:latin typeface="楷体" panose="02010609060101010101" pitchFamily="49" charset="-122"/>
                <a:ea typeface="楷体" panose="02010609060101010101" pitchFamily="49" charset="-122"/>
              </a:rPr>
              <a:t>炸，一方面止住对方的某路牌（炸弹作用）；另一方面可以消耗对手的炸弹（顶级牌的作用）。</a:t>
            </a:r>
            <a:endParaRPr lang="en-US" altLang="zh-CN" sz="1600" dirty="0" smtClean="0">
              <a:latin typeface="楷体" panose="02010609060101010101" pitchFamily="49" charset="-122"/>
              <a:ea typeface="楷体" panose="02010609060101010101" pitchFamily="49" charset="-122"/>
            </a:endParaRPr>
          </a:p>
          <a:p>
            <a:r>
              <a:rPr lang="en-US" altLang="zh-CN" sz="1600" dirty="0" smtClean="0">
                <a:latin typeface="楷体" panose="02010609060101010101" pitchFamily="49" charset="-122"/>
                <a:ea typeface="楷体" panose="02010609060101010101" pitchFamily="49" charset="-122"/>
              </a:rPr>
              <a:t>2.</a:t>
            </a:r>
            <a:r>
              <a:rPr lang="zh-CN" altLang="en-US" sz="1600" dirty="0" smtClean="0">
                <a:latin typeface="楷体" panose="02010609060101010101" pitchFamily="49" charset="-122"/>
                <a:ea typeface="楷体" panose="02010609060101010101" pitchFamily="49" charset="-122"/>
              </a:rPr>
              <a:t>用</a:t>
            </a:r>
            <a:r>
              <a:rPr lang="zh-CN" altLang="en-US" sz="1600" dirty="0">
                <a:latin typeface="楷体" panose="02010609060101010101" pitchFamily="49" charset="-122"/>
                <a:ea typeface="楷体" panose="02010609060101010101" pitchFamily="49" charset="-122"/>
              </a:rPr>
              <a:t>大炸，沉住气可适度忍让，</a:t>
            </a:r>
            <a:r>
              <a:rPr lang="zh-CN" altLang="en-US" sz="1600" dirty="0" smtClean="0">
                <a:latin typeface="楷体" panose="02010609060101010101" pitchFamily="49" charset="-122"/>
                <a:ea typeface="楷体" panose="02010609060101010101" pitchFamily="49" charset="-122"/>
              </a:rPr>
              <a:t>在关键时刻作用。</a:t>
            </a:r>
            <a:endParaRPr lang="en-US" altLang="zh-CN" sz="1600" dirty="0" smtClean="0">
              <a:latin typeface="楷体" panose="02010609060101010101" pitchFamily="49" charset="-122"/>
              <a:ea typeface="楷体" panose="02010609060101010101" pitchFamily="49" charset="-122"/>
            </a:endParaRPr>
          </a:p>
          <a:p>
            <a:r>
              <a:rPr lang="en-US" altLang="zh-CN" sz="1600" dirty="0" smtClean="0">
                <a:latin typeface="楷体" panose="02010609060101010101" pitchFamily="49" charset="-122"/>
                <a:ea typeface="楷体" panose="02010609060101010101" pitchFamily="49" charset="-122"/>
              </a:rPr>
              <a:t>3.</a:t>
            </a:r>
            <a:r>
              <a:rPr lang="zh-CN" altLang="en-US" sz="1600" dirty="0" smtClean="0">
                <a:latin typeface="楷体" panose="02010609060101010101" pitchFamily="49" charset="-122"/>
                <a:ea typeface="楷体" panose="02010609060101010101" pitchFamily="49" charset="-122"/>
              </a:rPr>
              <a:t>尾</a:t>
            </a:r>
            <a:r>
              <a:rPr lang="zh-CN" altLang="en-US" sz="1600" dirty="0">
                <a:latin typeface="楷体" panose="02010609060101010101" pitchFamily="49" charset="-122"/>
                <a:ea typeface="楷体" panose="02010609060101010101" pitchFamily="49" charset="-122"/>
              </a:rPr>
              <a:t>牌较大，可立即出</a:t>
            </a:r>
            <a:r>
              <a:rPr lang="zh-CN" altLang="en-US" sz="1600" dirty="0" smtClean="0">
                <a:latin typeface="楷体" panose="02010609060101010101" pitchFamily="49" charset="-122"/>
                <a:ea typeface="楷体" panose="02010609060101010101" pitchFamily="49" charset="-122"/>
              </a:rPr>
              <a:t>炸。闯关</a:t>
            </a:r>
            <a:r>
              <a:rPr lang="en-US" altLang="zh-CN" sz="1600" dirty="0" smtClean="0">
                <a:latin typeface="楷体" panose="02010609060101010101" pitchFamily="49" charset="-122"/>
                <a:ea typeface="楷体" panose="02010609060101010101" pitchFamily="49" charset="-122"/>
              </a:rPr>
              <a:t>1</a:t>
            </a:r>
            <a:r>
              <a:rPr lang="zh-CN" altLang="en-US" sz="1600" dirty="0" smtClean="0">
                <a:latin typeface="楷体" panose="02010609060101010101" pitchFamily="49" charset="-122"/>
                <a:ea typeface="楷体" panose="02010609060101010101" pitchFamily="49" charset="-122"/>
              </a:rPr>
              <a:t>炸</a:t>
            </a:r>
            <a:r>
              <a:rPr lang="en-US" altLang="zh-CN" sz="1600" dirty="0" smtClean="0">
                <a:latin typeface="楷体" panose="02010609060101010101" pitchFamily="49" charset="-122"/>
                <a:ea typeface="楷体" panose="02010609060101010101" pitchFamily="49" charset="-122"/>
              </a:rPr>
              <a:t>+1</a:t>
            </a:r>
            <a:r>
              <a:rPr lang="zh-CN" altLang="en-US" sz="1600" dirty="0" smtClean="0">
                <a:latin typeface="楷体" panose="02010609060101010101" pitchFamily="49" charset="-122"/>
                <a:ea typeface="楷体" panose="02010609060101010101" pitchFamily="49" charset="-122"/>
              </a:rPr>
              <a:t>手</a:t>
            </a:r>
            <a:r>
              <a:rPr lang="zh-CN" altLang="en-US" sz="1600" dirty="0">
                <a:latin typeface="楷体" panose="02010609060101010101" pitchFamily="49" charset="-122"/>
                <a:ea typeface="楷体" panose="02010609060101010101" pitchFamily="49" charset="-122"/>
              </a:rPr>
              <a:t>较大的尾牌，如果上家出不到你的牌路上，为避免下家顺牌可立即出炸闯关。闯关即使失败，也起到了以下作用</a:t>
            </a:r>
            <a:r>
              <a:rPr lang="zh-CN" altLang="en-US" sz="1600" dirty="0" smtClean="0">
                <a:latin typeface="楷体" panose="02010609060101010101" pitchFamily="49" charset="-122"/>
                <a:ea typeface="楷体" panose="02010609060101010101" pitchFamily="49" charset="-122"/>
              </a:rPr>
              <a:t>：消耗</a:t>
            </a:r>
            <a:r>
              <a:rPr lang="zh-CN" altLang="en-US" sz="1600" dirty="0">
                <a:latin typeface="楷体" panose="02010609060101010101" pitchFamily="49" charset="-122"/>
                <a:ea typeface="楷体" panose="02010609060101010101" pitchFamily="49" charset="-122"/>
              </a:rPr>
              <a:t>了对方的</a:t>
            </a:r>
            <a:r>
              <a:rPr lang="zh-CN" altLang="en-US" sz="1600" dirty="0" smtClean="0">
                <a:latin typeface="楷体" panose="02010609060101010101" pitchFamily="49" charset="-122"/>
                <a:ea typeface="楷体" panose="02010609060101010101" pitchFamily="49" charset="-122"/>
              </a:rPr>
              <a:t>炸弹；减少</a:t>
            </a:r>
            <a:r>
              <a:rPr lang="zh-CN" altLang="en-US" sz="1600" dirty="0">
                <a:latin typeface="楷体" panose="02010609060101010101" pitchFamily="49" charset="-122"/>
                <a:ea typeface="楷体" panose="02010609060101010101" pitchFamily="49" charset="-122"/>
              </a:rPr>
              <a:t>了下家顺牌的</a:t>
            </a:r>
            <a:r>
              <a:rPr lang="zh-CN" altLang="en-US" sz="1600" dirty="0" smtClean="0">
                <a:latin typeface="楷体" panose="02010609060101010101" pitchFamily="49" charset="-122"/>
                <a:ea typeface="楷体" panose="02010609060101010101" pitchFamily="49" charset="-122"/>
              </a:rPr>
              <a:t>机会；进入</a:t>
            </a:r>
            <a:r>
              <a:rPr lang="zh-CN" altLang="en-US" sz="1600" dirty="0">
                <a:latin typeface="楷体" panose="02010609060101010101" pitchFamily="49" charset="-122"/>
                <a:ea typeface="楷体" panose="02010609060101010101" pitchFamily="49" charset="-122"/>
              </a:rPr>
              <a:t>听牌状态，把牌打明，便于队友送桥如果尾牌不够大，则可适度忍让，以免队友误判</a:t>
            </a:r>
            <a:r>
              <a:rPr lang="zh-CN" altLang="en-US" sz="1600" dirty="0" smtClean="0">
                <a:latin typeface="楷体" panose="02010609060101010101" pitchFamily="49" charset="-122"/>
                <a:ea typeface="楷体" panose="02010609060101010101" pitchFamily="49" charset="-122"/>
              </a:rPr>
              <a:t>。</a:t>
            </a:r>
            <a:endParaRPr lang="en-US" altLang="zh-CN" sz="1600" dirty="0" smtClean="0">
              <a:latin typeface="楷体" panose="02010609060101010101" pitchFamily="49" charset="-122"/>
              <a:ea typeface="楷体" panose="02010609060101010101" pitchFamily="49" charset="-122"/>
            </a:endParaRPr>
          </a:p>
          <a:p>
            <a:r>
              <a:rPr lang="en-US" altLang="zh-CN" sz="1600" dirty="0" smtClean="0">
                <a:latin typeface="楷体" panose="02010609060101010101" pitchFamily="49" charset="-122"/>
                <a:ea typeface="楷体" panose="02010609060101010101" pitchFamily="49" charset="-122"/>
              </a:rPr>
              <a:t>4.</a:t>
            </a:r>
            <a:r>
              <a:rPr lang="zh-CN" altLang="en-US" sz="1600" dirty="0" smtClean="0">
                <a:latin typeface="楷体" panose="02010609060101010101" pitchFamily="49" charset="-122"/>
                <a:ea typeface="楷体" panose="02010609060101010101" pitchFamily="49" charset="-122"/>
              </a:rPr>
              <a:t>如果</a:t>
            </a:r>
            <a:r>
              <a:rPr lang="zh-CN" altLang="en-US" sz="1600" dirty="0">
                <a:latin typeface="楷体" panose="02010609060101010101" pitchFamily="49" charset="-122"/>
                <a:ea typeface="楷体" panose="02010609060101010101" pitchFamily="49" charset="-122"/>
              </a:rPr>
              <a:t>获得出牌权，但无理想牌路可不</a:t>
            </a:r>
            <a:r>
              <a:rPr lang="zh-CN" altLang="en-US" sz="1600" dirty="0" smtClean="0">
                <a:latin typeface="楷体" panose="02010609060101010101" pitchFamily="49" charset="-122"/>
                <a:ea typeface="楷体" panose="02010609060101010101" pitchFamily="49" charset="-122"/>
              </a:rPr>
              <a:t>炸。自己</a:t>
            </a:r>
            <a:r>
              <a:rPr lang="zh-CN" altLang="en-US" sz="1600" dirty="0">
                <a:latin typeface="楷体" panose="02010609060101010101" pitchFamily="49" charset="-122"/>
                <a:ea typeface="楷体" panose="02010609060101010101" pitchFamily="49" charset="-122"/>
              </a:rPr>
              <a:t>各种牌路都没有控制，也</a:t>
            </a:r>
            <a:r>
              <a:rPr lang="zh-CN" altLang="en-US" sz="1600" dirty="0" smtClean="0">
                <a:latin typeface="楷体" panose="02010609060101010101" pitchFamily="49" charset="-122"/>
                <a:ea typeface="楷体" panose="02010609060101010101" pitchFamily="49" charset="-122"/>
              </a:rPr>
              <a:t>不知对家牌</a:t>
            </a:r>
            <a:r>
              <a:rPr lang="zh-CN" altLang="en-US" sz="1600" dirty="0">
                <a:latin typeface="楷体" panose="02010609060101010101" pitchFamily="49" charset="-122"/>
                <a:ea typeface="楷体" panose="02010609060101010101" pitchFamily="49" charset="-122"/>
              </a:rPr>
              <a:t>路，炸了之后出什么好呢</a:t>
            </a:r>
            <a:r>
              <a:rPr lang="zh-CN" altLang="en-US" sz="1600" dirty="0" smtClean="0">
                <a:latin typeface="楷体" panose="02010609060101010101" pitchFamily="49" charset="-122"/>
                <a:ea typeface="楷体" panose="02010609060101010101" pitchFamily="49" charset="-122"/>
              </a:rPr>
              <a:t>？</a:t>
            </a:r>
            <a:endParaRPr lang="en-US" altLang="zh-CN" sz="1600" dirty="0" smtClean="0">
              <a:latin typeface="楷体" panose="02010609060101010101" pitchFamily="49" charset="-122"/>
              <a:ea typeface="楷体" panose="02010609060101010101" pitchFamily="49" charset="-122"/>
            </a:endParaRPr>
          </a:p>
          <a:p>
            <a:r>
              <a:rPr lang="en-US" altLang="zh-CN" sz="1600" dirty="0" smtClean="0">
                <a:latin typeface="楷体" panose="02010609060101010101" pitchFamily="49" charset="-122"/>
                <a:ea typeface="楷体" panose="02010609060101010101" pitchFamily="49" charset="-122"/>
              </a:rPr>
              <a:t>5.</a:t>
            </a:r>
            <a:r>
              <a:rPr lang="zh-CN" altLang="en-US" sz="1600" dirty="0" smtClean="0">
                <a:latin typeface="楷体" panose="02010609060101010101" pitchFamily="49" charset="-122"/>
                <a:ea typeface="楷体" panose="02010609060101010101" pitchFamily="49" charset="-122"/>
              </a:rPr>
              <a:t>出现</a:t>
            </a:r>
            <a:r>
              <a:rPr lang="zh-CN" altLang="en-US" sz="1600" dirty="0">
                <a:latin typeface="楷体" panose="02010609060101010101" pitchFamily="49" charset="-122"/>
                <a:ea typeface="楷体" panose="02010609060101010101" pitchFamily="49" charset="-122"/>
              </a:rPr>
              <a:t>理想牌路，可开炸比如：</a:t>
            </a:r>
            <a:r>
              <a:rPr lang="zh-CN" altLang="en-US" sz="1600" dirty="0" smtClean="0">
                <a:latin typeface="楷体" panose="02010609060101010101" pitchFamily="49" charset="-122"/>
                <a:ea typeface="楷体" panose="02010609060101010101" pitchFamily="49" charset="-122"/>
              </a:rPr>
              <a:t>敌方</a:t>
            </a:r>
            <a:r>
              <a:rPr lang="en-US" altLang="zh-CN" sz="1600" dirty="0" smtClean="0">
                <a:latin typeface="楷体" panose="02010609060101010101" pitchFamily="49" charset="-122"/>
                <a:ea typeface="楷体" panose="02010609060101010101" pitchFamily="49" charset="-122"/>
              </a:rPr>
              <a:t>2</a:t>
            </a:r>
            <a:r>
              <a:rPr lang="zh-CN" altLang="en-US" sz="1600" dirty="0" smtClean="0">
                <a:latin typeface="楷体" panose="02010609060101010101" pitchFamily="49" charset="-122"/>
                <a:ea typeface="楷体" panose="02010609060101010101" pitchFamily="49" charset="-122"/>
              </a:rPr>
              <a:t>张大</a:t>
            </a:r>
            <a:r>
              <a:rPr lang="zh-CN" altLang="en-US" sz="1600" dirty="0">
                <a:latin typeface="楷体" panose="02010609060101010101" pitchFamily="49" charset="-122"/>
                <a:ea typeface="楷体" panose="02010609060101010101" pitchFamily="49" charset="-122"/>
              </a:rPr>
              <a:t>王你</a:t>
            </a:r>
            <a:r>
              <a:rPr lang="zh-CN" altLang="en-US" sz="1600" dirty="0" smtClean="0">
                <a:latin typeface="楷体" panose="02010609060101010101" pitchFamily="49" charset="-122"/>
                <a:ea typeface="楷体" panose="02010609060101010101" pitchFamily="49" charset="-122"/>
              </a:rPr>
              <a:t>有</a:t>
            </a:r>
            <a:r>
              <a:rPr lang="en-US" altLang="zh-CN" sz="1600" dirty="0" smtClean="0">
                <a:latin typeface="楷体" panose="02010609060101010101" pitchFamily="49" charset="-122"/>
                <a:ea typeface="楷体" panose="02010609060101010101" pitchFamily="49" charset="-122"/>
              </a:rPr>
              <a:t>2</a:t>
            </a:r>
            <a:r>
              <a:rPr lang="zh-CN" altLang="en-US" sz="1600" dirty="0" smtClean="0">
                <a:latin typeface="楷体" panose="02010609060101010101" pitchFamily="49" charset="-122"/>
                <a:ea typeface="楷体" panose="02010609060101010101" pitchFamily="49" charset="-122"/>
              </a:rPr>
              <a:t>张</a:t>
            </a:r>
            <a:r>
              <a:rPr lang="zh-CN" altLang="en-US" sz="1600" dirty="0">
                <a:latin typeface="楷体" panose="02010609060101010101" pitchFamily="49" charset="-122"/>
                <a:ea typeface="楷体" panose="02010609060101010101" pitchFamily="49" charset="-122"/>
              </a:rPr>
              <a:t>小王，敌方</a:t>
            </a:r>
            <a:r>
              <a:rPr lang="zh-CN" altLang="en-US" sz="1600" dirty="0" smtClean="0">
                <a:latin typeface="楷体" panose="02010609060101010101" pitchFamily="49" charset="-122"/>
                <a:ea typeface="楷体" panose="02010609060101010101" pitchFamily="49" charset="-122"/>
              </a:rPr>
              <a:t>第</a:t>
            </a:r>
            <a:r>
              <a:rPr lang="en-US" altLang="zh-CN" sz="1600" dirty="0" smtClean="0">
                <a:latin typeface="楷体" panose="02010609060101010101" pitchFamily="49" charset="-122"/>
                <a:ea typeface="楷体" panose="02010609060101010101" pitchFamily="49" charset="-122"/>
              </a:rPr>
              <a:t>2</a:t>
            </a:r>
            <a:r>
              <a:rPr lang="zh-CN" altLang="en-US" sz="1600" dirty="0" smtClean="0">
                <a:latin typeface="楷体" panose="02010609060101010101" pitchFamily="49" charset="-122"/>
                <a:ea typeface="楷体" panose="02010609060101010101" pitchFamily="49" charset="-122"/>
              </a:rPr>
              <a:t>张大</a:t>
            </a:r>
            <a:r>
              <a:rPr lang="zh-CN" altLang="en-US" sz="1600" dirty="0">
                <a:latin typeface="楷体" panose="02010609060101010101" pitchFamily="49" charset="-122"/>
                <a:ea typeface="楷体" panose="02010609060101010101" pitchFamily="49" charset="-122"/>
              </a:rPr>
              <a:t>王出现时可开炸，因为你的单路已成为强路。如果见</a:t>
            </a:r>
            <a:r>
              <a:rPr lang="zh-CN" altLang="en-US" sz="1600" dirty="0" smtClean="0">
                <a:latin typeface="楷体" panose="02010609060101010101" pitchFamily="49" charset="-122"/>
                <a:ea typeface="楷体" panose="02010609060101010101" pitchFamily="49" charset="-122"/>
              </a:rPr>
              <a:t>第</a:t>
            </a:r>
            <a:r>
              <a:rPr lang="en-US" altLang="zh-CN" sz="1600" dirty="0" smtClean="0">
                <a:latin typeface="楷体" panose="02010609060101010101" pitchFamily="49" charset="-122"/>
                <a:ea typeface="楷体" panose="02010609060101010101" pitchFamily="49" charset="-122"/>
              </a:rPr>
              <a:t>1</a:t>
            </a:r>
            <a:r>
              <a:rPr lang="zh-CN" altLang="en-US" sz="1600" dirty="0" smtClean="0">
                <a:latin typeface="楷体" panose="02010609060101010101" pitchFamily="49" charset="-122"/>
                <a:ea typeface="楷体" panose="02010609060101010101" pitchFamily="49" charset="-122"/>
              </a:rPr>
              <a:t>张大</a:t>
            </a:r>
            <a:r>
              <a:rPr lang="zh-CN" altLang="en-US" sz="1600" dirty="0">
                <a:latin typeface="楷体" panose="02010609060101010101" pitchFamily="49" charset="-122"/>
                <a:ea typeface="楷体" panose="02010609060101010101" pitchFamily="49" charset="-122"/>
              </a:rPr>
              <a:t>王就炸，再出单牌时控制权还得让出</a:t>
            </a:r>
            <a:r>
              <a:rPr lang="zh-CN" altLang="en-US" sz="1600" dirty="0" smtClean="0">
                <a:latin typeface="楷体" panose="02010609060101010101" pitchFamily="49" charset="-122"/>
                <a:ea typeface="楷体" panose="02010609060101010101" pitchFamily="49" charset="-122"/>
              </a:rPr>
              <a:t>。我方无顺子，炸第一顺子，我方有小顺子，可炸第二顺子。</a:t>
            </a:r>
            <a:endParaRPr lang="en-US" altLang="zh-CN" sz="1600" dirty="0" smtClean="0">
              <a:latin typeface="楷体" panose="02010609060101010101" pitchFamily="49" charset="-122"/>
              <a:ea typeface="楷体" panose="02010609060101010101" pitchFamily="49" charset="-122"/>
            </a:endParaRPr>
          </a:p>
          <a:p>
            <a:r>
              <a:rPr lang="en-US" altLang="zh-CN" sz="1600" dirty="0" smtClean="0">
                <a:latin typeface="楷体" panose="02010609060101010101" pitchFamily="49" charset="-122"/>
                <a:ea typeface="楷体" panose="02010609060101010101" pitchFamily="49" charset="-122"/>
              </a:rPr>
              <a:t>6.</a:t>
            </a:r>
            <a:r>
              <a:rPr lang="zh-CN" altLang="en-US" sz="1600" dirty="0" smtClean="0">
                <a:latin typeface="楷体" panose="02010609060101010101" pitchFamily="49" charset="-122"/>
                <a:ea typeface="楷体" panose="02010609060101010101" pitchFamily="49" charset="-122"/>
              </a:rPr>
              <a:t>没有</a:t>
            </a:r>
            <a:r>
              <a:rPr lang="zh-CN" altLang="en-US" sz="1600" dirty="0">
                <a:latin typeface="楷体" panose="02010609060101010101" pitchFamily="49" charset="-122"/>
                <a:ea typeface="楷体" panose="02010609060101010101" pitchFamily="49" charset="-122"/>
              </a:rPr>
              <a:t>顺牌的可能和必要，可直接开炸，即使失败也为队友创造了</a:t>
            </a:r>
            <a:r>
              <a:rPr lang="zh-CN" altLang="en-US" sz="1600" dirty="0" smtClean="0">
                <a:latin typeface="楷体" panose="02010609060101010101" pitchFamily="49" charset="-122"/>
                <a:ea typeface="楷体" panose="02010609060101010101" pitchFamily="49" charset="-122"/>
              </a:rPr>
              <a:t>机会。若此时</a:t>
            </a:r>
            <a:r>
              <a:rPr lang="zh-CN" altLang="en-US" sz="1600" dirty="0">
                <a:latin typeface="楷体" panose="02010609060101010101" pitchFamily="49" charset="-122"/>
                <a:ea typeface="楷体" panose="02010609060101010101" pitchFamily="49" charset="-122"/>
              </a:rPr>
              <a:t>忍耐，就会给对方更多机会</a:t>
            </a:r>
            <a:r>
              <a:rPr lang="zh-CN" altLang="en-US" sz="1600" dirty="0" smtClean="0">
                <a:latin typeface="楷体" panose="02010609060101010101" pitchFamily="49" charset="-122"/>
                <a:ea typeface="楷体" panose="02010609060101010101" pitchFamily="49" charset="-122"/>
              </a:rPr>
              <a:t>。</a:t>
            </a:r>
            <a:endParaRPr lang="en-US" altLang="zh-CN" sz="1600" dirty="0" smtClean="0">
              <a:latin typeface="楷体" panose="02010609060101010101" pitchFamily="49" charset="-122"/>
              <a:ea typeface="楷体" panose="02010609060101010101" pitchFamily="49" charset="-122"/>
            </a:endParaRPr>
          </a:p>
          <a:p>
            <a:r>
              <a:rPr lang="en-US" altLang="zh-CN" sz="1600" dirty="0" smtClean="0">
                <a:latin typeface="楷体" panose="02010609060101010101" pitchFamily="49" charset="-122"/>
                <a:ea typeface="楷体" panose="02010609060101010101" pitchFamily="49" charset="-122"/>
              </a:rPr>
              <a:t>7.</a:t>
            </a:r>
            <a:r>
              <a:rPr lang="zh-CN" altLang="en-US" sz="1600" dirty="0" smtClean="0">
                <a:latin typeface="楷体" panose="02010609060101010101" pitchFamily="49" charset="-122"/>
                <a:ea typeface="楷体" panose="02010609060101010101" pitchFamily="49" charset="-122"/>
              </a:rPr>
              <a:t>敌方剩</a:t>
            </a:r>
            <a:r>
              <a:rPr lang="en-US" altLang="zh-CN" sz="1600" dirty="0" smtClean="0">
                <a:latin typeface="楷体" panose="02010609060101010101" pitchFamily="49" charset="-122"/>
                <a:ea typeface="楷体" panose="02010609060101010101" pitchFamily="49" charset="-122"/>
              </a:rPr>
              <a:t>4</a:t>
            </a:r>
            <a:r>
              <a:rPr lang="zh-CN" altLang="en-US" sz="1600" dirty="0" smtClean="0">
                <a:latin typeface="楷体" panose="02010609060101010101" pitchFamily="49" charset="-122"/>
                <a:ea typeface="楷体" panose="02010609060101010101" pitchFamily="49" charset="-122"/>
              </a:rPr>
              <a:t>张</a:t>
            </a:r>
            <a:r>
              <a:rPr lang="zh-CN" altLang="en-US" sz="1600" dirty="0">
                <a:latin typeface="楷体" panose="02010609060101010101" pitchFamily="49" charset="-122"/>
                <a:ea typeface="楷体" panose="02010609060101010101" pitchFamily="49" charset="-122"/>
              </a:rPr>
              <a:t>牌，一般不炸敌方剩 </a:t>
            </a:r>
            <a:r>
              <a:rPr lang="en-US" altLang="zh-CN" sz="1600" dirty="0">
                <a:latin typeface="楷体" panose="02010609060101010101" pitchFamily="49" charset="-122"/>
                <a:ea typeface="楷体" panose="02010609060101010101" pitchFamily="49" charset="-122"/>
              </a:rPr>
              <a:t>4 </a:t>
            </a:r>
            <a:r>
              <a:rPr lang="zh-CN" altLang="en-US" sz="1600" dirty="0">
                <a:latin typeface="楷体" panose="02010609060101010101" pitchFamily="49" charset="-122"/>
                <a:ea typeface="楷体" panose="02010609060101010101" pitchFamily="49" charset="-122"/>
              </a:rPr>
              <a:t>张牌，如果是炸弹，一般就挡不住了。如果不是，则是多手牌。“炸不打四”就是这个道理。例外：仅当下家很弱</a:t>
            </a:r>
            <a:r>
              <a:rPr lang="zh-CN" altLang="en-US" sz="1600" dirty="0" smtClean="0">
                <a:latin typeface="楷体" panose="02010609060101010101" pitchFamily="49" charset="-122"/>
                <a:ea typeface="楷体" panose="02010609060101010101" pitchFamily="49" charset="-122"/>
              </a:rPr>
              <a:t>，对家剩</a:t>
            </a:r>
            <a:r>
              <a:rPr lang="zh-CN" altLang="en-US" sz="1600" dirty="0">
                <a:latin typeface="楷体" panose="02010609060101010101" pitchFamily="49" charset="-122"/>
                <a:ea typeface="楷体" panose="02010609060101010101" pitchFamily="49" charset="-122"/>
              </a:rPr>
              <a:t>一手牌时，可出大炸后</a:t>
            </a:r>
            <a:r>
              <a:rPr lang="zh-CN" altLang="en-US" sz="1600" dirty="0" smtClean="0">
                <a:latin typeface="楷体" panose="02010609060101010101" pitchFamily="49" charset="-122"/>
                <a:ea typeface="楷体" panose="02010609060101010101" pitchFamily="49" charset="-122"/>
              </a:rPr>
              <a:t>给对家送</a:t>
            </a:r>
            <a:r>
              <a:rPr lang="zh-CN" altLang="en-US" sz="1600" dirty="0">
                <a:latin typeface="楷体" panose="02010609060101010101" pitchFamily="49" charset="-122"/>
                <a:ea typeface="楷体" panose="02010609060101010101" pitchFamily="49" charset="-122"/>
              </a:rPr>
              <a:t>桥，</a:t>
            </a:r>
            <a:r>
              <a:rPr lang="zh-CN" altLang="en-US" sz="1600" dirty="0" smtClean="0">
                <a:latin typeface="楷体" panose="02010609060101010101" pitchFamily="49" charset="-122"/>
                <a:ea typeface="楷体" panose="02010609060101010101" pitchFamily="49" charset="-122"/>
              </a:rPr>
              <a:t>让对家抢先</a:t>
            </a:r>
            <a:r>
              <a:rPr lang="zh-CN" altLang="en-US" sz="1600" dirty="0">
                <a:latin typeface="楷体" panose="02010609060101010101" pitchFamily="49" charset="-122"/>
                <a:ea typeface="楷体" panose="02010609060101010101" pitchFamily="49" charset="-122"/>
              </a:rPr>
              <a:t>拿头游。 </a:t>
            </a:r>
          </a:p>
        </p:txBody>
      </p:sp>
    </p:spTree>
    <p:custDataLst>
      <p:tags r:id="rId1"/>
    </p:custDataLst>
    <p:extLst>
      <p:ext uri="{BB962C8B-B14F-4D97-AF65-F5344CB8AC3E}">
        <p14:creationId xmlns:p14="http://schemas.microsoft.com/office/powerpoint/2010/main" val="26426948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nSpc>
                <a:spcPct val="120000"/>
              </a:lnSpc>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3.6 </a:t>
            </a:r>
            <a:r>
              <a:rPr lang="zh-CN" altLang="en-US" sz="2400" dirty="0">
                <a:solidFill>
                  <a:srgbClr val="0F2C5D"/>
                </a:solidFill>
                <a:latin typeface="黑体" panose="02010609060101010101" charset="-122"/>
                <a:ea typeface="黑体" panose="02010609060101010101" charset="-122"/>
                <a:cs typeface="黑体" panose="02010609060101010101" charset="-122"/>
              </a:rPr>
              <a:t>掼蛋中炸弹的运用</a:t>
            </a: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778608" y="1171109"/>
            <a:ext cx="10052150" cy="5078313"/>
          </a:xfrm>
          <a:prstGeom prst="rect">
            <a:avLst/>
          </a:prstGeom>
        </p:spPr>
        <p:txBody>
          <a:bodyPr wrap="square">
            <a:spAutoFit/>
          </a:bodyPr>
          <a:lstStyle/>
          <a:p>
            <a:r>
              <a:rPr lang="zh-CN" altLang="en-US" dirty="0" smtClean="0">
                <a:latin typeface="楷体" panose="02010609060101010101" pitchFamily="49" charset="-122"/>
                <a:ea typeface="楷体" panose="02010609060101010101" pitchFamily="49" charset="-122"/>
              </a:rPr>
              <a:t>（四）报牌后炸弹的使用，用出牌的思考</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敌方剩5张</a:t>
            </a:r>
            <a:r>
              <a:rPr lang="zh-CN" altLang="en-US" dirty="0">
                <a:latin typeface="楷体" panose="02010609060101010101" pitchFamily="49" charset="-122"/>
                <a:ea typeface="楷体" panose="02010609060101010101" pitchFamily="49" charset="-122"/>
              </a:rPr>
              <a:t>牌，一般要炸可能</a:t>
            </a:r>
            <a:r>
              <a:rPr lang="zh-CN" altLang="en-US" dirty="0" smtClean="0">
                <a:latin typeface="楷体" panose="02010609060101010101" pitchFamily="49" charset="-122"/>
                <a:ea typeface="楷体" panose="02010609060101010101" pitchFamily="49" charset="-122"/>
              </a:rPr>
              <a:t>是1手 </a:t>
            </a:r>
            <a:r>
              <a:rPr lang="zh-CN" altLang="en-US" dirty="0">
                <a:latin typeface="楷体" panose="02010609060101010101" pitchFamily="49" charset="-122"/>
                <a:ea typeface="楷体" panose="02010609060101010101" pitchFamily="49" charset="-122"/>
              </a:rPr>
              <a:t>3+2，也可能</a:t>
            </a:r>
            <a:r>
              <a:rPr lang="zh-CN" altLang="en-US" dirty="0" smtClean="0">
                <a:latin typeface="楷体" panose="02010609060101010101" pitchFamily="49" charset="-122"/>
                <a:ea typeface="楷体" panose="02010609060101010101" pitchFamily="49" charset="-122"/>
              </a:rPr>
              <a:t>是1炸</a:t>
            </a:r>
            <a:r>
              <a:rPr lang="zh-CN" altLang="en-US" dirty="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1单</a:t>
            </a:r>
            <a:r>
              <a:rPr lang="zh-CN" altLang="en-US" dirty="0">
                <a:latin typeface="楷体" panose="02010609060101010101" pitchFamily="49" charset="-122"/>
                <a:ea typeface="楷体" panose="02010609060101010101" pitchFamily="49" charset="-122"/>
              </a:rPr>
              <a:t>张，如果不炸敌人就跑了。此时宜炸后出对子，即“</a:t>
            </a:r>
            <a:r>
              <a:rPr lang="zh-CN" altLang="en-US" dirty="0" smtClean="0">
                <a:latin typeface="楷体" panose="02010609060101010101" pitchFamily="49" charset="-122"/>
                <a:ea typeface="楷体" panose="02010609060101010101" pitchFamily="49" charset="-122"/>
              </a:rPr>
              <a:t>逢5出</a:t>
            </a:r>
            <a:r>
              <a:rPr lang="zh-CN" altLang="en-US" dirty="0">
                <a:latin typeface="楷体" panose="02010609060101010101" pitchFamily="49" charset="-122"/>
                <a:ea typeface="楷体" panose="02010609060101010101" pitchFamily="49" charset="-122"/>
              </a:rPr>
              <a:t>对”。例外：</a:t>
            </a:r>
            <a:r>
              <a:rPr lang="zh-CN" altLang="en-US" dirty="0" smtClean="0">
                <a:latin typeface="楷体" panose="02010609060101010101" pitchFamily="49" charset="-122"/>
                <a:ea typeface="楷体" panose="02010609060101010101" pitchFamily="49" charset="-122"/>
              </a:rPr>
              <a:t>5张</a:t>
            </a:r>
            <a:r>
              <a:rPr lang="zh-CN" altLang="en-US" dirty="0">
                <a:latin typeface="楷体" panose="02010609060101010101" pitchFamily="49" charset="-122"/>
                <a:ea typeface="楷体" panose="02010609060101010101" pitchFamily="49" charset="-122"/>
              </a:rPr>
              <a:t>也有可能</a:t>
            </a:r>
            <a:r>
              <a:rPr lang="zh-CN" altLang="en-US" dirty="0" smtClean="0">
                <a:latin typeface="楷体" panose="02010609060101010101" pitchFamily="49" charset="-122"/>
                <a:ea typeface="楷体" panose="02010609060101010101" pitchFamily="49" charset="-122"/>
              </a:rPr>
              <a:t>是1手</a:t>
            </a:r>
            <a:r>
              <a:rPr lang="zh-CN" altLang="en-US" dirty="0">
                <a:latin typeface="楷体" panose="02010609060101010101" pitchFamily="49" charset="-122"/>
                <a:ea typeface="楷体" panose="02010609060101010101" pitchFamily="49" charset="-122"/>
              </a:rPr>
              <a:t>炸弹，这时出炸就被骗了</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敌方剩7或8张</a:t>
            </a:r>
            <a:r>
              <a:rPr lang="zh-CN" altLang="en-US" dirty="0">
                <a:latin typeface="楷体" panose="02010609060101010101" pitchFamily="49" charset="-122"/>
                <a:ea typeface="楷体" panose="02010609060101010101" pitchFamily="49" charset="-122"/>
              </a:rPr>
              <a:t>牌，酌情考虑有些地方的规则是</a:t>
            </a:r>
            <a:r>
              <a:rPr lang="zh-CN" altLang="en-US" dirty="0" smtClean="0">
                <a:latin typeface="楷体" panose="02010609060101010101" pitchFamily="49" charset="-122"/>
                <a:ea typeface="楷体" panose="02010609060101010101" pitchFamily="49" charset="-122"/>
              </a:rPr>
              <a:t>剩10张</a:t>
            </a:r>
            <a:r>
              <a:rPr lang="zh-CN" altLang="en-US" dirty="0">
                <a:latin typeface="楷体" panose="02010609060101010101" pitchFamily="49" charset="-122"/>
                <a:ea typeface="楷体" panose="02010609060101010101" pitchFamily="49" charset="-122"/>
              </a:rPr>
              <a:t>报牌，在网上打牌还可知道更多的剩牌张数。</a:t>
            </a:r>
            <a:r>
              <a:rPr lang="zh-CN" altLang="en-US" dirty="0" smtClean="0">
                <a:latin typeface="楷体" panose="02010609060101010101" pitchFamily="49" charset="-122"/>
                <a:ea typeface="楷体" panose="02010609060101010101" pitchFamily="49" charset="-122"/>
              </a:rPr>
              <a:t>7张</a:t>
            </a:r>
            <a:r>
              <a:rPr lang="zh-CN" altLang="en-US" dirty="0">
                <a:latin typeface="楷体" panose="02010609060101010101" pitchFamily="49" charset="-122"/>
                <a:ea typeface="楷体" panose="02010609060101010101" pitchFamily="49" charset="-122"/>
              </a:rPr>
              <a:t>可能</a:t>
            </a:r>
            <a:r>
              <a:rPr lang="zh-CN" altLang="en-US" dirty="0" smtClean="0">
                <a:latin typeface="楷体" panose="02010609060101010101" pitchFamily="49" charset="-122"/>
                <a:ea typeface="楷体" panose="02010609060101010101" pitchFamily="49" charset="-122"/>
              </a:rPr>
              <a:t>是1单</a:t>
            </a:r>
            <a:r>
              <a:rPr lang="zh-CN" altLang="en-US" dirty="0">
                <a:latin typeface="楷体" panose="02010609060101010101" pitchFamily="49" charset="-122"/>
                <a:ea typeface="楷体" panose="02010609060101010101" pitchFamily="49" charset="-122"/>
              </a:rPr>
              <a:t>+1 对+</a:t>
            </a:r>
            <a:r>
              <a:rPr lang="zh-CN" altLang="en-US" dirty="0" smtClean="0">
                <a:latin typeface="楷体" panose="02010609060101010101" pitchFamily="49" charset="-122"/>
                <a:ea typeface="楷体" panose="02010609060101010101" pitchFamily="49" charset="-122"/>
              </a:rPr>
              <a:t>1个4头</a:t>
            </a:r>
            <a:r>
              <a:rPr lang="zh-CN" altLang="en-US" dirty="0">
                <a:latin typeface="楷体" panose="02010609060101010101" pitchFamily="49" charset="-122"/>
                <a:ea typeface="楷体" panose="02010609060101010101" pitchFamily="49" charset="-122"/>
              </a:rPr>
              <a:t>炸，</a:t>
            </a:r>
            <a:r>
              <a:rPr lang="zh-CN" altLang="en-US" dirty="0" smtClean="0">
                <a:latin typeface="楷体" panose="02010609060101010101" pitchFamily="49" charset="-122"/>
                <a:ea typeface="楷体" panose="02010609060101010101" pitchFamily="49" charset="-122"/>
              </a:rPr>
              <a:t>即124牌</a:t>
            </a:r>
            <a:r>
              <a:rPr lang="zh-CN" altLang="en-US" dirty="0">
                <a:latin typeface="楷体" panose="02010609060101010101" pitchFamily="49" charset="-122"/>
                <a:ea typeface="楷体" panose="02010609060101010101" pitchFamily="49" charset="-122"/>
              </a:rPr>
              <a:t>型。</a:t>
            </a:r>
            <a:r>
              <a:rPr lang="zh-CN" altLang="en-US" dirty="0" smtClean="0">
                <a:latin typeface="楷体" panose="02010609060101010101" pitchFamily="49" charset="-122"/>
                <a:ea typeface="楷体" panose="02010609060101010101" pitchFamily="49" charset="-122"/>
              </a:rPr>
              <a:t>8张</a:t>
            </a:r>
            <a:r>
              <a:rPr lang="zh-CN" altLang="en-US" dirty="0">
                <a:latin typeface="楷体" panose="02010609060101010101" pitchFamily="49" charset="-122"/>
                <a:ea typeface="楷体" panose="02010609060101010101" pitchFamily="49" charset="-122"/>
              </a:rPr>
              <a:t>可能</a:t>
            </a:r>
            <a:r>
              <a:rPr lang="zh-CN" altLang="en-US" dirty="0" smtClean="0">
                <a:latin typeface="楷体" panose="02010609060101010101" pitchFamily="49" charset="-122"/>
                <a:ea typeface="楷体" panose="02010609060101010101" pitchFamily="49" charset="-122"/>
              </a:rPr>
              <a:t>是1单</a:t>
            </a:r>
            <a:r>
              <a:rPr lang="zh-CN" altLang="en-US" dirty="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1对</a:t>
            </a:r>
            <a:r>
              <a:rPr lang="zh-CN" altLang="en-US" dirty="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1个</a:t>
            </a:r>
            <a:r>
              <a:rPr lang="zh-CN" altLang="en-US" dirty="0">
                <a:latin typeface="楷体" panose="02010609060101010101" pitchFamily="49" charset="-122"/>
                <a:ea typeface="楷体" panose="02010609060101010101" pitchFamily="49" charset="-122"/>
              </a:rPr>
              <a:t>同花炸，</a:t>
            </a:r>
            <a:r>
              <a:rPr lang="zh-CN" altLang="en-US" dirty="0" smtClean="0">
                <a:latin typeface="楷体" panose="02010609060101010101" pitchFamily="49" charset="-122"/>
                <a:ea typeface="楷体" panose="02010609060101010101" pitchFamily="49" charset="-122"/>
              </a:rPr>
              <a:t>即125牌</a:t>
            </a:r>
            <a:r>
              <a:rPr lang="zh-CN" altLang="en-US" dirty="0">
                <a:latin typeface="楷体" panose="02010609060101010101" pitchFamily="49" charset="-122"/>
                <a:ea typeface="楷体" panose="02010609060101010101" pitchFamily="49" charset="-122"/>
              </a:rPr>
              <a:t>型。听</a:t>
            </a:r>
            <a:r>
              <a:rPr lang="zh-CN" altLang="en-US" dirty="0" smtClean="0">
                <a:latin typeface="楷体" panose="02010609060101010101" pitchFamily="49" charset="-122"/>
                <a:ea typeface="楷体" panose="02010609060101010101" pitchFamily="49" charset="-122"/>
              </a:rPr>
              <a:t>过“打7不打8”之</a:t>
            </a:r>
            <a:r>
              <a:rPr lang="zh-CN" altLang="en-US" dirty="0">
                <a:latin typeface="楷体" panose="02010609060101010101" pitchFamily="49" charset="-122"/>
                <a:ea typeface="楷体" panose="02010609060101010101" pitchFamily="49" charset="-122"/>
              </a:rPr>
              <a:t>说，不过还是应该酌情考虑</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决定</a:t>
            </a:r>
            <a:r>
              <a:rPr lang="zh-CN" altLang="en-US" dirty="0">
                <a:latin typeface="楷体" panose="02010609060101010101" pitchFamily="49" charset="-122"/>
                <a:ea typeface="楷体" panose="02010609060101010101" pitchFamily="49" charset="-122"/>
              </a:rPr>
              <a:t>放弃头游可不</a:t>
            </a:r>
            <a:r>
              <a:rPr lang="zh-CN" altLang="en-US" dirty="0" smtClean="0">
                <a:latin typeface="楷体" panose="02010609060101010101" pitchFamily="49" charset="-122"/>
                <a:ea typeface="楷体" panose="02010609060101010101" pitchFamily="49" charset="-122"/>
              </a:rPr>
              <a:t>炸。敌方</a:t>
            </a:r>
            <a:r>
              <a:rPr lang="zh-CN" altLang="en-US" dirty="0">
                <a:latin typeface="楷体" panose="02010609060101010101" pitchFamily="49" charset="-122"/>
                <a:ea typeface="楷体" panose="02010609060101010101" pitchFamily="49" charset="-122"/>
              </a:rPr>
              <a:t>一家牌力过于强大，出的</a:t>
            </a:r>
            <a:r>
              <a:rPr lang="zh-CN" altLang="en-US" dirty="0" smtClean="0">
                <a:latin typeface="楷体" panose="02010609060101010101" pitchFamily="49" charset="-122"/>
                <a:ea typeface="楷体" panose="02010609060101010101" pitchFamily="49" charset="-122"/>
              </a:rPr>
              <a:t>牌都是顶级牌，</a:t>
            </a:r>
            <a:r>
              <a:rPr lang="zh-CN" altLang="en-US" dirty="0">
                <a:latin typeface="楷体" panose="02010609060101010101" pitchFamily="49" charset="-122"/>
                <a:ea typeface="楷体" panose="02010609060101010101" pitchFamily="49" charset="-122"/>
              </a:rPr>
              <a:t>可保留实力争取打另外一个人末游，不可意气用事。当然有时合二人之力也可将其成功阻击，这也是掼蛋难以掌握之处。这就要看打牌的风格了，更多情况下还是稳健为宜</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（五）用哪个炸弹</a:t>
            </a:r>
            <a:endParaRPr lang="en-US" altLang="zh-CN" dirty="0" smtClean="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大炸留着</a:t>
            </a:r>
            <a:r>
              <a:rPr lang="zh-CN" altLang="en-US" dirty="0" smtClean="0">
                <a:latin typeface="楷体" panose="02010609060101010101" pitchFamily="49" charset="-122"/>
                <a:ea typeface="楷体" panose="02010609060101010101" pitchFamily="49" charset="-122"/>
              </a:rPr>
              <a:t>可以冲刺，</a:t>
            </a:r>
            <a:r>
              <a:rPr lang="zh-CN" altLang="en-US" dirty="0">
                <a:latin typeface="楷体" panose="02010609060101010101" pitchFamily="49" charset="-122"/>
                <a:ea typeface="楷体" panose="02010609060101010101" pitchFamily="49" charset="-122"/>
              </a:rPr>
              <a:t>其它炸弹则价值差不多</a:t>
            </a:r>
            <a:r>
              <a:rPr lang="zh-CN" altLang="en-US" dirty="0" smtClean="0">
                <a:latin typeface="楷体" panose="02010609060101010101" pitchFamily="49" charset="-122"/>
                <a:ea typeface="楷体" panose="02010609060101010101" pitchFamily="49" charset="-122"/>
              </a:rPr>
              <a:t>，但也有一些差别。</a:t>
            </a:r>
            <a:endParaRPr lang="en-US" altLang="zh-CN" dirty="0" smtClean="0">
              <a:latin typeface="楷体" panose="02010609060101010101" pitchFamily="49" charset="-122"/>
              <a:ea typeface="楷体" panose="02010609060101010101" pitchFamily="49" charset="-122"/>
            </a:endParaRPr>
          </a:p>
          <a:p>
            <a:r>
              <a:rPr lang="en-US" altLang="zh-CN" dirty="0" smtClean="0">
                <a:latin typeface="楷体" panose="02010609060101010101" pitchFamily="49" charset="-122"/>
                <a:ea typeface="楷体" panose="02010609060101010101" pitchFamily="49" charset="-122"/>
              </a:rPr>
              <a:t>1.</a:t>
            </a:r>
            <a:r>
              <a:rPr lang="zh-CN" altLang="en-US" dirty="0" smtClean="0">
                <a:latin typeface="楷体" panose="02010609060101010101" pitchFamily="49" charset="-122"/>
                <a:ea typeface="楷体" panose="02010609060101010101" pitchFamily="49" charset="-122"/>
              </a:rPr>
              <a:t>想</a:t>
            </a:r>
            <a:r>
              <a:rPr lang="zh-CN" altLang="en-US" dirty="0">
                <a:latin typeface="楷体" panose="02010609060101010101" pitchFamily="49" charset="-122"/>
                <a:ea typeface="楷体" panose="02010609060101010101" pitchFamily="49" charset="-122"/>
              </a:rPr>
              <a:t>诱炸，用小炸牌</a:t>
            </a:r>
            <a:r>
              <a:rPr lang="zh-CN" altLang="en-US" dirty="0" smtClean="0">
                <a:latin typeface="楷体" panose="02010609060101010101" pitchFamily="49" charset="-122"/>
                <a:ea typeface="楷体" panose="02010609060101010101" pitchFamily="49" charset="-122"/>
              </a:rPr>
              <a:t>路</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没有</a:t>
            </a:r>
            <a:r>
              <a:rPr lang="zh-CN" altLang="en-US" dirty="0">
                <a:latin typeface="楷体" panose="02010609060101010101" pitchFamily="49" charset="-122"/>
                <a:ea typeface="楷体" panose="02010609060101010101" pitchFamily="49" charset="-122"/>
              </a:rPr>
              <a:t>明显的弱点，可用小的先炸，期待敌方出大炸盖住。敌方的炸弹留在手上，后期就难以控制</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en-US" altLang="zh-CN" dirty="0" smtClean="0">
                <a:latin typeface="楷体" panose="02010609060101010101" pitchFamily="49" charset="-122"/>
                <a:ea typeface="楷体" panose="02010609060101010101" pitchFamily="49" charset="-122"/>
              </a:rPr>
              <a:t>2.</a:t>
            </a:r>
            <a:r>
              <a:rPr lang="zh-CN" altLang="en-US" dirty="0" smtClean="0">
                <a:latin typeface="楷体" panose="02010609060101010101" pitchFamily="49" charset="-122"/>
                <a:ea typeface="楷体" panose="02010609060101010101" pitchFamily="49" charset="-122"/>
              </a:rPr>
              <a:t>强力</a:t>
            </a:r>
            <a:r>
              <a:rPr lang="zh-CN" altLang="en-US" dirty="0">
                <a:latin typeface="楷体" panose="02010609060101010101" pitchFamily="49" charset="-122"/>
                <a:ea typeface="楷体" panose="02010609060101010101" pitchFamily="49" charset="-122"/>
              </a:rPr>
              <a:t>扭转牌路，用中炸牌路有明显的弱点，可用稍大的炸。这样更容易上手，先发你的强路，逼敌方出炸超打。如果先用小的，被敌方盖住，想扭转牌路，还得再出炸，这样牌力损失较大</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en-US" altLang="zh-CN" dirty="0" smtClean="0">
                <a:latin typeface="楷体" panose="02010609060101010101" pitchFamily="49" charset="-122"/>
                <a:ea typeface="楷体" panose="02010609060101010101" pitchFamily="49" charset="-122"/>
              </a:rPr>
              <a:t>3.</a:t>
            </a:r>
            <a:r>
              <a:rPr lang="zh-CN" altLang="en-US" dirty="0" smtClean="0">
                <a:latin typeface="楷体" panose="02010609060101010101" pitchFamily="49" charset="-122"/>
                <a:ea typeface="楷体" panose="02010609060101010101" pitchFamily="49" charset="-122"/>
              </a:rPr>
              <a:t>先</a:t>
            </a:r>
            <a:r>
              <a:rPr lang="zh-CN" altLang="en-US" dirty="0">
                <a:latin typeface="楷体" panose="02010609060101010101" pitchFamily="49" charset="-122"/>
                <a:ea typeface="楷体" panose="02010609060101010101" pitchFamily="49" charset="-122"/>
              </a:rPr>
              <a:t>用不灵活的</a:t>
            </a:r>
            <a:r>
              <a:rPr lang="zh-CN" altLang="en-US" dirty="0" smtClean="0">
                <a:latin typeface="楷体" panose="02010609060101010101" pitchFamily="49" charset="-122"/>
                <a:ea typeface="楷体" panose="02010609060101010101" pitchFamily="49" charset="-122"/>
              </a:rPr>
              <a:t>炸。以打</a:t>
            </a:r>
            <a:r>
              <a:rPr lang="en-US" altLang="zh-CN" dirty="0" smtClean="0">
                <a:latin typeface="楷体" panose="02010609060101010101" pitchFamily="49" charset="-122"/>
                <a:ea typeface="楷体" panose="02010609060101010101" pitchFamily="49" charset="-122"/>
              </a:rPr>
              <a:t>2</a:t>
            </a:r>
            <a:r>
              <a:rPr lang="zh-CN" altLang="en-US" dirty="0" smtClean="0">
                <a:latin typeface="楷体" panose="02010609060101010101" pitchFamily="49" charset="-122"/>
                <a:ea typeface="楷体" panose="02010609060101010101" pitchFamily="49" charset="-122"/>
              </a:rPr>
              <a:t>为例，</a:t>
            </a:r>
            <a:r>
              <a:rPr lang="en-US" altLang="zh-CN" dirty="0" smtClean="0">
                <a:latin typeface="楷体" panose="02010609060101010101" pitchFamily="49" charset="-122"/>
                <a:ea typeface="楷体" panose="02010609060101010101" pitchFamily="49" charset="-122"/>
              </a:rPr>
              <a:t>2222</a:t>
            </a:r>
            <a:r>
              <a:rPr lang="zh-CN" altLang="en-US" dirty="0" smtClean="0">
                <a:latin typeface="楷体" panose="02010609060101010101" pitchFamily="49" charset="-122"/>
                <a:ea typeface="楷体" panose="02010609060101010101" pitchFamily="49" charset="-122"/>
              </a:rPr>
              <a:t>是</a:t>
            </a:r>
            <a:r>
              <a:rPr lang="en-US" altLang="zh-CN" dirty="0" smtClean="0">
                <a:latin typeface="楷体" panose="02010609060101010101" pitchFamily="49" charset="-122"/>
                <a:ea typeface="楷体" panose="02010609060101010101" pitchFamily="49" charset="-122"/>
              </a:rPr>
              <a:t>4</a:t>
            </a:r>
            <a:r>
              <a:rPr lang="zh-CN" altLang="en-US" dirty="0" smtClean="0">
                <a:latin typeface="楷体" panose="02010609060101010101" pitchFamily="49" charset="-122"/>
                <a:ea typeface="楷体" panose="02010609060101010101" pitchFamily="49" charset="-122"/>
              </a:rPr>
              <a:t>头炸中最大的，</a:t>
            </a:r>
            <a:r>
              <a:rPr lang="en-US" altLang="zh-CN" dirty="0" smtClean="0">
                <a:latin typeface="楷体" panose="02010609060101010101" pitchFamily="49" charset="-122"/>
                <a:ea typeface="楷体" panose="02010609060101010101" pitchFamily="49" charset="-122"/>
              </a:rPr>
              <a:t>33333</a:t>
            </a:r>
            <a:r>
              <a:rPr lang="zh-CN" altLang="en-US" dirty="0" smtClean="0">
                <a:latin typeface="楷体" panose="02010609060101010101" pitchFamily="49" charset="-122"/>
                <a:ea typeface="楷体" panose="02010609060101010101" pitchFamily="49" charset="-122"/>
              </a:rPr>
              <a:t>是</a:t>
            </a:r>
            <a:r>
              <a:rPr lang="zh-CN" altLang="en-US" dirty="0">
                <a:latin typeface="楷体" panose="02010609060101010101" pitchFamily="49" charset="-122"/>
                <a:ea typeface="楷体" panose="02010609060101010101" pitchFamily="49" charset="-122"/>
              </a:rPr>
              <a:t>最小</a:t>
            </a:r>
            <a:r>
              <a:rPr lang="zh-CN" altLang="en-US" dirty="0" smtClean="0">
                <a:latin typeface="楷体" panose="02010609060101010101" pitchFamily="49" charset="-122"/>
                <a:ea typeface="楷体" panose="02010609060101010101" pitchFamily="49" charset="-122"/>
              </a:rPr>
              <a:t>的</a:t>
            </a:r>
            <a:r>
              <a:rPr lang="en-US" altLang="zh-CN" dirty="0" smtClean="0">
                <a:latin typeface="楷体" panose="02010609060101010101" pitchFamily="49" charset="-122"/>
                <a:ea typeface="楷体" panose="02010609060101010101" pitchFamily="49" charset="-122"/>
              </a:rPr>
              <a:t>5</a:t>
            </a:r>
            <a:r>
              <a:rPr lang="zh-CN" altLang="en-US" dirty="0" smtClean="0">
                <a:latin typeface="楷体" panose="02010609060101010101" pitchFamily="49" charset="-122"/>
                <a:ea typeface="楷体" panose="02010609060101010101" pitchFamily="49" charset="-122"/>
              </a:rPr>
              <a:t>头</a:t>
            </a:r>
            <a:r>
              <a:rPr lang="zh-CN" altLang="en-US" dirty="0">
                <a:latin typeface="楷体" panose="02010609060101010101" pitchFamily="49" charset="-122"/>
                <a:ea typeface="楷体" panose="02010609060101010101" pitchFamily="49" charset="-122"/>
              </a:rPr>
              <a:t>炸，如果同时有，应先</a:t>
            </a:r>
            <a:r>
              <a:rPr lang="zh-CN" altLang="en-US" dirty="0" smtClean="0">
                <a:latin typeface="楷体" panose="02010609060101010101" pitchFamily="49" charset="-122"/>
                <a:ea typeface="楷体" panose="02010609060101010101" pitchFamily="49" charset="-122"/>
              </a:rPr>
              <a:t>出</a:t>
            </a:r>
            <a:r>
              <a:rPr lang="en-US" altLang="zh-CN" dirty="0" smtClean="0">
                <a:latin typeface="楷体" panose="02010609060101010101" pitchFamily="49" charset="-122"/>
                <a:ea typeface="楷体" panose="02010609060101010101" pitchFamily="49" charset="-122"/>
              </a:rPr>
              <a:t>33333</a:t>
            </a:r>
            <a:r>
              <a:rPr lang="zh-CN" altLang="en-US" dirty="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因为</a:t>
            </a:r>
            <a:r>
              <a:rPr lang="en-US" altLang="zh-CN" dirty="0" smtClean="0">
                <a:latin typeface="楷体" panose="02010609060101010101" pitchFamily="49" charset="-122"/>
                <a:ea typeface="楷体" panose="02010609060101010101" pitchFamily="49" charset="-122"/>
              </a:rPr>
              <a:t>2222</a:t>
            </a:r>
            <a:r>
              <a:rPr lang="zh-CN" altLang="en-US" dirty="0" smtClean="0">
                <a:latin typeface="楷体" panose="02010609060101010101" pitchFamily="49" charset="-122"/>
                <a:ea typeface="楷体" panose="02010609060101010101" pitchFamily="49" charset="-122"/>
              </a:rPr>
              <a:t>可</a:t>
            </a:r>
            <a:r>
              <a:rPr lang="zh-CN" altLang="en-US" dirty="0">
                <a:latin typeface="楷体" panose="02010609060101010101" pitchFamily="49" charset="-122"/>
                <a:ea typeface="楷体" panose="02010609060101010101" pitchFamily="49" charset="-122"/>
              </a:rPr>
              <a:t>拆</a:t>
            </a:r>
            <a:r>
              <a:rPr lang="zh-CN" altLang="en-US" dirty="0" smtClean="0">
                <a:latin typeface="楷体" panose="02010609060101010101" pitchFamily="49" charset="-122"/>
                <a:ea typeface="楷体" panose="02010609060101010101" pitchFamily="49" charset="-122"/>
              </a:rPr>
              <a:t>成</a:t>
            </a:r>
            <a:r>
              <a:rPr lang="en-US" altLang="zh-CN" dirty="0" smtClean="0">
                <a:latin typeface="楷体" panose="02010609060101010101" pitchFamily="49" charset="-122"/>
                <a:ea typeface="楷体" panose="02010609060101010101" pitchFamily="49" charset="-122"/>
              </a:rPr>
              <a:t>2</a:t>
            </a:r>
            <a:r>
              <a:rPr lang="zh-CN" altLang="en-US" dirty="0" smtClean="0">
                <a:latin typeface="楷体" panose="02010609060101010101" pitchFamily="49" charset="-122"/>
                <a:ea typeface="楷体" panose="02010609060101010101" pitchFamily="49" charset="-122"/>
              </a:rPr>
              <a:t>个</a:t>
            </a:r>
            <a:r>
              <a:rPr lang="zh-CN" altLang="en-US" dirty="0">
                <a:latin typeface="楷体" panose="02010609060101010101" pitchFamily="49" charset="-122"/>
                <a:ea typeface="楷体" panose="02010609060101010101" pitchFamily="49" charset="-122"/>
              </a:rPr>
              <a:t>对子或 </a:t>
            </a:r>
            <a:r>
              <a:rPr lang="en-US" altLang="zh-CN" dirty="0" smtClean="0">
                <a:latin typeface="楷体" panose="02010609060101010101" pitchFamily="49" charset="-122"/>
                <a:ea typeface="楷体" panose="02010609060101010101" pitchFamily="49" charset="-122"/>
              </a:rPr>
              <a:t>3+2</a:t>
            </a:r>
            <a:r>
              <a:rPr lang="zh-CN" altLang="en-US" dirty="0" smtClean="0">
                <a:latin typeface="楷体" panose="02010609060101010101" pitchFamily="49" charset="-122"/>
                <a:ea typeface="楷体" panose="02010609060101010101" pitchFamily="49" charset="-122"/>
              </a:rPr>
              <a:t>顶级牌</a:t>
            </a:r>
            <a:r>
              <a:rPr lang="zh-CN" altLang="en-US" dirty="0">
                <a:latin typeface="楷体" panose="02010609060101010101" pitchFamily="49" charset="-122"/>
                <a:ea typeface="楷体" panose="02010609060101010101" pitchFamily="49" charset="-122"/>
              </a:rPr>
              <a:t>，灵活性更高</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en-US" altLang="zh-CN" dirty="0" smtClean="0">
                <a:latin typeface="楷体" panose="02010609060101010101" pitchFamily="49" charset="-122"/>
                <a:ea typeface="楷体" panose="02010609060101010101" pitchFamily="49" charset="-122"/>
              </a:rPr>
              <a:t>4.</a:t>
            </a:r>
            <a:r>
              <a:rPr lang="zh-CN" altLang="en-US" dirty="0" smtClean="0">
                <a:latin typeface="楷体" panose="02010609060101010101" pitchFamily="49" charset="-122"/>
                <a:ea typeface="楷体" panose="02010609060101010101" pitchFamily="49" charset="-122"/>
              </a:rPr>
              <a:t>后</a:t>
            </a:r>
            <a:r>
              <a:rPr lang="zh-CN" altLang="en-US" dirty="0">
                <a:latin typeface="楷体" panose="02010609060101010101" pitchFamily="49" charset="-122"/>
                <a:ea typeface="楷体" panose="02010609060101010101" pitchFamily="49" charset="-122"/>
              </a:rPr>
              <a:t>用含逢人配的</a:t>
            </a:r>
            <a:r>
              <a:rPr lang="zh-CN" altLang="en-US" dirty="0" smtClean="0">
                <a:latin typeface="楷体" panose="02010609060101010101" pitchFamily="49" charset="-122"/>
                <a:ea typeface="楷体" panose="02010609060101010101" pitchFamily="49" charset="-122"/>
              </a:rPr>
              <a:t>炸弹。一方面隐藏红配的信息，另一方面保持组牌的灵活性。</a:t>
            </a:r>
            <a:endParaRPr lang="zh-CN" altLang="en-US" dirty="0">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168849016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227383" y="2363492"/>
            <a:ext cx="4009578" cy="1697599"/>
          </a:xfrm>
        </p:spPr>
        <p:txBody>
          <a:bodyPr>
            <a:noAutofit/>
          </a:bodyPr>
          <a:lstStyle/>
          <a:p>
            <a:pPr lvl="0" algn="ctr" eaLnBrk="0" fontAlgn="base" hangingPunct="0">
              <a:lnSpc>
                <a:spcPct val="150000"/>
              </a:lnSpc>
              <a:spcAft>
                <a:spcPct val="0"/>
              </a:spcAft>
              <a:defRPr/>
            </a:pPr>
            <a:r>
              <a:rPr lang="zh-CN" altLang="en-US" sz="4000" dirty="0" smtClean="0">
                <a:latin typeface="+mn-lt"/>
                <a:ea typeface="+mn-ea"/>
                <a:cs typeface="+mn-ea"/>
                <a:sym typeface="+mn-lt"/>
              </a:rPr>
              <a:t>掼蛋中的信息学</a:t>
            </a:r>
            <a:endParaRPr lang="zh-CN" altLang="de-DE" sz="4000" dirty="0">
              <a:latin typeface="+mn-lt"/>
              <a:ea typeface="+mn-ea"/>
              <a:cs typeface="+mn-ea"/>
              <a:sym typeface="+mn-lt"/>
            </a:endParaRPr>
          </a:p>
        </p:txBody>
      </p:sp>
      <p:sp>
        <p:nvSpPr>
          <p:cNvPr id="9" name="文本框 8"/>
          <p:cNvSpPr txBox="1"/>
          <p:nvPr/>
        </p:nvSpPr>
        <p:spPr>
          <a:xfrm>
            <a:off x="3203867" y="3171182"/>
            <a:ext cx="1023516" cy="889909"/>
          </a:xfrm>
          <a:prstGeom prst="rect">
            <a:avLst/>
          </a:prstGeom>
          <a:noFill/>
          <a:ln w="117475">
            <a:noFill/>
          </a:ln>
        </p:spPr>
        <p:txBody>
          <a:bodyPr wrap="none" rtlCol="0">
            <a:prstTxWarp prst="textPlain">
              <a:avLst/>
            </a:prstTxWarp>
            <a:spAutoFit/>
          </a:bodyPr>
          <a:lstStyle/>
          <a:p>
            <a:pPr>
              <a:lnSpc>
                <a:spcPct val="150000"/>
              </a:lnSpc>
            </a:pPr>
            <a:r>
              <a:rPr lang="en-US" altLang="zh-CN" spc="100" dirty="0">
                <a:solidFill>
                  <a:schemeClr val="accent3"/>
                </a:solidFill>
                <a:cs typeface="+mn-ea"/>
                <a:sym typeface="+mn-lt"/>
              </a:rPr>
              <a:t>/</a:t>
            </a:r>
            <a:r>
              <a:rPr lang="en-US" altLang="zh-CN" sz="100" spc="100" dirty="0">
                <a:solidFill>
                  <a:schemeClr val="accent3"/>
                </a:solidFill>
                <a:cs typeface="+mn-ea"/>
                <a:sym typeface="+mn-lt"/>
              </a:rPr>
              <a:t> </a:t>
            </a:r>
            <a:r>
              <a:rPr lang="en-US" altLang="zh-CN" spc="100" dirty="0" smtClean="0">
                <a:solidFill>
                  <a:schemeClr val="accent3"/>
                </a:solidFill>
                <a:cs typeface="+mn-ea"/>
                <a:sym typeface="+mn-lt"/>
              </a:rPr>
              <a:t>04</a:t>
            </a:r>
            <a:endParaRPr lang="zh-CN" altLang="en-US" spc="100" dirty="0">
              <a:solidFill>
                <a:schemeClr val="accent3"/>
              </a:solidFill>
              <a:cs typeface="+mn-ea"/>
              <a:sym typeface="+mn-lt"/>
            </a:endParaRPr>
          </a:p>
        </p:txBody>
      </p:sp>
    </p:spTree>
    <p:custDataLst>
      <p:tags r:id="rId1"/>
    </p:custDataLst>
    <p:extLst>
      <p:ext uri="{BB962C8B-B14F-4D97-AF65-F5344CB8AC3E}">
        <p14:creationId xmlns:p14="http://schemas.microsoft.com/office/powerpoint/2010/main" val="4605368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456017"/>
            <a:ext cx="10850563" cy="476669"/>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扑克牌中的信息学</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778608" y="1269939"/>
            <a:ext cx="6096000" cy="3000821"/>
          </a:xfrm>
          <a:prstGeom prst="rect">
            <a:avLst/>
          </a:prstGeom>
        </p:spPr>
        <p:txBody>
          <a:bodyPr>
            <a:spAutoFit/>
          </a:bodyPr>
          <a:lstStyle/>
          <a:p>
            <a:pPr>
              <a:lnSpc>
                <a:spcPct val="150000"/>
              </a:lnSpc>
            </a:pPr>
            <a:r>
              <a:rPr lang="zh-CN" altLang="en-US" b="1" kern="0" dirty="0">
                <a:solidFill>
                  <a:prstClr val="black">
                    <a:lumMod val="85000"/>
                    <a:lumOff val="15000"/>
                  </a:prstClr>
                </a:solidFill>
                <a:latin typeface="楷体" panose="02010609060101010101" pitchFamily="49" charset="-122"/>
                <a:ea typeface="楷体" panose="02010609060101010101" pitchFamily="49" charset="-122"/>
              </a:rPr>
              <a:t>一、通过概率预测</a:t>
            </a:r>
            <a:endParaRPr lang="en-US" altLang="zh-CN" b="1"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b="1" kern="0" dirty="0">
                <a:solidFill>
                  <a:prstClr val="black">
                    <a:lumMod val="85000"/>
                    <a:lumOff val="15000"/>
                  </a:prstClr>
                </a:solidFill>
                <a:latin typeface="楷体" panose="02010609060101010101" pitchFamily="49" charset="-122"/>
                <a:ea typeface="楷体" panose="02010609060101010101" pitchFamily="49" charset="-122"/>
              </a:rPr>
              <a:t>二、通过叫牌了解</a:t>
            </a:r>
            <a:endParaRPr lang="zh-CN" altLang="en-US" kern="0" dirty="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b="1" kern="0" dirty="0">
                <a:solidFill>
                  <a:prstClr val="black">
                    <a:lumMod val="85000"/>
                    <a:lumOff val="15000"/>
                  </a:prstClr>
                </a:solidFill>
                <a:latin typeface="楷体" panose="02010609060101010101" pitchFamily="49" charset="-122"/>
                <a:ea typeface="楷体" panose="02010609060101010101" pitchFamily="49" charset="-122"/>
              </a:rPr>
              <a:t>三、通过打牌猜测</a:t>
            </a:r>
            <a:endParaRPr lang="en-US" altLang="zh-CN" b="1" kern="0" dirty="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b="1" kern="0" dirty="0">
                <a:solidFill>
                  <a:prstClr val="black">
                    <a:lumMod val="85000"/>
                    <a:lumOff val="15000"/>
                  </a:prstClr>
                </a:solidFill>
                <a:latin typeface="楷体" panose="02010609060101010101" pitchFamily="49" charset="-122"/>
                <a:ea typeface="楷体" panose="02010609060101010101" pitchFamily="49" charset="-122"/>
              </a:rPr>
              <a:t>四、通过合作传递</a:t>
            </a:r>
            <a:endParaRPr lang="en-US" altLang="zh-CN" b="1" kern="0" dirty="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b="1" kern="0" dirty="0">
                <a:solidFill>
                  <a:prstClr val="black">
                    <a:lumMod val="85000"/>
                    <a:lumOff val="15000"/>
                  </a:prstClr>
                </a:solidFill>
                <a:latin typeface="楷体" panose="02010609060101010101" pitchFamily="49" charset="-122"/>
                <a:ea typeface="楷体" panose="02010609060101010101" pitchFamily="49" charset="-122"/>
              </a:rPr>
              <a:t>五、通过记忆确定</a:t>
            </a:r>
            <a:endParaRPr lang="en-US" altLang="zh-CN" b="1"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b="1" kern="0" dirty="0">
                <a:solidFill>
                  <a:prstClr val="black">
                    <a:lumMod val="85000"/>
                    <a:lumOff val="15000"/>
                  </a:prstClr>
                </a:solidFill>
                <a:latin typeface="楷体" panose="02010609060101010101" pitchFamily="49" charset="-122"/>
                <a:ea typeface="楷体" panose="02010609060101010101" pitchFamily="49" charset="-122"/>
              </a:rPr>
              <a:t>六、通过逻辑</a:t>
            </a:r>
            <a:r>
              <a:rPr lang="zh-CN" altLang="en-US" b="1" kern="0" dirty="0" smtClean="0">
                <a:solidFill>
                  <a:prstClr val="black">
                    <a:lumMod val="85000"/>
                    <a:lumOff val="15000"/>
                  </a:prstClr>
                </a:solidFill>
                <a:latin typeface="楷体" panose="02010609060101010101" pitchFamily="49" charset="-122"/>
                <a:ea typeface="楷体" panose="02010609060101010101" pitchFamily="49" charset="-122"/>
              </a:rPr>
              <a:t>推测（与上一方法相似，又有不同）</a:t>
            </a:r>
            <a:endParaRPr lang="en-US" altLang="zh-CN" b="1"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b="1" kern="0" dirty="0">
                <a:solidFill>
                  <a:prstClr val="black">
                    <a:lumMod val="85000"/>
                    <a:lumOff val="15000"/>
                  </a:prstClr>
                </a:solidFill>
                <a:latin typeface="楷体" panose="02010609060101010101" pitchFamily="49" charset="-122"/>
                <a:ea typeface="楷体" panose="02010609060101010101" pitchFamily="49" charset="-122"/>
              </a:rPr>
              <a:t>七、各种方式组合运用</a:t>
            </a:r>
            <a:endParaRPr lang="en-US" altLang="zh-CN" b="1" kern="0" dirty="0">
              <a:solidFill>
                <a:prstClr val="black">
                  <a:lumMod val="85000"/>
                  <a:lumOff val="15000"/>
                </a:prstClr>
              </a:solidFill>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202044614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3.1.1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扑克牌中的概率</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78608" y="1269939"/>
            <a:ext cx="10061670" cy="4247317"/>
          </a:xfrm>
          <a:prstGeom prst="rect">
            <a:avLst/>
          </a:prstGeom>
          <a:noFill/>
        </p:spPr>
        <p:txBody>
          <a:bodyPr wrap="square" rtlCol="0">
            <a:spAutoFit/>
          </a:bodyPr>
          <a:lstStyle/>
          <a:p>
            <a:pPr>
              <a:lnSpc>
                <a:spcPct val="150000"/>
              </a:lnSpc>
            </a:pPr>
            <a:r>
              <a:rPr lang="zh-CN" altLang="zh-CN" sz="1500" kern="100" dirty="0">
                <a:latin typeface="等线" panose="02010600030101010101" pitchFamily="2" charset="-122"/>
                <a:ea typeface="等线" panose="02010600030101010101" pitchFamily="2" charset="-122"/>
                <a:cs typeface="Times New Roman" panose="02020603050405020304" pitchFamily="18" charset="0"/>
              </a:rPr>
              <a:t>扑克是一种非常流行的纸牌游戏，也是众多赌博游戏的基础。在扑克中，一副共有</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52</a:t>
            </a:r>
            <a:r>
              <a:rPr lang="zh-CN" altLang="zh-CN" sz="1500" kern="100" dirty="0">
                <a:latin typeface="等线" panose="02010600030101010101" pitchFamily="2" charset="-122"/>
                <a:ea typeface="等线" panose="02010600030101010101" pitchFamily="2" charset="-122"/>
                <a:cs typeface="Times New Roman" panose="02020603050405020304" pitchFamily="18" charset="0"/>
              </a:rPr>
              <a:t>张牌，可以组成多种不同的牌型和组合。由于扑克的随机性和变化性很强，因此研究扑克的概率和数学公式一直是一个热门的话题</a:t>
            </a:r>
            <a:r>
              <a:rPr lang="zh-CN" altLang="zh-CN" sz="1500" kern="100" dirty="0" smtClean="0">
                <a:latin typeface="等线" panose="02010600030101010101" pitchFamily="2" charset="-122"/>
                <a:ea typeface="等线" panose="02010600030101010101" pitchFamily="2" charset="-122"/>
                <a:cs typeface="Times New Roman" panose="02020603050405020304" pitchFamily="18" charset="0"/>
              </a:rPr>
              <a:t>。</a:t>
            </a:r>
            <a:endParaRPr lang="en-US" altLang="zh-CN" sz="15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1.</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扑克</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的基本概率</a:t>
            </a:r>
          </a:p>
          <a:p>
            <a:pPr>
              <a:lnSpc>
                <a:spcPct val="150000"/>
              </a:lnSpc>
            </a:pP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在扑克中，一副牌共有</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52</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张，其中含有</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4</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个</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花色，</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每个花色都包含</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13</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张</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牌。</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因此，扑克牌的基本概率可以总结如下</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p>
          <a:p>
            <a:pPr>
              <a:lnSpc>
                <a:spcPct val="150000"/>
              </a:lnSpc>
            </a:pP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1</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）牌面</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点数的概率</a:t>
            </a:r>
          </a:p>
          <a:p>
            <a:pPr>
              <a:lnSpc>
                <a:spcPct val="150000"/>
              </a:lnSpc>
            </a:pP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在一副牌中，每个点数共有</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4</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张牌，因此每个点数出现的概率为</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4/52=1/13</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。例如，抽到一张点数为</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的牌的概率为</a:t>
            </a: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1/13</a:t>
            </a:r>
            <a:endParaRPr lang="zh-CN" altLang="en-US" sz="150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pP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2</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）花色</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的概率</a:t>
            </a:r>
          </a:p>
          <a:p>
            <a:pPr>
              <a:lnSpc>
                <a:spcPct val="150000"/>
              </a:lnSpc>
            </a:pP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在一副牌中，每个花色共有</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13</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张牌，因此每个花色出现的概率为</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13/52=1/4</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。例如，抽到一张黑桃牌的概率为</a:t>
            </a: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1/4</a:t>
            </a:r>
            <a:endParaRPr lang="zh-CN" altLang="en-US" sz="150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pP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3</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）特殊</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牌型的概率</a:t>
            </a:r>
          </a:p>
          <a:p>
            <a:pPr>
              <a:lnSpc>
                <a:spcPct val="150000"/>
              </a:lnSpc>
            </a:pP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在扑克中，有一些特殊的牌型，例如同花顺、四条、葫芦、同花等等。这些特殊牌型的概率相对较低，需要用到更为复杂的数学公式进行计算。</a:t>
            </a:r>
          </a:p>
          <a:p>
            <a:pPr>
              <a:lnSpc>
                <a:spcPct val="150000"/>
              </a:lnSpc>
            </a:pPr>
            <a:endParaRPr lang="zh-CN" altLang="zh-CN" sz="1500" kern="100" dirty="0">
              <a:latin typeface="等线" panose="02010600030101010101" pitchFamily="2" charset="-122"/>
              <a:ea typeface="等线"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8503941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3.1.1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扑克牌中的概率</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78608" y="1269939"/>
            <a:ext cx="10061670" cy="5840060"/>
          </a:xfrm>
          <a:prstGeom prst="rect">
            <a:avLst/>
          </a:prstGeom>
          <a:noFill/>
        </p:spPr>
        <p:txBody>
          <a:bodyPr wrap="square" rtlCol="0">
            <a:spAutoFit/>
          </a:bodyPr>
          <a:lstStyle/>
          <a:p>
            <a:pPr>
              <a:lnSpc>
                <a:spcPct val="150000"/>
              </a:lnSpc>
            </a:pP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2.</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组合数学公式</a:t>
            </a:r>
          </a:p>
          <a:p>
            <a:pPr>
              <a:lnSpc>
                <a:spcPct val="150000"/>
              </a:lnSpc>
            </a:pP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在扑克牌型计算中，经常要用到组合数学公式</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P(A)=N(A)/N(S)</a:t>
            </a:r>
          </a:p>
          <a:p>
            <a:pPr>
              <a:lnSpc>
                <a:spcPct val="150000"/>
              </a:lnSpc>
            </a:pP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其中，</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P(A)</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表示事件</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发生的概率，</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N(A)</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表示事件</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的样本点数，</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N(S)</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表示样本空间的总数</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a:t>
            </a:r>
            <a:endParaRPr lang="en-US" altLang="zh-CN" sz="150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pP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以</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扑克中</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“顺子”和“同花”的</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计算为例，顺子是从一副扑克牌中取出</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5</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张牌，并要求这</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5</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张牌的点数连续。其计算公式为</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p>
          <a:p>
            <a:pPr>
              <a:lnSpc>
                <a:spcPct val="150000"/>
              </a:lnSpc>
            </a:pP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P</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顺子</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)=10*4^5/C(52,5) =10*1024/2598960=0.394%</a:t>
            </a:r>
          </a:p>
          <a:p>
            <a:pPr>
              <a:lnSpc>
                <a:spcPct val="150000"/>
              </a:lnSpc>
            </a:pP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P(</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同花</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)=4*C(13,5)/ C(52,5) =4*1287/2598960=0.198%</a:t>
            </a:r>
          </a:p>
          <a:p>
            <a:pPr>
              <a:lnSpc>
                <a:spcPct val="150000"/>
              </a:lnSpc>
            </a:pP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同花</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:4*13C5 </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四种花色</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各</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13</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张牌</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而且</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13</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张里面选</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5</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张</a:t>
            </a:r>
          </a:p>
          <a:p>
            <a:pPr>
              <a:lnSpc>
                <a:spcPct val="150000"/>
              </a:lnSpc>
            </a:pP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顺子</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 </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十种顺子</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A</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5</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10</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A</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),5</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张牌里每张牌可以</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4</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种花色</a:t>
            </a:r>
          </a:p>
          <a:p>
            <a:pPr>
              <a:lnSpc>
                <a:spcPct val="150000"/>
              </a:lnSpc>
            </a:pP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所以</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抽到顺子的概率比同花大一点</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这就是为什么赌博比大小的时候</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同花比顺子大的原因</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p>
          <a:p>
            <a:pPr>
              <a:lnSpc>
                <a:spcPct val="150000"/>
              </a:lnSpc>
            </a:pP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补充</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p>
          <a:p>
            <a:pPr>
              <a:lnSpc>
                <a:spcPct val="150000"/>
              </a:lnSpc>
            </a:pP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这里的</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9 * (4^5)</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的意思是</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总共有</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9</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种顺子</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2</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6,7</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10</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A</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每种顺子里面有</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5</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张牌</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而且每张牌可以有</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4</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种颜色</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那不就是</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4*4*4*4*4</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中颜色搭配</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再乘以</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9,</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就是顺子总共有多少种</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组合</a:t>
            </a:r>
            <a:endPar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endParaRPr>
          </a:p>
          <a:p>
            <a:pPr>
              <a:lnSpc>
                <a:spcPct val="150000"/>
              </a:lnSpc>
            </a:pPr>
            <a:endParaRPr lang="en-US" altLang="zh-CN" sz="1500" kern="100" dirty="0">
              <a:latin typeface="等线" panose="02010600030101010101" pitchFamily="2" charset="-122"/>
              <a:ea typeface="等线" panose="02010600030101010101" pitchFamily="2" charset="-122"/>
              <a:cs typeface="Times New Roman" panose="02020603050405020304" pitchFamily="18" charset="0"/>
            </a:endParaRPr>
          </a:p>
          <a:p>
            <a:r>
              <a:rPr lang="zh-CN" altLang="zh-CN" dirty="0"/>
              <a:t>同花顺的概率为：</a:t>
            </a:r>
          </a:p>
          <a:p>
            <a:r>
              <a:rPr lang="en-US" altLang="zh-CN" dirty="0"/>
              <a:t>P(</a:t>
            </a:r>
            <a:r>
              <a:rPr lang="zh-CN" altLang="zh-CN" dirty="0"/>
              <a:t>同花顺</a:t>
            </a:r>
            <a:r>
              <a:rPr lang="en-US" altLang="zh-CN" dirty="0"/>
              <a:t>)=4*10/ C(52,5) =40/2598960=0.00154%</a:t>
            </a:r>
            <a:endParaRPr lang="zh-CN" altLang="zh-CN" dirty="0"/>
          </a:p>
          <a:p>
            <a:pPr>
              <a:lnSpc>
                <a:spcPct val="150000"/>
              </a:lnSpc>
            </a:pPr>
            <a:endParaRPr lang="zh-CN" altLang="en-US" sz="150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pPr>
            <a:endParaRPr lang="zh-CN" altLang="zh-CN" sz="1500" kern="100" dirty="0">
              <a:latin typeface="等线" panose="02010600030101010101" pitchFamily="2" charset="-122"/>
              <a:ea typeface="等线"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32897420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3.1.1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扑克牌中的概率</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78608" y="1269939"/>
            <a:ext cx="10061670" cy="3554819"/>
          </a:xfrm>
          <a:prstGeom prst="rect">
            <a:avLst/>
          </a:prstGeom>
          <a:noFill/>
        </p:spPr>
        <p:txBody>
          <a:bodyPr wrap="square" rtlCol="0">
            <a:spAutoFit/>
          </a:bodyPr>
          <a:lstStyle/>
          <a:p>
            <a:pPr>
              <a:lnSpc>
                <a:spcPct val="150000"/>
              </a:lnSpc>
            </a:pP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扑克是一个非常有趣和具有挑战性的游戏，其随机性和变化性极强。在扑克牌型的计算中，需要涉及到众多的概率和组合数学公式，需要有一定的数学基础，才能深入了解其计算原理。</a:t>
            </a:r>
          </a:p>
          <a:p>
            <a:pPr>
              <a:lnSpc>
                <a:spcPct val="150000"/>
              </a:lnSpc>
            </a:pP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此外，由于扑克有很强的实践性，因此最好是将理论知识应用于实际游戏中，通过实践来加深理解和掌握</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a:t>
            </a:r>
            <a:endPar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endParaRPr>
          </a:p>
          <a:p>
            <a:pPr>
              <a:lnSpc>
                <a:spcPct val="150000"/>
              </a:lnSpc>
            </a:pP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另外，两牌副的一些游戏，各种牌型的概率计算复杂程度更高，所以概率的运用非常少。</a:t>
            </a:r>
            <a:endParaRPr lang="zh-CN" altLang="en-US" sz="150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pP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简单来说，获取相关信息后考虑出牌策略，远高于用概率预测后决定打牌。实在没什么信息的情况下，采取概率打法。</a:t>
            </a:r>
            <a:endPar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endParaRPr>
          </a:p>
          <a:p>
            <a:pPr>
              <a:lnSpc>
                <a:spcPct val="150000"/>
              </a:lnSpc>
            </a:pPr>
            <a:endParaRPr lang="en-US" altLang="zh-CN" sz="150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pP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比如你有</a:t>
            </a: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333444</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556677</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，选择出哪个牌型？</a:t>
            </a:r>
            <a:endPar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endParaRPr>
          </a:p>
          <a:p>
            <a:pPr>
              <a:lnSpc>
                <a:spcPct val="150000"/>
              </a:lnSpc>
            </a:pPr>
            <a:endParaRPr lang="en-US" altLang="zh-CN" sz="150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pP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四个人玩的话，抓一张大王的概率为</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1/4</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，同时抓两张的概率为</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1/4</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乘以</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1/4</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，等于</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1/16</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a:t>
            </a:r>
          </a:p>
          <a:p>
            <a:pPr>
              <a:lnSpc>
                <a:spcPct val="150000"/>
              </a:lnSpc>
            </a:pPr>
            <a:endParaRPr lang="zh-CN" altLang="zh-CN" sz="1500" kern="100" dirty="0">
              <a:latin typeface="等线" panose="02010600030101010101" pitchFamily="2" charset="-122"/>
              <a:ea typeface="等线"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254983512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3.1.1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扑克牌中的概率</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78608" y="1269939"/>
            <a:ext cx="10061670" cy="1131079"/>
          </a:xfrm>
          <a:prstGeom prst="rect">
            <a:avLst/>
          </a:prstGeom>
          <a:noFill/>
        </p:spPr>
        <p:txBody>
          <a:bodyPr wrap="square" rtlCol="0">
            <a:spAutoFit/>
          </a:bodyPr>
          <a:lstStyle/>
          <a:p>
            <a:pPr>
              <a:lnSpc>
                <a:spcPct val="150000"/>
              </a:lnSpc>
            </a:pP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单贡时扛贡的概率：抓</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一张大王的概率为</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1/4</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，同时抓两张的概率为</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1/4</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乘以</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1/4</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，等于</a:t>
            </a:r>
            <a:r>
              <a:rPr lang="en-US" altLang="zh-CN" sz="1500" kern="100" dirty="0">
                <a:latin typeface="等线" panose="02010600030101010101" pitchFamily="2" charset="-122"/>
                <a:ea typeface="等线" panose="02010600030101010101" pitchFamily="2" charset="-122"/>
                <a:cs typeface="Times New Roman" panose="02020603050405020304" pitchFamily="18" charset="0"/>
              </a:rPr>
              <a:t>1/16</a:t>
            </a:r>
            <a:r>
              <a:rPr lang="zh-CN" altLang="en-US" sz="1500" kern="100" dirty="0">
                <a:latin typeface="等线" panose="02010600030101010101" pitchFamily="2" charset="-122"/>
                <a:ea typeface="等线" panose="02010600030101010101" pitchFamily="2" charset="-122"/>
                <a:cs typeface="Times New Roman" panose="02020603050405020304" pitchFamily="18" charset="0"/>
              </a:rPr>
              <a:t>。</a:t>
            </a:r>
          </a:p>
          <a:p>
            <a:pPr>
              <a:lnSpc>
                <a:spcPct val="150000"/>
              </a:lnSpc>
            </a:pP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双贡时，扛贡的概率：四种情况之二，都可以扛贡。一种是双王在同一人手中，有</a:t>
            </a: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4</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种情况。不在同一人手中，有</a:t>
            </a: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6</a:t>
            </a:r>
            <a:r>
              <a:rPr lang="zh-CN" altLang="en-US" sz="1500" kern="100" dirty="0" smtClean="0">
                <a:latin typeface="等线" panose="02010600030101010101" pitchFamily="2" charset="-122"/>
                <a:ea typeface="等线" panose="02010600030101010101" pitchFamily="2" charset="-122"/>
                <a:cs typeface="Times New Roman" panose="02020603050405020304" pitchFamily="18" charset="0"/>
              </a:rPr>
              <a:t>种情况。所以概率为：</a:t>
            </a:r>
            <a:r>
              <a:rPr lang="en-US" altLang="zh-CN" sz="1500" kern="100" dirty="0" smtClean="0">
                <a:latin typeface="等线" panose="02010600030101010101" pitchFamily="2" charset="-122"/>
                <a:ea typeface="等线" panose="02010600030101010101" pitchFamily="2" charset="-122"/>
                <a:cs typeface="Times New Roman" panose="02020603050405020304" pitchFamily="18" charset="0"/>
              </a:rPr>
              <a:t>1/16+1/16+1/6=41.67%</a:t>
            </a:r>
            <a:endParaRPr lang="zh-CN" altLang="zh-CN" sz="1500" kern="100" dirty="0">
              <a:latin typeface="等线" panose="02010600030101010101" pitchFamily="2" charset="-122"/>
              <a:ea typeface="等线" panose="02010600030101010101" pitchFamily="2"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399048396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nSpc>
                <a:spcPct val="120000"/>
              </a:lnSpc>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通过</a:t>
            </a:r>
            <a:r>
              <a:rPr lang="zh-CN" altLang="en-US" sz="2400" dirty="0">
                <a:solidFill>
                  <a:srgbClr val="0F2C5D"/>
                </a:solidFill>
                <a:latin typeface="黑体" panose="02010609060101010101" charset="-122"/>
                <a:ea typeface="黑体" panose="02010609060101010101" charset="-122"/>
                <a:cs typeface="黑体" panose="02010609060101010101" charset="-122"/>
              </a:rPr>
              <a:t>概率推测</a:t>
            </a: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文本框 11"/>
              <p:cNvSpPr txBox="1"/>
              <p:nvPr/>
            </p:nvSpPr>
            <p:spPr>
              <a:xfrm>
                <a:off x="778608" y="1095360"/>
                <a:ext cx="10309602" cy="4535281"/>
              </a:xfrm>
              <a:prstGeom prst="rect">
                <a:avLst/>
              </a:prstGeom>
              <a:noFill/>
            </p:spPr>
            <p:txBody>
              <a:bodyPr wrap="square" rtlCol="0">
                <a:spAutoFit/>
              </a:bodyPr>
              <a:lstStyle/>
              <a:p>
                <a:pPr>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一、</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几种牌型的概率计算</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两副牌某一家抓</a:t>
                </a:r>
                <a:r>
                  <a:rPr lang="en-US" altLang="zh-CN" sz="2400" kern="0" dirty="0">
                    <a:solidFill>
                      <a:prstClr val="black">
                        <a:lumMod val="85000"/>
                        <a:lumOff val="15000"/>
                      </a:prstClr>
                    </a:solidFill>
                    <a:latin typeface="楷体" panose="02010609060101010101" pitchFamily="49" charset="-122"/>
                    <a:ea typeface="楷体" panose="02010609060101010101" pitchFamily="49" charset="-122"/>
                  </a:rPr>
                  <a:t>27</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张的总组合数为</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                  </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 2.09847×10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25</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一）同花顺概率</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不管同花顺上的各个数字有几张，只要能成同花顺就行：</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14:m>
                  <m:oMath xmlns:m="http://schemas.openxmlformats.org/officeDocument/2006/math">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b="0" i="1" smtClean="0">
                            <a:latin typeface="Cambria Math" panose="02040503050406030204" pitchFamily="18" charset="0"/>
                          </a:rPr>
                          <m:t>103</m:t>
                        </m:r>
                      </m:sub>
                      <m:sup>
                        <m:r>
                          <a:rPr lang="en-US" altLang="zh-CN" sz="2400" i="1">
                            <a:latin typeface="Cambria Math" panose="02040503050406030204" pitchFamily="18" charset="0"/>
                          </a:rPr>
                          <m:t>22</m:t>
                        </m:r>
                      </m:sup>
                    </m:sSubSup>
                  </m:oMath>
                </a14:m>
                <a:r>
                  <a:rPr lang="en-US" altLang="zh-CN" sz="2400" dirty="0" smtClean="0"/>
                  <a:t>=32</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dirty="0"/>
                  <a:t>1.519788</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22</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 =4.86332×10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23</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四种花色，每种花色有十副同花</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顺（起始数从</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10</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 ，</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所以总数为：</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40×4.86332×10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23</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=1.94533×10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25</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有同花顺的概率则为（</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1.94533×10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25</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sym typeface="Wingdings" panose="05000000000000000000" pitchFamily="2" charset="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2.09847×10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25 </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92.702%</a:t>
                </a:r>
                <a:endParaRPr lang="zh-CN" altLang="en-US" sz="2400" kern="0" dirty="0">
                  <a:solidFill>
                    <a:prstClr val="black">
                      <a:lumMod val="85000"/>
                      <a:lumOff val="15000"/>
                    </a:prstClr>
                  </a:solidFill>
                  <a:latin typeface="楷体" panose="02010609060101010101" pitchFamily="49" charset="-122"/>
                  <a:ea typeface="楷体" panose="02010609060101010101" pitchFamily="49"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778608" y="1095360"/>
                <a:ext cx="10309602" cy="4535281"/>
              </a:xfrm>
              <a:prstGeom prst="rect">
                <a:avLst/>
              </a:prstGeom>
              <a:blipFill>
                <a:blip r:embed="rId4"/>
                <a:stretch>
                  <a:fillRect l="-946" b="-134"/>
                </a:stretch>
              </a:blipFill>
            </p:spPr>
            <p:txBody>
              <a:bodyPr/>
              <a:lstStyle/>
              <a:p>
                <a:r>
                  <a:rPr lang="zh-CN" altLang="en-US">
                    <a:noFill/>
                  </a:rPr>
                  <a:t> </a:t>
                </a:r>
              </a:p>
            </p:txBody>
          </p:sp>
        </mc:Fallback>
      </mc:AlternateContent>
      <p:pic>
        <p:nvPicPr>
          <p:cNvPr id="5" name="图片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43025" y="1764213"/>
            <a:ext cx="2715004" cy="466790"/>
          </a:xfrm>
          <a:prstGeom prst="rect">
            <a:avLst/>
          </a:prstGeom>
        </p:spPr>
      </p:pic>
    </p:spTree>
    <p:custDataLst>
      <p:tags r:id="rId1"/>
    </p:custDataLst>
    <p:extLst>
      <p:ext uri="{BB962C8B-B14F-4D97-AF65-F5344CB8AC3E}">
        <p14:creationId xmlns:p14="http://schemas.microsoft.com/office/powerpoint/2010/main" val="89068619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文本框 11"/>
              <p:cNvSpPr txBox="1"/>
              <p:nvPr/>
            </p:nvSpPr>
            <p:spPr>
              <a:xfrm>
                <a:off x="778608" y="1095360"/>
                <a:ext cx="9701823" cy="4535601"/>
              </a:xfrm>
              <a:prstGeom prst="rect">
                <a:avLst/>
              </a:prstGeom>
              <a:noFill/>
            </p:spPr>
            <p:txBody>
              <a:bodyPr wrap="square" rtlCol="0">
                <a:spAutoFit/>
              </a:bodyPr>
              <a:lstStyle/>
              <a:p>
                <a:pPr>
                  <a:lnSpc>
                    <a:spcPct val="150000"/>
                  </a:lnSpc>
                </a:pPr>
                <a:r>
                  <a:rPr lang="zh-CN" altLang="en-US" sz="2400" b="1" kern="0" dirty="0">
                    <a:solidFill>
                      <a:prstClr val="black">
                        <a:lumMod val="85000"/>
                        <a:lumOff val="15000"/>
                      </a:prstClr>
                    </a:solidFill>
                    <a:latin typeface="楷体" panose="02010609060101010101" pitchFamily="49" charset="-122"/>
                    <a:ea typeface="楷体" panose="02010609060101010101" pitchFamily="49" charset="-122"/>
                  </a:rPr>
                  <a:t>一、</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几种牌型的概率计算：</a:t>
                </a:r>
                <a:endParaRPr lang="en-US" altLang="zh-CN" sz="2400" b="1"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（一）同花顺概率</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2.</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只有同花顺，该同花顺上的任一点数上无其他牌：</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14:m>
                  <m:oMath xmlns:m="http://schemas.openxmlformats.org/officeDocument/2006/math">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b="0" i="1" smtClean="0">
                            <a:latin typeface="Cambria Math" panose="02040503050406030204" pitchFamily="18" charset="0"/>
                          </a:rPr>
                          <m:t>6</m:t>
                        </m:r>
                        <m:r>
                          <a:rPr lang="en-US" altLang="zh-CN" sz="2400" i="1">
                            <a:latin typeface="Cambria Math" panose="02040503050406030204" pitchFamily="18" charset="0"/>
                          </a:rPr>
                          <m:t>8</m:t>
                        </m:r>
                      </m:sub>
                      <m:sup>
                        <m:r>
                          <a:rPr lang="en-US" altLang="zh-CN" sz="2400" i="1">
                            <a:latin typeface="Cambria Math" panose="02040503050406030204" pitchFamily="18" charset="0"/>
                          </a:rPr>
                          <m:t>22</m:t>
                        </m:r>
                      </m:sup>
                    </m:sSubSup>
                  </m:oMath>
                </a14:m>
                <a:r>
                  <a:rPr lang="en-US" altLang="zh-CN" sz="2400" dirty="0" smtClean="0"/>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32×4.00979×10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17</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四种花色，每种花色有十副同花顺，所以总数为：</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40×32×4.00979×10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17</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=5.1325312×10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20</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有同花顺的概率则为：</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5.1325312×10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20</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sym typeface="Wingdings" panose="05000000000000000000" pitchFamily="2" charset="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2.09847×10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25 </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0.002446%</a:t>
                </a:r>
                <a:endParaRPr lang="zh-CN" altLang="en-US" sz="2400" kern="0" dirty="0">
                  <a:solidFill>
                    <a:prstClr val="black">
                      <a:lumMod val="85000"/>
                      <a:lumOff val="15000"/>
                    </a:prstClr>
                  </a:solidFill>
                  <a:latin typeface="楷体" panose="02010609060101010101" pitchFamily="49" charset="-122"/>
                  <a:ea typeface="楷体" panose="02010609060101010101" pitchFamily="49"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778608" y="1095360"/>
                <a:ext cx="9701823" cy="4535601"/>
              </a:xfrm>
              <a:prstGeom prst="rect">
                <a:avLst/>
              </a:prstGeom>
              <a:blipFill rotWithShape="0">
                <a:blip r:embed="rId3"/>
                <a:stretch>
                  <a:fillRect l="-1006" b="-134"/>
                </a:stretch>
              </a:blipFill>
            </p:spPr>
            <p:txBody>
              <a:bodyPr/>
              <a:lstStyle/>
              <a:p>
                <a:r>
                  <a:rPr lang="zh-CN" altLang="en-US">
                    <a:noFill/>
                  </a:rPr>
                  <a:t> </a:t>
                </a:r>
              </a:p>
            </p:txBody>
          </p:sp>
        </mc:Fallback>
      </mc:AlternateContent>
      <p:sp>
        <p:nvSpPr>
          <p:cNvPr id="8" name="标题 1"/>
          <p:cNvSpPr txBox="1">
            <a:spLocks/>
          </p:cNvSpPr>
          <p:nvPr/>
        </p:nvSpPr>
        <p:spPr>
          <a:xfrm>
            <a:off x="778608" y="397155"/>
            <a:ext cx="10850563" cy="535531"/>
          </a:xfrm>
          <a:prstGeom prst="rect">
            <a:avLst/>
          </a:prstGeom>
        </p:spPr>
        <p:txBody>
          <a:bodyPr vert="horz" lIns="91440" tIns="45720" rIns="91440" bIns="45720" rtlCol="0" anchor="b">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n-US" altLang="zh-CN" sz="2400" smtClean="0">
                <a:solidFill>
                  <a:srgbClr val="0F2C5D"/>
                </a:solidFill>
                <a:latin typeface="黑体" panose="02010609060101010101" charset="-122"/>
                <a:ea typeface="黑体" panose="02010609060101010101" charset="-122"/>
                <a:cs typeface="黑体" panose="02010609060101010101" charset="-122"/>
              </a:rPr>
              <a:t>3.1 </a:t>
            </a:r>
            <a:r>
              <a:rPr lang="zh-CN" altLang="en-US" sz="2400" smtClean="0">
                <a:solidFill>
                  <a:srgbClr val="0F2C5D"/>
                </a:solidFill>
                <a:latin typeface="黑体" panose="02010609060101010101" charset="-122"/>
                <a:ea typeface="黑体" panose="02010609060101010101" charset="-122"/>
                <a:cs typeface="黑体" panose="02010609060101010101" charset="-122"/>
              </a:rPr>
              <a:t>通过概率推测</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spTree>
    <p:custDataLst>
      <p:tags r:id="rId1"/>
    </p:custDataLst>
    <p:extLst>
      <p:ext uri="{BB962C8B-B14F-4D97-AF65-F5344CB8AC3E}">
        <p14:creationId xmlns:p14="http://schemas.microsoft.com/office/powerpoint/2010/main" val="137465972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文本框 11"/>
              <p:cNvSpPr txBox="1"/>
              <p:nvPr/>
            </p:nvSpPr>
            <p:spPr>
              <a:xfrm>
                <a:off x="778608" y="1095360"/>
                <a:ext cx="9701823" cy="4543167"/>
              </a:xfrm>
              <a:prstGeom prst="rect">
                <a:avLst/>
              </a:prstGeom>
              <a:noFill/>
            </p:spPr>
            <p:txBody>
              <a:bodyPr wrap="square" rtlCol="0">
                <a:spAutoFit/>
              </a:bodyPr>
              <a:lstStyle/>
              <a:p>
                <a:pPr>
                  <a:lnSpc>
                    <a:spcPct val="150000"/>
                  </a:lnSpc>
                </a:pPr>
                <a:r>
                  <a:rPr lang="zh-CN" altLang="en-US" sz="2400" b="1" kern="0" dirty="0">
                    <a:solidFill>
                      <a:prstClr val="black">
                        <a:lumMod val="85000"/>
                        <a:lumOff val="15000"/>
                      </a:prstClr>
                    </a:solidFill>
                    <a:latin typeface="楷体" panose="02010609060101010101" pitchFamily="49" charset="-122"/>
                    <a:ea typeface="楷体" panose="02010609060101010101" pitchFamily="49" charset="-122"/>
                  </a:rPr>
                  <a:t>一、</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几种牌型的概率计算：</a:t>
                </a:r>
                <a:endParaRPr lang="en-US" altLang="zh-CN" sz="2400" b="1"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（一）同花顺概率</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3.</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该同花顺的一个点数上有其他牌，其他点数上无牌：</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14:m>
                  <m:oMath xmlns:m="http://schemas.openxmlformats.org/officeDocument/2006/math">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b="0" i="1" smtClean="0">
                            <a:latin typeface="Cambria Math" panose="02040503050406030204" pitchFamily="18" charset="0"/>
                          </a:rPr>
                          <m:t>75</m:t>
                        </m:r>
                      </m:sub>
                      <m:sup>
                        <m:r>
                          <a:rPr lang="en-US" altLang="zh-CN" sz="2400" i="1">
                            <a:latin typeface="Cambria Math" panose="02040503050406030204" pitchFamily="18" charset="0"/>
                          </a:rPr>
                          <m:t>22</m:t>
                        </m:r>
                      </m:sup>
                    </m:sSubSup>
                  </m:oMath>
                </a14:m>
                <a:r>
                  <a:rPr lang="en-US" altLang="zh-CN" sz="2400" dirty="0" smtClean="0"/>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32×5.16322×10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18</a:t>
                </a:r>
                <a:r>
                  <a:rPr lang="en-US" altLang="zh-CN" sz="2400" dirty="0"/>
                  <a:t> </a:t>
                </a:r>
                <a:r>
                  <a:rPr lang="en-US" altLang="zh-CN" sz="2400" dirty="0" smtClean="0"/>
                  <a:t>=1.65223</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20</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四种花色，每种花色有十副同花顺，所以总数为：</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40×</a:t>
                </a:r>
                <a:r>
                  <a:rPr lang="en-US" altLang="zh-CN" sz="2400" dirty="0" smtClean="0"/>
                  <a:t>1.65223</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20</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=6.60892×10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21</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有同花顺的概率则为：</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6.60892×10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21</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sym typeface="Wingdings" panose="05000000000000000000" pitchFamily="2" charset="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2.09847×10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25 </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0.03149%</a:t>
                </a:r>
                <a:endParaRPr lang="zh-CN" altLang="en-US" sz="2400" kern="0" dirty="0">
                  <a:solidFill>
                    <a:prstClr val="black">
                      <a:lumMod val="85000"/>
                      <a:lumOff val="15000"/>
                    </a:prstClr>
                  </a:solidFill>
                  <a:latin typeface="楷体" panose="02010609060101010101" pitchFamily="49" charset="-122"/>
                  <a:ea typeface="楷体" panose="02010609060101010101" pitchFamily="49"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778608" y="1095360"/>
                <a:ext cx="9701823" cy="4543167"/>
              </a:xfrm>
              <a:prstGeom prst="rect">
                <a:avLst/>
              </a:prstGeom>
              <a:blipFill rotWithShape="0">
                <a:blip r:embed="rId3"/>
                <a:stretch>
                  <a:fillRect l="-1006" b="-268"/>
                </a:stretch>
              </a:blipFill>
            </p:spPr>
            <p:txBody>
              <a:bodyPr/>
              <a:lstStyle/>
              <a:p>
                <a:r>
                  <a:rPr lang="zh-CN" altLang="en-US">
                    <a:noFill/>
                  </a:rPr>
                  <a:t> </a:t>
                </a:r>
              </a:p>
            </p:txBody>
          </p:sp>
        </mc:Fallback>
      </mc:AlternateContent>
      <p:sp>
        <p:nvSpPr>
          <p:cNvPr id="8" name="标题 1"/>
          <p:cNvSpPr>
            <a:spLocks noGrp="1"/>
          </p:cNvSpPr>
          <p:nvPr>
            <p:ph type="title"/>
          </p:nvPr>
        </p:nvSpPr>
        <p:spPr>
          <a:xfrm>
            <a:off x="778608" y="397155"/>
            <a:ext cx="10850563" cy="535531"/>
          </a:xfrm>
        </p:spPr>
        <p:txBody>
          <a:bodyPr vert="horz" lIns="91440" tIns="45720" rIns="91440" bIns="45720" rtlCol="0" anchor="b">
            <a:spAutoFit/>
          </a:bodyPr>
          <a:lstStyle/>
          <a:p>
            <a:pPr>
              <a:lnSpc>
                <a:spcPct val="120000"/>
              </a:lnSpc>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通过</a:t>
            </a:r>
            <a:r>
              <a:rPr lang="zh-CN" altLang="en-US" sz="2400" dirty="0">
                <a:solidFill>
                  <a:srgbClr val="0F2C5D"/>
                </a:solidFill>
                <a:latin typeface="黑体" panose="02010609060101010101" charset="-122"/>
                <a:ea typeface="黑体" panose="02010609060101010101" charset="-122"/>
                <a:cs typeface="黑体" panose="02010609060101010101" charset="-122"/>
              </a:rPr>
              <a:t>概率推测</a:t>
            </a:r>
          </a:p>
        </p:txBody>
      </p:sp>
    </p:spTree>
    <p:custDataLst>
      <p:tags r:id="rId1"/>
    </p:custDataLst>
    <p:extLst>
      <p:ext uri="{BB962C8B-B14F-4D97-AF65-F5344CB8AC3E}">
        <p14:creationId xmlns:p14="http://schemas.microsoft.com/office/powerpoint/2010/main" val="362403764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文本框 11"/>
              <p:cNvSpPr txBox="1"/>
              <p:nvPr/>
            </p:nvSpPr>
            <p:spPr>
              <a:xfrm>
                <a:off x="778608" y="1095360"/>
                <a:ext cx="9701823" cy="4535601"/>
              </a:xfrm>
              <a:prstGeom prst="rect">
                <a:avLst/>
              </a:prstGeom>
              <a:noFill/>
            </p:spPr>
            <p:txBody>
              <a:bodyPr wrap="square" rtlCol="0">
                <a:spAutoFit/>
              </a:bodyPr>
              <a:lstStyle/>
              <a:p>
                <a:pPr>
                  <a:lnSpc>
                    <a:spcPct val="150000"/>
                  </a:lnSpc>
                </a:pPr>
                <a:r>
                  <a:rPr lang="zh-CN" altLang="en-US" sz="2400" b="1" kern="0" dirty="0">
                    <a:solidFill>
                      <a:prstClr val="black">
                        <a:lumMod val="85000"/>
                        <a:lumOff val="15000"/>
                      </a:prstClr>
                    </a:solidFill>
                    <a:latin typeface="楷体" panose="02010609060101010101" pitchFamily="49" charset="-122"/>
                    <a:ea typeface="楷体" panose="02010609060101010101" pitchFamily="49" charset="-122"/>
                  </a:rPr>
                  <a:t>一、</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几种牌型的概率计算：</a:t>
                </a:r>
                <a:endParaRPr lang="en-US" altLang="zh-CN" sz="2400" b="1"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（一）同花顺概率</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4.</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该同花顺</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的两个</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点数上有其他牌，其他点数上无牌：</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14:m>
                  <m:oMath xmlns:m="http://schemas.openxmlformats.org/officeDocument/2006/math">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b="0" i="1" smtClean="0">
                            <a:latin typeface="Cambria Math" panose="02040503050406030204" pitchFamily="18" charset="0"/>
                          </a:rPr>
                          <m:t>82</m:t>
                        </m:r>
                      </m:sub>
                      <m:sup>
                        <m:r>
                          <a:rPr lang="en-US" altLang="zh-CN" sz="2400" i="1">
                            <a:latin typeface="Cambria Math" panose="02040503050406030204" pitchFamily="18" charset="0"/>
                          </a:rPr>
                          <m:t>22</m:t>
                        </m:r>
                      </m:sup>
                    </m:sSubSup>
                  </m:oMath>
                </a14:m>
                <a:r>
                  <a:rPr lang="en-US" altLang="zh-CN" sz="2400" dirty="0" smtClean="0"/>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32×5.08259×10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19</a:t>
                </a:r>
                <a:r>
                  <a:rPr lang="en-US" altLang="zh-CN" sz="2400" dirty="0" smtClean="0"/>
                  <a:t>=1.62643</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21</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四种花色，每种花色有十副同花顺，所以总数为：</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40×</a:t>
                </a:r>
                <a:r>
                  <a:rPr lang="en-US" altLang="zh-CN" sz="2400" dirty="0" smtClean="0"/>
                  <a:t>1.62643</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21</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=6.50572×10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22</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有同花顺的概率则为：</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6.50572×10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22</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sym typeface="Wingdings" panose="05000000000000000000" pitchFamily="2" charset="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2.09847×10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25 </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0.31%</a:t>
                </a:r>
                <a:endParaRPr lang="zh-CN" altLang="en-US" sz="2400" kern="0" dirty="0">
                  <a:solidFill>
                    <a:prstClr val="black">
                      <a:lumMod val="85000"/>
                      <a:lumOff val="15000"/>
                    </a:prstClr>
                  </a:solidFill>
                  <a:latin typeface="楷体" panose="02010609060101010101" pitchFamily="49" charset="-122"/>
                  <a:ea typeface="楷体" panose="02010609060101010101" pitchFamily="49"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778608" y="1095360"/>
                <a:ext cx="9701823" cy="4535601"/>
              </a:xfrm>
              <a:prstGeom prst="rect">
                <a:avLst/>
              </a:prstGeom>
              <a:blipFill rotWithShape="0">
                <a:blip r:embed="rId3"/>
                <a:stretch>
                  <a:fillRect l="-1006" b="-134"/>
                </a:stretch>
              </a:blipFill>
            </p:spPr>
            <p:txBody>
              <a:bodyPr/>
              <a:lstStyle/>
              <a:p>
                <a:r>
                  <a:rPr lang="zh-CN" altLang="en-US">
                    <a:noFill/>
                  </a:rPr>
                  <a:t> </a:t>
                </a:r>
              </a:p>
            </p:txBody>
          </p:sp>
        </mc:Fallback>
      </mc:AlternateContent>
      <p:sp>
        <p:nvSpPr>
          <p:cNvPr id="8" name="标题 1"/>
          <p:cNvSpPr>
            <a:spLocks noGrp="1"/>
          </p:cNvSpPr>
          <p:nvPr>
            <p:ph type="title"/>
          </p:nvPr>
        </p:nvSpPr>
        <p:spPr>
          <a:xfrm>
            <a:off x="778608" y="397155"/>
            <a:ext cx="10850563" cy="535531"/>
          </a:xfrm>
        </p:spPr>
        <p:txBody>
          <a:bodyPr vert="horz" lIns="91440" tIns="45720" rIns="91440" bIns="45720" rtlCol="0" anchor="b">
            <a:spAutoFit/>
          </a:bodyPr>
          <a:lstStyle/>
          <a:p>
            <a:pPr>
              <a:lnSpc>
                <a:spcPct val="120000"/>
              </a:lnSpc>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通过</a:t>
            </a:r>
            <a:r>
              <a:rPr lang="zh-CN" altLang="en-US" sz="2400" dirty="0">
                <a:solidFill>
                  <a:srgbClr val="0F2C5D"/>
                </a:solidFill>
                <a:latin typeface="黑体" panose="02010609060101010101" charset="-122"/>
                <a:ea typeface="黑体" panose="02010609060101010101" charset="-122"/>
                <a:cs typeface="黑体" panose="02010609060101010101" charset="-122"/>
              </a:rPr>
              <a:t>概率推测</a:t>
            </a:r>
          </a:p>
        </p:txBody>
      </p:sp>
    </p:spTree>
    <p:custDataLst>
      <p:tags r:id="rId1"/>
    </p:custDataLst>
    <p:extLst>
      <p:ext uri="{BB962C8B-B14F-4D97-AF65-F5344CB8AC3E}">
        <p14:creationId xmlns:p14="http://schemas.microsoft.com/office/powerpoint/2010/main" val="338066684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文本框 11"/>
              <p:cNvSpPr txBox="1"/>
              <p:nvPr/>
            </p:nvSpPr>
            <p:spPr>
              <a:xfrm>
                <a:off x="778608" y="1095360"/>
                <a:ext cx="9701823" cy="4535601"/>
              </a:xfrm>
              <a:prstGeom prst="rect">
                <a:avLst/>
              </a:prstGeom>
              <a:noFill/>
            </p:spPr>
            <p:txBody>
              <a:bodyPr wrap="square" rtlCol="0">
                <a:spAutoFit/>
              </a:bodyPr>
              <a:lstStyle/>
              <a:p>
                <a:pPr>
                  <a:lnSpc>
                    <a:spcPct val="150000"/>
                  </a:lnSpc>
                </a:pPr>
                <a:r>
                  <a:rPr lang="zh-CN" altLang="en-US" sz="2400" b="1" kern="0" dirty="0">
                    <a:solidFill>
                      <a:prstClr val="black">
                        <a:lumMod val="85000"/>
                        <a:lumOff val="15000"/>
                      </a:prstClr>
                    </a:solidFill>
                    <a:latin typeface="楷体" panose="02010609060101010101" pitchFamily="49" charset="-122"/>
                    <a:ea typeface="楷体" panose="02010609060101010101" pitchFamily="49" charset="-122"/>
                  </a:rPr>
                  <a:t>一、</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几种牌型的概率计算：</a:t>
                </a:r>
                <a:endParaRPr lang="en-US" altLang="zh-CN" sz="2400" b="1"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（一）同花顺概率</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5.</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该同花顺</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的三个</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点数上有其他牌，其他点数上无</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牌：</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14:m>
                  <m:oMath xmlns:m="http://schemas.openxmlformats.org/officeDocument/2006/math">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b="0" i="1" smtClean="0">
                            <a:latin typeface="Cambria Math" panose="02040503050406030204" pitchFamily="18" charset="0"/>
                          </a:rPr>
                          <m:t>89</m:t>
                        </m:r>
                      </m:sub>
                      <m:sup>
                        <m:r>
                          <a:rPr lang="en-US" altLang="zh-CN" sz="2400" i="1">
                            <a:latin typeface="Cambria Math" panose="02040503050406030204" pitchFamily="18" charset="0"/>
                          </a:rPr>
                          <m:t>22</m:t>
                        </m:r>
                      </m:sup>
                    </m:sSubSup>
                  </m:oMath>
                </a14:m>
                <a:r>
                  <a:rPr lang="en-US" altLang="zh-CN" sz="2400" dirty="0" smtClean="0"/>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32×4.02696×10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20</a:t>
                </a:r>
                <a:r>
                  <a:rPr lang="en-US" altLang="zh-CN" sz="2400" dirty="0" smtClean="0"/>
                  <a:t>=1.28863</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22</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四种花色，每种花色有十副同花顺，所以总数为：</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40×</a:t>
                </a:r>
                <a:r>
                  <a:rPr lang="en-US" altLang="zh-CN" sz="2400" dirty="0" smtClean="0"/>
                  <a:t>1.28863</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22</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=5.1545×10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23</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有同花顺的概率则为：</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5.1545×10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23</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sym typeface="Wingdings" panose="05000000000000000000" pitchFamily="2" charset="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2.09847×10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25 </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2.4563%</a:t>
                </a:r>
                <a:endParaRPr lang="zh-CN" altLang="en-US" sz="2400" kern="0" dirty="0">
                  <a:solidFill>
                    <a:prstClr val="black">
                      <a:lumMod val="85000"/>
                      <a:lumOff val="15000"/>
                    </a:prstClr>
                  </a:solidFill>
                  <a:latin typeface="楷体" panose="02010609060101010101" pitchFamily="49" charset="-122"/>
                  <a:ea typeface="楷体" panose="02010609060101010101" pitchFamily="49"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778608" y="1095360"/>
                <a:ext cx="9701823" cy="4535601"/>
              </a:xfrm>
              <a:prstGeom prst="rect">
                <a:avLst/>
              </a:prstGeom>
              <a:blipFill rotWithShape="0">
                <a:blip r:embed="rId3"/>
                <a:stretch>
                  <a:fillRect l="-1006" b="-134"/>
                </a:stretch>
              </a:blipFill>
            </p:spPr>
            <p:txBody>
              <a:bodyPr/>
              <a:lstStyle/>
              <a:p>
                <a:r>
                  <a:rPr lang="zh-CN" altLang="en-US">
                    <a:noFill/>
                  </a:rPr>
                  <a:t> </a:t>
                </a:r>
              </a:p>
            </p:txBody>
          </p:sp>
        </mc:Fallback>
      </mc:AlternateContent>
      <p:sp>
        <p:nvSpPr>
          <p:cNvPr id="8" name="标题 1"/>
          <p:cNvSpPr txBox="1">
            <a:spLocks/>
          </p:cNvSpPr>
          <p:nvPr/>
        </p:nvSpPr>
        <p:spPr>
          <a:xfrm>
            <a:off x="778608" y="397155"/>
            <a:ext cx="10850563" cy="535531"/>
          </a:xfrm>
          <a:prstGeom prst="rect">
            <a:avLst/>
          </a:prstGeom>
        </p:spPr>
        <p:txBody>
          <a:bodyPr vert="horz" lIns="91440" tIns="45720" rIns="91440" bIns="45720" rtlCol="0" anchor="b">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n-US" altLang="zh-CN" sz="2400" smtClean="0">
                <a:solidFill>
                  <a:srgbClr val="0F2C5D"/>
                </a:solidFill>
                <a:latin typeface="黑体" panose="02010609060101010101" charset="-122"/>
                <a:ea typeface="黑体" panose="02010609060101010101" charset="-122"/>
                <a:cs typeface="黑体" panose="02010609060101010101" charset="-122"/>
              </a:rPr>
              <a:t>3.1 </a:t>
            </a:r>
            <a:r>
              <a:rPr lang="zh-CN" altLang="en-US" sz="2400" smtClean="0">
                <a:solidFill>
                  <a:srgbClr val="0F2C5D"/>
                </a:solidFill>
                <a:latin typeface="黑体" panose="02010609060101010101" charset="-122"/>
                <a:ea typeface="黑体" panose="02010609060101010101" charset="-122"/>
                <a:cs typeface="黑体" panose="02010609060101010101" charset="-122"/>
              </a:rPr>
              <a:t>通过概率推测</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spTree>
    <p:custDataLst>
      <p:tags r:id="rId1"/>
    </p:custDataLst>
    <p:extLst>
      <p:ext uri="{BB962C8B-B14F-4D97-AF65-F5344CB8AC3E}">
        <p14:creationId xmlns:p14="http://schemas.microsoft.com/office/powerpoint/2010/main" val="373507637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文本框 11"/>
              <p:cNvSpPr txBox="1"/>
              <p:nvPr/>
            </p:nvSpPr>
            <p:spPr>
              <a:xfrm>
                <a:off x="778608" y="1095360"/>
                <a:ext cx="9701823" cy="4535281"/>
              </a:xfrm>
              <a:prstGeom prst="rect">
                <a:avLst/>
              </a:prstGeom>
              <a:noFill/>
            </p:spPr>
            <p:txBody>
              <a:bodyPr wrap="square" rtlCol="0">
                <a:spAutoFit/>
              </a:bodyPr>
              <a:lstStyle/>
              <a:p>
                <a:pPr>
                  <a:lnSpc>
                    <a:spcPct val="150000"/>
                  </a:lnSpc>
                </a:pPr>
                <a:r>
                  <a:rPr lang="zh-CN" altLang="en-US" sz="2400" b="1" kern="0" dirty="0">
                    <a:solidFill>
                      <a:prstClr val="black">
                        <a:lumMod val="85000"/>
                        <a:lumOff val="15000"/>
                      </a:prstClr>
                    </a:solidFill>
                    <a:latin typeface="楷体" panose="02010609060101010101" pitchFamily="49" charset="-122"/>
                    <a:ea typeface="楷体" panose="02010609060101010101" pitchFamily="49" charset="-122"/>
                  </a:rPr>
                  <a:t>一、</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几种牌型的概率计算：</a:t>
                </a:r>
                <a:endParaRPr lang="en-US" altLang="zh-CN" sz="2400" b="1"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（一）同花顺概率</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6.</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该同花顺</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的四个</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点数上有其他牌</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，另一个点数</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上无牌：</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14:m>
                  <m:oMath xmlns:m="http://schemas.openxmlformats.org/officeDocument/2006/math">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2</m:t>
                        </m:r>
                      </m:sub>
                      <m:sup>
                        <m:r>
                          <a:rPr lang="en-US" altLang="zh-CN" sz="2400" i="1">
                            <a:latin typeface="Cambria Math" panose="02040503050406030204" pitchFamily="18" charset="0"/>
                          </a:rPr>
                          <m:t>1</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b="0" i="1" smtClean="0">
                            <a:latin typeface="Cambria Math" panose="02040503050406030204" pitchFamily="18" charset="0"/>
                          </a:rPr>
                          <m:t>96</m:t>
                        </m:r>
                      </m:sub>
                      <m:sup>
                        <m:r>
                          <a:rPr lang="en-US" altLang="zh-CN" sz="2400" i="1">
                            <a:latin typeface="Cambria Math" panose="02040503050406030204" pitchFamily="18" charset="0"/>
                          </a:rPr>
                          <m:t>22</m:t>
                        </m:r>
                      </m:sup>
                    </m:sSubSup>
                  </m:oMath>
                </a14:m>
                <a:r>
                  <a:rPr lang="en-US" altLang="zh-CN" sz="2400" dirty="0" smtClean="0"/>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32×2.66719×10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21</a:t>
                </a:r>
                <a:r>
                  <a:rPr lang="en-US" altLang="zh-CN" sz="2400" dirty="0" smtClean="0"/>
                  <a:t>=8.535</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22</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四种花色，每种花色有十副同花顺，所以总数为：</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40×</a:t>
                </a:r>
                <a:r>
                  <a:rPr lang="en-US" altLang="zh-CN" sz="2400" dirty="0" smtClean="0"/>
                  <a:t>8.535</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22</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=3.414×10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24</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有同花顺的概率则为：</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3.414×10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24</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sym typeface="Wingdings" panose="05000000000000000000" pitchFamily="2" charset="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2.09847×10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25 </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16.269%</a:t>
                </a:r>
                <a:endParaRPr lang="zh-CN" altLang="en-US" sz="2400" kern="0" dirty="0">
                  <a:solidFill>
                    <a:prstClr val="black">
                      <a:lumMod val="85000"/>
                      <a:lumOff val="15000"/>
                    </a:prstClr>
                  </a:solidFill>
                  <a:latin typeface="楷体" panose="02010609060101010101" pitchFamily="49" charset="-122"/>
                  <a:ea typeface="楷体" panose="02010609060101010101" pitchFamily="49"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778608" y="1095360"/>
                <a:ext cx="9701823" cy="4535281"/>
              </a:xfrm>
              <a:prstGeom prst="rect">
                <a:avLst/>
              </a:prstGeom>
              <a:blipFill rotWithShape="0">
                <a:blip r:embed="rId3"/>
                <a:stretch>
                  <a:fillRect l="-1006" b="-134"/>
                </a:stretch>
              </a:blipFill>
            </p:spPr>
            <p:txBody>
              <a:bodyPr/>
              <a:lstStyle/>
              <a:p>
                <a:r>
                  <a:rPr lang="zh-CN" altLang="en-US">
                    <a:noFill/>
                  </a:rPr>
                  <a:t> </a:t>
                </a:r>
              </a:p>
            </p:txBody>
          </p:sp>
        </mc:Fallback>
      </mc:AlternateContent>
      <p:sp>
        <p:nvSpPr>
          <p:cNvPr id="8" name="标题 1"/>
          <p:cNvSpPr>
            <a:spLocks noGrp="1"/>
          </p:cNvSpPr>
          <p:nvPr>
            <p:ph type="title"/>
          </p:nvPr>
        </p:nvSpPr>
        <p:spPr>
          <a:xfrm>
            <a:off x="778608" y="397155"/>
            <a:ext cx="10850563" cy="535531"/>
          </a:xfrm>
        </p:spPr>
        <p:txBody>
          <a:bodyPr vert="horz" lIns="91440" tIns="45720" rIns="91440" bIns="45720" rtlCol="0" anchor="b">
            <a:spAutoFit/>
          </a:bodyPr>
          <a:lstStyle/>
          <a:p>
            <a:pPr>
              <a:lnSpc>
                <a:spcPct val="120000"/>
              </a:lnSpc>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通过</a:t>
            </a:r>
            <a:r>
              <a:rPr lang="zh-CN" altLang="en-US" sz="2400" dirty="0">
                <a:solidFill>
                  <a:srgbClr val="0F2C5D"/>
                </a:solidFill>
                <a:latin typeface="黑体" panose="02010609060101010101" charset="-122"/>
                <a:ea typeface="黑体" panose="02010609060101010101" charset="-122"/>
                <a:cs typeface="黑体" panose="02010609060101010101" charset="-122"/>
              </a:rPr>
              <a:t>概率推测</a:t>
            </a:r>
          </a:p>
        </p:txBody>
      </p:sp>
    </p:spTree>
    <p:custDataLst>
      <p:tags r:id="rId1"/>
    </p:custDataLst>
    <p:extLst>
      <p:ext uri="{BB962C8B-B14F-4D97-AF65-F5344CB8AC3E}">
        <p14:creationId xmlns:p14="http://schemas.microsoft.com/office/powerpoint/2010/main" val="406149186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文本框 11"/>
              <p:cNvSpPr txBox="1"/>
              <p:nvPr/>
            </p:nvSpPr>
            <p:spPr>
              <a:xfrm>
                <a:off x="778607" y="1258035"/>
                <a:ext cx="10850563" cy="5655010"/>
              </a:xfrm>
              <a:prstGeom prst="rect">
                <a:avLst/>
              </a:prstGeom>
              <a:noFill/>
            </p:spPr>
            <p:txBody>
              <a:bodyPr wrap="square" rtlCol="0">
                <a:spAutoFit/>
              </a:bodyPr>
              <a:lstStyle/>
              <a:p>
                <a:pPr>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一、</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几种牌型的概率计算：</a:t>
                </a:r>
                <a:endParaRPr lang="en-US" altLang="zh-CN" sz="2400" b="1"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（二）炸弹的概率</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一副炸弹的概率</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一副炸弹的组合数为：</a:t>
                </a:r>
                <a14:m>
                  <m:oMath xmlns:m="http://schemas.openxmlformats.org/officeDocument/2006/math">
                    <m:r>
                      <a:rPr lang="en-US" altLang="zh-CN" sz="2400" i="1">
                        <a:latin typeface="Cambria Math" panose="02040503050406030204" pitchFamily="18" charset="0"/>
                      </a:rPr>
                      <m:t>13</m:t>
                    </m:r>
                    <m:r>
                      <a:rPr lang="zh-CN" altLang="zh-CN" sz="2400" i="1">
                        <a:latin typeface="Cambria Math" panose="02040503050406030204" pitchFamily="18" charset="0"/>
                      </a:rPr>
                      <m:t>×</m:t>
                    </m:r>
                    <m:sSubSup>
                      <m:sSubSupPr>
                        <m:ctrlPr>
                          <a:rPr lang="zh-CN" altLang="zh-CN" sz="2400" i="1">
                            <a:latin typeface="Cambria Math" panose="02040503050406030204" pitchFamily="18" charset="0"/>
                          </a:rPr>
                        </m:ctrlPr>
                      </m:sSubSupPr>
                      <m:e>
                        <m:r>
                          <a:rPr lang="zh-CN" altLang="zh-CN" sz="2400">
                            <a:latin typeface="Cambria Math" panose="02040503050406030204" pitchFamily="18" charset="0"/>
                          </a:rPr>
                          <m:t>（</m:t>
                        </m:r>
                        <m:r>
                          <a:rPr lang="en-US" altLang="zh-CN" sz="2400" i="1">
                            <a:latin typeface="Cambria Math" panose="02040503050406030204" pitchFamily="18" charset="0"/>
                          </a:rPr>
                          <m:t>𝐶</m:t>
                        </m:r>
                      </m:e>
                      <m:sub>
                        <m:r>
                          <a:rPr lang="en-US" altLang="zh-CN" sz="2400" i="1">
                            <a:latin typeface="Cambria Math" panose="02040503050406030204" pitchFamily="18" charset="0"/>
                          </a:rPr>
                          <m:t>8</m:t>
                        </m:r>
                      </m:sub>
                      <m:sup>
                        <m:r>
                          <a:rPr lang="en-US" altLang="zh-CN" sz="2400" i="1">
                            <a:latin typeface="Cambria Math" panose="02040503050406030204" pitchFamily="18" charset="0"/>
                          </a:rPr>
                          <m:t>4</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100</m:t>
                        </m:r>
                      </m:sub>
                      <m:sup>
                        <m:r>
                          <a:rPr lang="en-US" altLang="zh-CN" sz="2400" i="1">
                            <a:latin typeface="Cambria Math" panose="02040503050406030204" pitchFamily="18" charset="0"/>
                          </a:rPr>
                          <m:t>23</m:t>
                        </m:r>
                      </m:sup>
                    </m:sSubSup>
                    <m:r>
                      <a:rPr lang="en-US" altLang="zh-CN" sz="2400" i="1">
                        <a:latin typeface="Cambria Math" panose="02040503050406030204" pitchFamily="18" charset="0"/>
                      </a:rPr>
                      <m:t>+</m:t>
                    </m:r>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8</m:t>
                        </m:r>
                      </m:sub>
                      <m:sup>
                        <m:r>
                          <a:rPr lang="en-US" altLang="zh-CN" sz="2400" i="1">
                            <a:latin typeface="Cambria Math" panose="02040503050406030204" pitchFamily="18" charset="0"/>
                          </a:rPr>
                          <m:t>5</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100</m:t>
                        </m:r>
                      </m:sub>
                      <m:sup>
                        <m:r>
                          <a:rPr lang="en-US" altLang="zh-CN" sz="2400" i="1">
                            <a:latin typeface="Cambria Math" panose="02040503050406030204" pitchFamily="18" charset="0"/>
                          </a:rPr>
                          <m:t>22</m:t>
                        </m:r>
                      </m:sup>
                    </m:sSubSup>
                    <m:r>
                      <a:rPr lang="en-US" altLang="zh-CN" sz="2400" i="1">
                        <a:latin typeface="Cambria Math" panose="02040503050406030204" pitchFamily="18" charset="0"/>
                      </a:rPr>
                      <m:t>+</m:t>
                    </m:r>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8</m:t>
                        </m:r>
                      </m:sub>
                      <m:sup>
                        <m:r>
                          <a:rPr lang="en-US" altLang="zh-CN" sz="2400" i="1">
                            <a:latin typeface="Cambria Math" panose="02040503050406030204" pitchFamily="18" charset="0"/>
                          </a:rPr>
                          <m:t>6</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100</m:t>
                        </m:r>
                      </m:sub>
                      <m:sup>
                        <m:r>
                          <a:rPr lang="en-US" altLang="zh-CN" sz="2400" i="1">
                            <a:latin typeface="Cambria Math" panose="02040503050406030204" pitchFamily="18" charset="0"/>
                          </a:rPr>
                          <m:t>21</m:t>
                        </m:r>
                      </m:sup>
                    </m:sSubSup>
                    <m:r>
                      <a:rPr lang="en-US" altLang="zh-CN" sz="2400" i="1">
                        <a:latin typeface="Cambria Math" panose="02040503050406030204" pitchFamily="18" charset="0"/>
                      </a:rPr>
                      <m:t>+</m:t>
                    </m:r>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8</m:t>
                        </m:r>
                      </m:sub>
                      <m:sup>
                        <m:r>
                          <a:rPr lang="en-US" altLang="zh-CN" sz="2400" i="1">
                            <a:latin typeface="Cambria Math" panose="02040503050406030204" pitchFamily="18" charset="0"/>
                          </a:rPr>
                          <m:t>7</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100</m:t>
                        </m:r>
                      </m:sub>
                      <m:sup>
                        <m:r>
                          <a:rPr lang="en-US" altLang="zh-CN" sz="2400" i="1">
                            <a:latin typeface="Cambria Math" panose="02040503050406030204" pitchFamily="18" charset="0"/>
                          </a:rPr>
                          <m:t>20</m:t>
                        </m:r>
                      </m:sup>
                    </m:sSubSup>
                    <m:r>
                      <a:rPr lang="en-US" altLang="zh-CN" sz="2400" i="1">
                        <a:latin typeface="Cambria Math" panose="02040503050406030204" pitchFamily="18" charset="0"/>
                      </a:rPr>
                      <m:t>+</m:t>
                    </m:r>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8</m:t>
                        </m:r>
                      </m:sub>
                      <m:sup>
                        <m:r>
                          <a:rPr lang="en-US" altLang="zh-CN" sz="2400" i="1">
                            <a:latin typeface="Cambria Math" panose="02040503050406030204" pitchFamily="18" charset="0"/>
                          </a:rPr>
                          <m:t>8</m:t>
                        </m:r>
                      </m:sup>
                    </m:sSubSup>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𝐶</m:t>
                        </m:r>
                      </m:e>
                      <m:sub>
                        <m:r>
                          <a:rPr lang="en-US" altLang="zh-CN" sz="2400" i="1">
                            <a:latin typeface="Cambria Math" panose="02040503050406030204" pitchFamily="18" charset="0"/>
                          </a:rPr>
                          <m:t>100</m:t>
                        </m:r>
                      </m:sub>
                      <m:sup>
                        <m:r>
                          <a:rPr lang="en-US" altLang="zh-CN" sz="2400" i="1">
                            <a:latin typeface="Cambria Math" panose="02040503050406030204" pitchFamily="18" charset="0"/>
                          </a:rPr>
                          <m:t>19</m:t>
                        </m:r>
                      </m:sup>
                    </m:sSubSup>
                    <m:r>
                      <a:rPr lang="zh-CN" altLang="zh-CN" sz="2400">
                        <a:latin typeface="Cambria Math" panose="02040503050406030204" pitchFamily="18" charset="0"/>
                      </a:rPr>
                      <m:t>）</m:t>
                    </m:r>
                  </m:oMath>
                </a14:m>
                <a:endParaRPr lang="zh-CN" altLang="zh-CN" sz="2400" dirty="0"/>
              </a:p>
              <a:p>
                <a:pPr>
                  <a:lnSpc>
                    <a:spcPct val="150000"/>
                  </a:lnSpc>
                </a:pP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=13×</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70×2.4865×10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22</a:t>
                </a:r>
                <a:r>
                  <a:rPr lang="en-US" altLang="zh-CN" sz="2400" dirty="0"/>
                  <a:t> </a:t>
                </a:r>
                <a14:m>
                  <m:oMath xmlns:m="http://schemas.openxmlformats.org/officeDocument/2006/math">
                    <m:r>
                      <a:rPr lang="en-US" altLang="zh-CN" sz="2400" i="1">
                        <a:latin typeface="Cambria Math" panose="02040503050406030204" pitchFamily="18" charset="0"/>
                      </a:rPr>
                      <m:t>+</m:t>
                    </m:r>
                    <m:r>
                      <m:rPr>
                        <m:nor/>
                      </m:rPr>
                      <a:rPr lang="en-US" altLang="zh-CN" sz="2400" b="0" i="0" smtClean="0">
                        <a:latin typeface="Cambria Math" panose="02040503050406030204" pitchFamily="18" charset="0"/>
                      </a:rPr>
                      <m:t>56</m:t>
                    </m:r>
                    <m:r>
                      <m:rPr>
                        <m:nor/>
                      </m:rPr>
                      <a:rPr lang="en-US" altLang="zh-CN" sz="2400" kern="0" dirty="0">
                        <a:solidFill>
                          <a:prstClr val="black">
                            <a:lumMod val="85000"/>
                            <a:lumOff val="15000"/>
                          </a:prstClr>
                        </a:solidFill>
                        <a:latin typeface="楷体" panose="02010609060101010101" pitchFamily="49" charset="-122"/>
                        <a:ea typeface="楷体" panose="02010609060101010101" pitchFamily="49" charset="-122"/>
                      </a:rPr>
                      <m:t>×</m:t>
                    </m:r>
                    <m:r>
                      <m:rPr>
                        <m:nor/>
                      </m:rPr>
                      <a:rPr lang="en-US" altLang="zh-CN" sz="2400" b="0" i="0" kern="0" dirty="0" smtClean="0">
                        <a:solidFill>
                          <a:prstClr val="black">
                            <a:lumMod val="85000"/>
                            <a:lumOff val="15000"/>
                          </a:prstClr>
                        </a:solidFill>
                        <a:latin typeface="楷体" panose="02010609060101010101" pitchFamily="49" charset="-122"/>
                        <a:ea typeface="楷体" panose="02010609060101010101" pitchFamily="49" charset="-122"/>
                      </a:rPr>
                      <m:t>7.3221</m:t>
                    </m:r>
                    <m:r>
                      <m:rPr>
                        <m:nor/>
                      </m:rPr>
                      <a:rPr lang="en-US" altLang="zh-CN" sz="2400" kern="0" dirty="0">
                        <a:solidFill>
                          <a:prstClr val="black">
                            <a:lumMod val="85000"/>
                            <a:lumOff val="15000"/>
                          </a:prstClr>
                        </a:solidFill>
                        <a:latin typeface="楷体" panose="02010609060101010101" pitchFamily="49" charset="-122"/>
                        <a:ea typeface="楷体" panose="02010609060101010101" pitchFamily="49" charset="-122"/>
                      </a:rPr>
                      <m:t>×10</m:t>
                    </m:r>
                    <m:r>
                      <m:rPr>
                        <m:nor/>
                      </m:rPr>
                      <a:rPr lang="en-US" altLang="zh-CN" sz="2400" kern="0" baseline="30000" dirty="0">
                        <a:solidFill>
                          <a:prstClr val="black">
                            <a:lumMod val="85000"/>
                            <a:lumOff val="15000"/>
                          </a:prstClr>
                        </a:solidFill>
                        <a:latin typeface="楷体" panose="02010609060101010101" pitchFamily="49" charset="-122"/>
                        <a:ea typeface="楷体" panose="02010609060101010101" pitchFamily="49" charset="-122"/>
                      </a:rPr>
                      <m:t>2</m:t>
                    </m:r>
                    <m:r>
                      <a:rPr lang="en-US" altLang="zh-CN" sz="2400" b="0" i="1" kern="0" baseline="30000" dirty="0" smtClean="0">
                        <a:solidFill>
                          <a:prstClr val="black">
                            <a:lumMod val="85000"/>
                            <a:lumOff val="15000"/>
                          </a:prstClr>
                        </a:solidFill>
                        <a:latin typeface="Cambria Math" panose="02040503050406030204" pitchFamily="18" charset="0"/>
                        <a:ea typeface="楷体" panose="02010609060101010101" pitchFamily="49" charset="-122"/>
                      </a:rPr>
                      <m:t>1</m:t>
                    </m:r>
                    <m:r>
                      <a:rPr lang="en-US" altLang="zh-CN" sz="2400" i="1">
                        <a:latin typeface="Cambria Math" panose="02040503050406030204" pitchFamily="18" charset="0"/>
                      </a:rPr>
                      <m:t>+</m:t>
                    </m:r>
                    <m:r>
                      <m:rPr>
                        <m:nor/>
                      </m:rPr>
                      <a:rPr lang="en-US" altLang="zh-CN" sz="2400" b="0" i="0" kern="0" dirty="0" smtClean="0">
                        <a:solidFill>
                          <a:prstClr val="black">
                            <a:lumMod val="85000"/>
                            <a:lumOff val="15000"/>
                          </a:prstClr>
                        </a:solidFill>
                        <a:latin typeface="楷体" panose="02010609060101010101" pitchFamily="49" charset="-122"/>
                        <a:ea typeface="楷体" panose="02010609060101010101" pitchFamily="49" charset="-122"/>
                      </a:rPr>
                      <m:t>28</m:t>
                    </m:r>
                    <m:r>
                      <m:rPr>
                        <m:nor/>
                      </m:rPr>
                      <a:rPr lang="en-US" altLang="zh-CN" sz="2400" kern="0" dirty="0">
                        <a:solidFill>
                          <a:prstClr val="black">
                            <a:lumMod val="85000"/>
                            <a:lumOff val="15000"/>
                          </a:prstClr>
                        </a:solidFill>
                        <a:latin typeface="楷体" panose="02010609060101010101" pitchFamily="49" charset="-122"/>
                        <a:ea typeface="楷体" panose="02010609060101010101" pitchFamily="49" charset="-122"/>
                      </a:rPr>
                      <m:t>×</m:t>
                    </m:r>
                    <m:r>
                      <m:rPr>
                        <m:nor/>
                      </m:rPr>
                      <a:rPr lang="en-US" altLang="zh-CN" sz="2400" b="0" i="0" kern="0" dirty="0" smtClean="0">
                        <a:solidFill>
                          <a:prstClr val="black">
                            <a:lumMod val="85000"/>
                            <a:lumOff val="15000"/>
                          </a:prstClr>
                        </a:solidFill>
                        <a:latin typeface="楷体" panose="02010609060101010101" pitchFamily="49" charset="-122"/>
                        <a:ea typeface="楷体" panose="02010609060101010101" pitchFamily="49" charset="-122"/>
                      </a:rPr>
                      <m:t>2.0418</m:t>
                    </m:r>
                    <m:r>
                      <m:rPr>
                        <m:nor/>
                      </m:rPr>
                      <a:rPr lang="en-US" altLang="zh-CN" sz="2400" kern="0" dirty="0">
                        <a:solidFill>
                          <a:prstClr val="black">
                            <a:lumMod val="85000"/>
                            <a:lumOff val="15000"/>
                          </a:prstClr>
                        </a:solidFill>
                        <a:latin typeface="楷体" panose="02010609060101010101" pitchFamily="49" charset="-122"/>
                        <a:ea typeface="楷体" panose="02010609060101010101" pitchFamily="49" charset="-122"/>
                      </a:rPr>
                      <m:t>×10</m:t>
                    </m:r>
                    <m:r>
                      <m:rPr>
                        <m:nor/>
                      </m:rPr>
                      <a:rPr lang="en-US" altLang="zh-CN" sz="2400" kern="0" baseline="30000" dirty="0">
                        <a:solidFill>
                          <a:prstClr val="black">
                            <a:lumMod val="85000"/>
                            <a:lumOff val="15000"/>
                          </a:prstClr>
                        </a:solidFill>
                        <a:latin typeface="楷体" panose="02010609060101010101" pitchFamily="49" charset="-122"/>
                        <a:ea typeface="楷体" panose="02010609060101010101" pitchFamily="49" charset="-122"/>
                      </a:rPr>
                      <m:t>2</m:t>
                    </m:r>
                    <m:r>
                      <a:rPr lang="en-US" altLang="zh-CN" sz="2400" b="0" i="1" kern="0" baseline="30000" dirty="0" smtClean="0">
                        <a:solidFill>
                          <a:prstClr val="black">
                            <a:lumMod val="85000"/>
                            <a:lumOff val="15000"/>
                          </a:prstClr>
                        </a:solidFill>
                        <a:latin typeface="Cambria Math" panose="02040503050406030204" pitchFamily="18" charset="0"/>
                        <a:ea typeface="楷体" panose="02010609060101010101" pitchFamily="49" charset="-122"/>
                      </a:rPr>
                      <m:t>1</m:t>
                    </m:r>
                    <m:r>
                      <a:rPr lang="en-US" altLang="zh-CN" sz="2400" i="1">
                        <a:latin typeface="Cambria Math" panose="02040503050406030204" pitchFamily="18" charset="0"/>
                      </a:rPr>
                      <m:t>+</m:t>
                    </m:r>
                    <m:r>
                      <m:rPr>
                        <m:nor/>
                      </m:rPr>
                      <a:rPr lang="en-US" altLang="zh-CN" sz="2400" b="0" i="0" smtClean="0">
                        <a:latin typeface="Cambria Math" panose="02040503050406030204" pitchFamily="18" charset="0"/>
                      </a:rPr>
                      <m:t>8</m:t>
                    </m:r>
                    <m:r>
                      <m:rPr>
                        <m:nor/>
                      </m:rPr>
                      <a:rPr lang="en-US" altLang="zh-CN" sz="2400" kern="0" dirty="0">
                        <a:solidFill>
                          <a:prstClr val="black">
                            <a:lumMod val="85000"/>
                            <a:lumOff val="15000"/>
                          </a:prstClr>
                        </a:solidFill>
                        <a:latin typeface="楷体" panose="02010609060101010101" pitchFamily="49" charset="-122"/>
                        <a:ea typeface="楷体" panose="02010609060101010101" pitchFamily="49" charset="-122"/>
                      </a:rPr>
                      <m:t>×</m:t>
                    </m:r>
                    <m:r>
                      <m:rPr>
                        <m:nor/>
                      </m:rPr>
                      <a:rPr lang="en-US" altLang="zh-CN" sz="2400" b="0" i="0" kern="0" dirty="0" smtClean="0">
                        <a:solidFill>
                          <a:prstClr val="black">
                            <a:lumMod val="85000"/>
                            <a:lumOff val="15000"/>
                          </a:prstClr>
                        </a:solidFill>
                        <a:latin typeface="楷体" panose="02010609060101010101" pitchFamily="49" charset="-122"/>
                        <a:ea typeface="楷体" panose="02010609060101010101" pitchFamily="49" charset="-122"/>
                      </a:rPr>
                      <m:t>5.3598</m:t>
                    </m:r>
                    <m:r>
                      <m:rPr>
                        <m:nor/>
                      </m:rPr>
                      <a:rPr lang="en-US" altLang="zh-CN" sz="2400" kern="0" dirty="0">
                        <a:solidFill>
                          <a:prstClr val="black">
                            <a:lumMod val="85000"/>
                            <a:lumOff val="15000"/>
                          </a:prstClr>
                        </a:solidFill>
                        <a:latin typeface="楷体" panose="02010609060101010101" pitchFamily="49" charset="-122"/>
                        <a:ea typeface="楷体" panose="02010609060101010101" pitchFamily="49" charset="-122"/>
                      </a:rPr>
                      <m:t>×10</m:t>
                    </m:r>
                    <m:r>
                      <m:rPr>
                        <m:nor/>
                      </m:rPr>
                      <a:rPr lang="en-US" altLang="zh-CN" sz="2400" kern="0" baseline="30000" dirty="0">
                        <a:solidFill>
                          <a:prstClr val="black">
                            <a:lumMod val="85000"/>
                            <a:lumOff val="15000"/>
                          </a:prstClr>
                        </a:solidFill>
                        <a:latin typeface="楷体" panose="02010609060101010101" pitchFamily="49" charset="-122"/>
                        <a:ea typeface="楷体" panose="02010609060101010101" pitchFamily="49" charset="-122"/>
                      </a:rPr>
                      <m:t>2</m:t>
                    </m:r>
                    <m:r>
                      <a:rPr lang="en-US" altLang="zh-CN" sz="2400" b="0" i="1" kern="0" baseline="30000" dirty="0" smtClean="0">
                        <a:solidFill>
                          <a:prstClr val="black">
                            <a:lumMod val="85000"/>
                            <a:lumOff val="15000"/>
                          </a:prstClr>
                        </a:solidFill>
                        <a:latin typeface="Cambria Math" panose="02040503050406030204" pitchFamily="18" charset="0"/>
                        <a:ea typeface="楷体" panose="02010609060101010101" pitchFamily="49" charset="-122"/>
                      </a:rPr>
                      <m:t>0</m:t>
                    </m:r>
                    <m:r>
                      <a:rPr lang="en-US" altLang="zh-CN" sz="2400" i="1">
                        <a:latin typeface="Cambria Math" panose="02040503050406030204" pitchFamily="18" charset="0"/>
                      </a:rPr>
                      <m:t>+</m:t>
                    </m:r>
                    <m:r>
                      <m:rPr>
                        <m:nor/>
                      </m:rPr>
                      <a:rPr lang="en-US" altLang="zh-CN" sz="2400" b="0" i="0" smtClean="0">
                        <a:latin typeface="Cambria Math" panose="02040503050406030204" pitchFamily="18" charset="0"/>
                      </a:rPr>
                      <m:t>1</m:t>
                    </m:r>
                    <m:r>
                      <m:rPr>
                        <m:nor/>
                      </m:rPr>
                      <a:rPr lang="en-US" altLang="zh-CN" sz="2400" kern="0" dirty="0">
                        <a:solidFill>
                          <a:prstClr val="black">
                            <a:lumMod val="85000"/>
                            <a:lumOff val="15000"/>
                          </a:prstClr>
                        </a:solidFill>
                        <a:latin typeface="楷体" panose="02010609060101010101" pitchFamily="49" charset="-122"/>
                        <a:ea typeface="楷体" panose="02010609060101010101" pitchFamily="49" charset="-122"/>
                      </a:rPr>
                      <m:t>×</m:t>
                    </m:r>
                    <m:r>
                      <m:rPr>
                        <m:nor/>
                      </m:rPr>
                      <a:rPr lang="en-US" altLang="zh-CN" sz="2400" b="0" i="0" kern="0" dirty="0" smtClean="0">
                        <a:solidFill>
                          <a:prstClr val="black">
                            <a:lumMod val="85000"/>
                            <a:lumOff val="15000"/>
                          </a:prstClr>
                        </a:solidFill>
                        <a:latin typeface="楷体" panose="02010609060101010101" pitchFamily="49" charset="-122"/>
                        <a:ea typeface="楷体" panose="02010609060101010101" pitchFamily="49" charset="-122"/>
                      </a:rPr>
                      <m:t>1.3234</m:t>
                    </m:r>
                    <m:r>
                      <m:rPr>
                        <m:nor/>
                      </m:rPr>
                      <a:rPr lang="en-US" altLang="zh-CN" sz="2400" kern="0" dirty="0">
                        <a:solidFill>
                          <a:prstClr val="black">
                            <a:lumMod val="85000"/>
                            <a:lumOff val="15000"/>
                          </a:prstClr>
                        </a:solidFill>
                        <a:latin typeface="楷体" panose="02010609060101010101" pitchFamily="49" charset="-122"/>
                        <a:ea typeface="楷体" panose="02010609060101010101" pitchFamily="49" charset="-122"/>
                      </a:rPr>
                      <m:t>×</m:t>
                    </m:r>
                  </m:oMath>
                </a14:m>
                <a:r>
                  <a:rPr lang="en-US" altLang="zh-CN" sz="2400" kern="0" dirty="0">
                    <a:solidFill>
                      <a:prstClr val="black">
                        <a:lumMod val="85000"/>
                        <a:lumOff val="15000"/>
                      </a:prstClr>
                    </a:solidFill>
                    <a:latin typeface="楷体" panose="02010609060101010101" pitchFamily="49" charset="-122"/>
                    <a:ea typeface="楷体" panose="02010609060101010101" pitchFamily="49" charset="-122"/>
                  </a:rPr>
                  <a:t>10</a:t>
                </a:r>
                <a:r>
                  <a:rPr lang="en-US" altLang="zh-CN" sz="2400" kern="0" baseline="30000" dirty="0">
                    <a:solidFill>
                      <a:prstClr val="black">
                        <a:lumMod val="85000"/>
                        <a:lumOff val="15000"/>
                      </a:prstClr>
                    </a:solidFill>
                    <a:latin typeface="楷体" panose="02010609060101010101" pitchFamily="49" charset="-122"/>
                    <a:ea typeface="楷体" panose="02010609060101010101" pitchFamily="49" charset="-122"/>
                  </a:rPr>
                  <a:t>2</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0</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=13×2.21218×10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24</a:t>
                </a:r>
                <a:r>
                  <a:rPr lang="en-US" altLang="zh-CN" sz="2400" dirty="0" smtClean="0"/>
                  <a:t> =2.87583</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25</a:t>
                </a:r>
                <a:endParaRPr lang="en-US" altLang="zh-CN" sz="2400"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有一副炸弹的概率则为：</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dirty="0" smtClean="0"/>
                  <a:t>2.87583</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25</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sym typeface="Wingdings" panose="05000000000000000000" pitchFamily="2" charset="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2.09847×10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25 </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137.044%</a:t>
                </a: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这里没考虑剩余</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100</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张牌中一</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个牌手再取牌时还</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能形成炸弹的情形，若考虑进来，则太复杂了。</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778607" y="1258035"/>
                <a:ext cx="10850563" cy="5655010"/>
              </a:xfrm>
              <a:prstGeom prst="rect">
                <a:avLst/>
              </a:prstGeom>
              <a:blipFill rotWithShape="0">
                <a:blip r:embed="rId3"/>
                <a:stretch>
                  <a:fillRect l="-899" r="-2247"/>
                </a:stretch>
              </a:blipFill>
            </p:spPr>
            <p:txBody>
              <a:bodyPr/>
              <a:lstStyle/>
              <a:p>
                <a:r>
                  <a:rPr lang="zh-CN" altLang="en-US">
                    <a:noFill/>
                  </a:rPr>
                  <a:t> </a:t>
                </a:r>
              </a:p>
            </p:txBody>
          </p:sp>
        </mc:Fallback>
      </mc:AlternateContent>
      <p:sp>
        <p:nvSpPr>
          <p:cNvPr id="8" name="标题 1"/>
          <p:cNvSpPr>
            <a:spLocks noGrp="1"/>
          </p:cNvSpPr>
          <p:nvPr>
            <p:ph type="title"/>
          </p:nvPr>
        </p:nvSpPr>
        <p:spPr>
          <a:xfrm>
            <a:off x="778608" y="397155"/>
            <a:ext cx="10850563" cy="535531"/>
          </a:xfrm>
        </p:spPr>
        <p:txBody>
          <a:bodyPr vert="horz" lIns="91440" tIns="45720" rIns="91440" bIns="45720" rtlCol="0" anchor="b">
            <a:spAutoFit/>
          </a:bodyPr>
          <a:lstStyle/>
          <a:p>
            <a:pPr>
              <a:lnSpc>
                <a:spcPct val="120000"/>
              </a:lnSpc>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通过</a:t>
            </a:r>
            <a:r>
              <a:rPr lang="zh-CN" altLang="en-US" sz="2400" dirty="0">
                <a:solidFill>
                  <a:srgbClr val="0F2C5D"/>
                </a:solidFill>
                <a:latin typeface="黑体" panose="02010609060101010101" charset="-122"/>
                <a:ea typeface="黑体" panose="02010609060101010101" charset="-122"/>
                <a:cs typeface="黑体" panose="02010609060101010101" charset="-122"/>
              </a:rPr>
              <a:t>概率推测</a:t>
            </a:r>
          </a:p>
        </p:txBody>
      </p:sp>
    </p:spTree>
    <p:custDataLst>
      <p:tags r:id="rId1"/>
    </p:custDataLst>
    <p:extLst>
      <p:ext uri="{BB962C8B-B14F-4D97-AF65-F5344CB8AC3E}">
        <p14:creationId xmlns:p14="http://schemas.microsoft.com/office/powerpoint/2010/main" val="217087681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78607" y="1258035"/>
            <a:ext cx="10850563" cy="5078313"/>
          </a:xfrm>
          <a:prstGeom prst="rect">
            <a:avLst/>
          </a:prstGeom>
          <a:noFill/>
        </p:spPr>
        <p:txBody>
          <a:bodyPr wrap="square" rtlCol="0">
            <a:spAutoFit/>
          </a:bodyPr>
          <a:lstStyle/>
          <a:p>
            <a:pPr>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一、</a:t>
            </a:r>
            <a:r>
              <a:rPr lang="zh-CN" altLang="en-US" sz="2400" kern="0" dirty="0">
                <a:solidFill>
                  <a:prstClr val="black">
                    <a:lumMod val="85000"/>
                    <a:lumOff val="15000"/>
                  </a:prstClr>
                </a:solidFill>
                <a:latin typeface="楷体" panose="02010609060101010101" pitchFamily="49" charset="-122"/>
                <a:ea typeface="楷体" panose="02010609060101010101" pitchFamily="49" charset="-122"/>
              </a:rPr>
              <a:t>几种牌型的概率计算：</a:t>
            </a:r>
            <a:endParaRPr lang="en-US" altLang="zh-CN" sz="2400" b="1" kern="0" dirty="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（二）炸弹的概率</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两副炸弹的概率</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两副炸弹的组合数为：</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有两副炸弹的概率则为：</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dirty="0" smtClean="0"/>
              <a:t>2.23668</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25</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sym typeface="Wingdings" panose="05000000000000000000" pitchFamily="2" charset="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2.09847×10</a:t>
            </a:r>
            <a:r>
              <a:rPr lang="en-US" altLang="zh-CN" sz="2400" kern="0" baseline="30000" dirty="0" smtClean="0">
                <a:solidFill>
                  <a:prstClr val="black">
                    <a:lumMod val="85000"/>
                    <a:lumOff val="15000"/>
                  </a:prstClr>
                </a:solidFill>
                <a:latin typeface="楷体" panose="02010609060101010101" pitchFamily="49" charset="-122"/>
                <a:ea typeface="楷体" panose="02010609060101010101" pitchFamily="49" charset="-122"/>
              </a:rPr>
              <a:t>25 </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106.586%</a:t>
            </a:r>
          </a:p>
          <a:p>
            <a:pPr>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这里没考虑剩余</a:t>
            </a:r>
            <a:r>
              <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rPr>
              <a:t>92</a:t>
            </a: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张牌中一个牌手再取牌时还能形成炸弹的情形，若考虑进来，则太复杂了。</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p:txBody>
      </p:sp>
      <p:sp>
        <p:nvSpPr>
          <p:cNvPr id="8" name="标题 1"/>
          <p:cNvSpPr>
            <a:spLocks noGrp="1"/>
          </p:cNvSpPr>
          <p:nvPr>
            <p:ph type="title"/>
          </p:nvPr>
        </p:nvSpPr>
        <p:spPr>
          <a:xfrm>
            <a:off x="778608" y="397155"/>
            <a:ext cx="10850563" cy="535531"/>
          </a:xfrm>
        </p:spPr>
        <p:txBody>
          <a:bodyPr vert="horz" lIns="91440" tIns="45720" rIns="91440" bIns="45720" rtlCol="0" anchor="b">
            <a:spAutoFit/>
          </a:bodyPr>
          <a:lstStyle/>
          <a:p>
            <a:pPr>
              <a:lnSpc>
                <a:spcPct val="120000"/>
              </a:lnSpc>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通过</a:t>
            </a:r>
            <a:r>
              <a:rPr lang="zh-CN" altLang="en-US" sz="2400" dirty="0">
                <a:solidFill>
                  <a:srgbClr val="0F2C5D"/>
                </a:solidFill>
                <a:latin typeface="黑体" panose="02010609060101010101" charset="-122"/>
                <a:ea typeface="黑体" panose="02010609060101010101" charset="-122"/>
                <a:cs typeface="黑体" panose="02010609060101010101" charset="-122"/>
              </a:rPr>
              <a:t>概率推测</a:t>
            </a: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8888" y="1801888"/>
            <a:ext cx="1867161" cy="1991003"/>
          </a:xfrm>
          <a:prstGeom prst="rect">
            <a:avLst/>
          </a:prstGeom>
        </p:spPr>
      </p:pic>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6820" y="1816178"/>
            <a:ext cx="1819529" cy="1571844"/>
          </a:xfrm>
          <a:prstGeom prst="rect">
            <a:avLst/>
          </a:prstGeom>
        </p:spPr>
      </p:pic>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77120" y="1801888"/>
            <a:ext cx="1829055" cy="1181265"/>
          </a:xfrm>
          <a:prstGeom prst="rect">
            <a:avLst/>
          </a:prstGeom>
        </p:spPr>
      </p:pic>
      <p:pic>
        <p:nvPicPr>
          <p:cNvPr id="4" name="图片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62830" y="3206758"/>
            <a:ext cx="1857634" cy="809738"/>
          </a:xfrm>
          <a:prstGeom prst="rect">
            <a:avLst/>
          </a:prstGeom>
        </p:spPr>
      </p:pic>
      <p:pic>
        <p:nvPicPr>
          <p:cNvPr id="5" name="图片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10461" y="4191400"/>
            <a:ext cx="1810003" cy="447737"/>
          </a:xfrm>
          <a:prstGeom prst="rect">
            <a:avLst/>
          </a:prstGeom>
        </p:spPr>
      </p:pic>
    </p:spTree>
    <p:custDataLst>
      <p:tags r:id="rId1"/>
    </p:custDataLst>
    <p:extLst>
      <p:ext uri="{BB962C8B-B14F-4D97-AF65-F5344CB8AC3E}">
        <p14:creationId xmlns:p14="http://schemas.microsoft.com/office/powerpoint/2010/main" val="82218324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95292" y="496766"/>
            <a:ext cx="4452109" cy="5938466"/>
          </a:xfrm>
          <a:prstGeom prst="rect">
            <a:avLst/>
          </a:prstGeom>
        </p:spPr>
      </p:pic>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8578" y="496766"/>
            <a:ext cx="4484538" cy="5981722"/>
          </a:xfrm>
          <a:prstGeom prst="rect">
            <a:avLst/>
          </a:prstGeom>
        </p:spPr>
      </p:pic>
    </p:spTree>
    <p:extLst>
      <p:ext uri="{BB962C8B-B14F-4D97-AF65-F5344CB8AC3E}">
        <p14:creationId xmlns:p14="http://schemas.microsoft.com/office/powerpoint/2010/main" val="34386100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3.2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掼蛋中的信息学</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9923" y="1468217"/>
            <a:ext cx="9852828" cy="1200329"/>
          </a:xfrm>
          <a:prstGeom prst="rect">
            <a:avLst/>
          </a:prstGeom>
        </p:spPr>
        <p:txBody>
          <a:bodyPr wrap="square">
            <a:spAutoFit/>
          </a:bodyPr>
          <a:lstStyle/>
          <a:p>
            <a:r>
              <a:rPr lang="zh-CN" altLang="en-US" dirty="0" smtClean="0"/>
              <a:t>局</a:t>
            </a:r>
            <a:r>
              <a:rPr lang="zh-CN" altLang="en-US" dirty="0"/>
              <a:t>牌中平均起手火为</a:t>
            </a:r>
            <a:r>
              <a:rPr lang="en-US" altLang="zh-CN" dirty="0"/>
              <a:t>8.5</a:t>
            </a:r>
            <a:r>
              <a:rPr lang="zh-CN" altLang="en-US" dirty="0"/>
              <a:t>个，实际使用</a:t>
            </a:r>
            <a:r>
              <a:rPr lang="en-US" altLang="zh-CN" dirty="0"/>
              <a:t>7.5</a:t>
            </a:r>
            <a:r>
              <a:rPr lang="zh-CN" altLang="en-US" dirty="0"/>
              <a:t>个，使用率高达</a:t>
            </a:r>
            <a:r>
              <a:rPr lang="en-US" altLang="zh-CN" dirty="0"/>
              <a:t>88.2%</a:t>
            </a:r>
            <a:r>
              <a:rPr lang="zh-CN" altLang="en-US" dirty="0"/>
              <a:t>，。头火是常用火力，占比达到</a:t>
            </a:r>
            <a:r>
              <a:rPr lang="en-US" altLang="zh-CN" dirty="0"/>
              <a:t>80.1%</a:t>
            </a:r>
            <a:r>
              <a:rPr lang="zh-CN" altLang="en-US" dirty="0"/>
              <a:t>，其中</a:t>
            </a:r>
            <a:r>
              <a:rPr lang="en-US" altLang="zh-CN" dirty="0"/>
              <a:t>4</a:t>
            </a:r>
            <a:r>
              <a:rPr lang="zh-CN" altLang="en-US" dirty="0"/>
              <a:t>头火最为常见，在头火中占比为</a:t>
            </a:r>
            <a:r>
              <a:rPr lang="en-US" altLang="zh-CN" dirty="0"/>
              <a:t>82.4%</a:t>
            </a:r>
            <a:r>
              <a:rPr lang="zh-CN" altLang="en-US" dirty="0"/>
              <a:t>，</a:t>
            </a:r>
            <a:r>
              <a:rPr lang="en-US" altLang="zh-CN" dirty="0"/>
              <a:t>5</a:t>
            </a:r>
            <a:r>
              <a:rPr lang="zh-CN" altLang="en-US" dirty="0"/>
              <a:t>头火占比</a:t>
            </a:r>
            <a:r>
              <a:rPr lang="en-US" altLang="zh-CN" dirty="0"/>
              <a:t>14.4%</a:t>
            </a:r>
            <a:r>
              <a:rPr lang="zh-CN" altLang="en-US" dirty="0"/>
              <a:t>，</a:t>
            </a:r>
            <a:r>
              <a:rPr lang="en-US" altLang="zh-CN" dirty="0"/>
              <a:t>6</a:t>
            </a:r>
            <a:r>
              <a:rPr lang="zh-CN" altLang="en-US" dirty="0"/>
              <a:t>头火占比</a:t>
            </a:r>
            <a:r>
              <a:rPr lang="en-US" altLang="zh-CN" dirty="0"/>
              <a:t>2.7%</a:t>
            </a:r>
            <a:r>
              <a:rPr lang="zh-CN" altLang="en-US" dirty="0"/>
              <a:t>，</a:t>
            </a:r>
            <a:r>
              <a:rPr lang="en-US" altLang="zh-CN" dirty="0"/>
              <a:t>7</a:t>
            </a:r>
            <a:r>
              <a:rPr lang="zh-CN" altLang="en-US" dirty="0"/>
              <a:t>头及以上占</a:t>
            </a:r>
            <a:r>
              <a:rPr lang="en-US" altLang="zh-CN" dirty="0"/>
              <a:t>0.5%</a:t>
            </a:r>
            <a:r>
              <a:rPr lang="zh-CN" altLang="en-US" dirty="0"/>
              <a:t>。同花火由于火力强大，深得掼蛋玩家喜爱，实际使用的比率较高，为</a:t>
            </a:r>
            <a:r>
              <a:rPr lang="en-US" altLang="zh-CN" dirty="0"/>
              <a:t>19.2%</a:t>
            </a:r>
            <a:r>
              <a:rPr lang="zh-CN" altLang="en-US" dirty="0"/>
              <a:t>。下余</a:t>
            </a:r>
            <a:r>
              <a:rPr lang="en-US" altLang="zh-CN" dirty="0"/>
              <a:t>0.7%</a:t>
            </a:r>
            <a:r>
              <a:rPr lang="zh-CN" altLang="en-US" dirty="0"/>
              <a:t>的火力，当然是王者无敌的王火</a:t>
            </a:r>
            <a:r>
              <a:rPr lang="zh-CN" altLang="en-US" dirty="0" smtClean="0"/>
              <a:t>了</a:t>
            </a:r>
            <a:r>
              <a:rPr lang="en-US" altLang="zh-CN" dirty="0" smtClean="0"/>
              <a:t>——</a:t>
            </a:r>
            <a:r>
              <a:rPr lang="zh-CN" altLang="en-US" dirty="0" smtClean="0"/>
              <a:t>摘自网络数据</a:t>
            </a:r>
            <a:endParaRPr lang="zh-CN" altLang="en-US" dirty="0"/>
          </a:p>
        </p:txBody>
      </p:sp>
    </p:spTree>
    <p:custDataLst>
      <p:tags r:id="rId1"/>
    </p:custDataLst>
    <p:extLst>
      <p:ext uri="{BB962C8B-B14F-4D97-AF65-F5344CB8AC3E}">
        <p14:creationId xmlns:p14="http://schemas.microsoft.com/office/powerpoint/2010/main" val="154902635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3.0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掼蛋中的信息学</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644843" y="1209851"/>
            <a:ext cx="10875645" cy="4408899"/>
          </a:xfrm>
          <a:prstGeom prst="rect">
            <a:avLst/>
          </a:prstGeom>
          <a:noFill/>
        </p:spPr>
        <p:txBody>
          <a:bodyPr wrap="square" rtlCol="0">
            <a:spAutoFit/>
          </a:bodyPr>
          <a:lstStyle/>
          <a:p>
            <a:pPr fontAlgn="auto">
              <a:lnSpc>
                <a:spcPct val="150000"/>
              </a:lnSpc>
            </a:pP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大多数的扑克牌打法能传递的信息都不多，传递信息最充分的是桥牌。其次是德州扑克和梭哈。第三是斗地主。第四是二十一点、</a:t>
            </a:r>
            <a:r>
              <a:rPr lang="zh-CN" altLang="en-US" sz="1100" b="1" kern="0" dirty="0">
                <a:solidFill>
                  <a:prstClr val="black">
                    <a:lumMod val="85000"/>
                    <a:lumOff val="15000"/>
                  </a:prstClr>
                </a:solidFill>
                <a:latin typeface="楷体" panose="02010609060101010101" pitchFamily="49" charset="-122"/>
                <a:ea typeface="楷体" panose="02010609060101010101" pitchFamily="49" charset="-122"/>
              </a:rPr>
              <a:t>扎金花</a:t>
            </a: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等。第五是有贡牌、还牌的游戏。另外还有很多信息是通过打牌过程中获取的，所以就需要在打牌过程中，多看、多记、多思考、多推断。也可以偷瞟别人的牌（注意，不能主动看，但别人给你看，也别客气哈）。</a:t>
            </a:r>
            <a:endPar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一、贡牌与还牌</a:t>
            </a:r>
            <a:endPar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贡牌基本大家都知道能获取的直接信息</a:t>
            </a:r>
            <a:r>
              <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rPr>
              <a:t>——</a:t>
            </a: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贡牌者在贡牌之上，没大牌了。进而能作出一定的推断：双贡者，最大的贡了小王，则大王全在自己这里；如果你是贡牌方，双贡一大一小，一大一主，则说明大王全在对手方。等等。还牌传递的信息就相对少一些，一是因为还的是很小的牌，一般不用重视，二是还牌的每一个点数都有</a:t>
            </a:r>
            <a:r>
              <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rPr>
              <a:t>8</a:t>
            </a: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张，比较难进行进一步推测，三是很多时候在早期就出掉了，信息也就明了了。但通过还牌还是能看到一些信息的。</a:t>
            </a:r>
            <a:endPar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二、红配的使用</a:t>
            </a:r>
            <a:endPar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红配是相对比较重要的牌，如果你有的话，越晚用，就越晚传递出信息给别人。但如果</a:t>
            </a:r>
            <a:r>
              <a:rPr lang="zh-CN" altLang="en-US" sz="1100" b="1" kern="0" smtClean="0">
                <a:solidFill>
                  <a:prstClr val="black">
                    <a:lumMod val="85000"/>
                    <a:lumOff val="15000"/>
                  </a:prstClr>
                </a:solidFill>
                <a:latin typeface="楷体" panose="02010609060101010101" pitchFamily="49" charset="-122"/>
                <a:ea typeface="楷体" panose="02010609060101010101" pitchFamily="49" charset="-122"/>
              </a:rPr>
              <a:t>你想对家知道</a:t>
            </a: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这个信息，就应该早用。</a:t>
            </a:r>
            <a:endPar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三、以己度人</a:t>
            </a:r>
            <a:endPar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用你自己对牌的思考去猜测对方的牌（比如一般情况下，你剩下六张牌时，大多都是什么结构组成的？）</a:t>
            </a:r>
            <a:endPar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四、打牌中传递的信息</a:t>
            </a:r>
            <a:endPar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能过打牌可以知道对手是什么牌路，搭档是什么牌路。还要观察对手的单张或对子出的情况。等对方的单和出尽了，你就是小单张都是强牌了（参考</a:t>
            </a:r>
            <a:r>
              <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rPr>
              <a:t>333444</a:t>
            </a: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a:t>
            </a:r>
            <a:endPar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五、问牌了解信息</a:t>
            </a:r>
            <a:endPar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因为最多的时候，一把可以出六张牌，所以要注意多问对手剩余张数。进到</a:t>
            </a:r>
            <a:r>
              <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rPr>
              <a:t>10</a:t>
            </a: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张以内时，要慎重思考。</a:t>
            </a:r>
            <a:endPar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六、口诀的运用与思考（还包含了打牌原理与逻辑方面）</a:t>
            </a:r>
            <a:endParaRPr lang="en-US" altLang="zh-CN" sz="11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1100" b="1" kern="0" dirty="0" smtClean="0">
                <a:solidFill>
                  <a:prstClr val="black">
                    <a:lumMod val="85000"/>
                    <a:lumOff val="15000"/>
                  </a:prstClr>
                </a:solidFill>
                <a:latin typeface="楷体" panose="02010609060101010101" pitchFamily="49" charset="-122"/>
                <a:ea typeface="楷体" panose="02010609060101010101" pitchFamily="49" charset="-122"/>
              </a:rPr>
              <a:t>六必治、枪不打四等等。</a:t>
            </a:r>
            <a:endParaRPr lang="zh-CN" altLang="en-US" sz="1100" kern="0" dirty="0">
              <a:solidFill>
                <a:prstClr val="black">
                  <a:lumMod val="85000"/>
                  <a:lumOff val="15000"/>
                </a:prstClr>
              </a:solidFill>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405955874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3.0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掼蛋中的信息学</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778608" y="1573713"/>
            <a:ext cx="9438054" cy="923330"/>
          </a:xfrm>
          <a:prstGeom prst="rect">
            <a:avLst/>
          </a:prstGeom>
        </p:spPr>
        <p:txBody>
          <a:bodyPr wrap="square">
            <a:spAutoFit/>
          </a:bodyPr>
          <a:lstStyle/>
          <a:p>
            <a:pPr algn="just">
              <a:spcAft>
                <a:spcPts val="0"/>
              </a:spcAft>
            </a:pPr>
            <a:r>
              <a:rPr lang="zh-CN" altLang="en-US" kern="100" dirty="0" smtClean="0">
                <a:latin typeface="等线" panose="02010600030101010101" pitchFamily="2" charset="-122"/>
                <a:ea typeface="等线" panose="02010600030101010101" pitchFamily="2" charset="-122"/>
                <a:cs typeface="宋体" panose="02010600030101010101" pitchFamily="2" charset="-122"/>
              </a:rPr>
              <a:t>其他</a:t>
            </a:r>
            <a:r>
              <a:rPr lang="zh-CN" altLang="zh-CN" kern="100" dirty="0" smtClean="0">
                <a:latin typeface="等线" panose="02010600030101010101" pitchFamily="2" charset="-122"/>
                <a:ea typeface="等线" panose="02010600030101010101" pitchFamily="2" charset="-122"/>
                <a:cs typeface="宋体" panose="02010600030101010101" pitchFamily="2" charset="-122"/>
              </a:rPr>
              <a:t>获得信息</a:t>
            </a:r>
            <a:r>
              <a:rPr lang="zh-CN" altLang="en-US" kern="100" dirty="0" smtClean="0">
                <a:latin typeface="等线" panose="02010600030101010101" pitchFamily="2" charset="-122"/>
                <a:ea typeface="等线" panose="02010600030101010101" pitchFamily="2" charset="-122"/>
                <a:cs typeface="宋体" panose="02010600030101010101" pitchFamily="2" charset="-122"/>
              </a:rPr>
              <a:t>途径</a:t>
            </a:r>
            <a:r>
              <a:rPr lang="zh-CN" altLang="zh-CN" kern="100" dirty="0" smtClean="0">
                <a:latin typeface="等线" panose="02010600030101010101" pitchFamily="2" charset="-122"/>
                <a:ea typeface="等线" panose="02010600030101010101" pitchFamily="2" charset="-122"/>
                <a:cs typeface="宋体" panose="02010600030101010101" pitchFamily="2" charset="-122"/>
              </a:rPr>
              <a:t>：</a:t>
            </a:r>
            <a:r>
              <a:rPr lang="zh-CN" altLang="zh-CN" kern="100" dirty="0">
                <a:latin typeface="等线" panose="02010600030101010101" pitchFamily="2" charset="-122"/>
                <a:ea typeface="等线" panose="02010600030101010101" pitchFamily="2" charset="-122"/>
                <a:cs typeface="宋体" panose="02010600030101010101" pitchFamily="2" charset="-122"/>
              </a:rPr>
              <a:t>根据表情、动作和行为；根据出牌（比如第一轮就被炸掉，说明出炸的人至少三弹）；局中接牌的情形；问报和自报；记全牌；根据概率。</a:t>
            </a:r>
          </a:p>
          <a:p>
            <a:r>
              <a:rPr lang="zh-CN" altLang="zh-CN" dirty="0">
                <a:ea typeface="等线" panose="02010600030101010101" pitchFamily="2" charset="-122"/>
                <a:cs typeface="宋体" panose="02010600030101010101" pitchFamily="2" charset="-122"/>
              </a:rPr>
              <a:t>反信息策略（红配尽量晚出，留一王而炸单，有时候也是一个炒手）</a:t>
            </a:r>
            <a:endParaRPr lang="zh-CN" altLang="en-US" dirty="0"/>
          </a:p>
        </p:txBody>
      </p:sp>
    </p:spTree>
    <p:custDataLst>
      <p:tags r:id="rId1"/>
    </p:custDataLst>
    <p:extLst>
      <p:ext uri="{BB962C8B-B14F-4D97-AF65-F5344CB8AC3E}">
        <p14:creationId xmlns:p14="http://schemas.microsoft.com/office/powerpoint/2010/main" val="86420966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227382" y="2363492"/>
            <a:ext cx="6017449" cy="1697599"/>
          </a:xfrm>
        </p:spPr>
        <p:txBody>
          <a:bodyPr>
            <a:noAutofit/>
          </a:bodyPr>
          <a:lstStyle/>
          <a:p>
            <a:pPr lvl="0" algn="ctr" eaLnBrk="0" fontAlgn="base" hangingPunct="0">
              <a:lnSpc>
                <a:spcPct val="150000"/>
              </a:lnSpc>
              <a:spcAft>
                <a:spcPct val="0"/>
              </a:spcAft>
              <a:defRPr/>
            </a:pPr>
            <a:r>
              <a:rPr lang="zh-CN" altLang="en-US" sz="4000" dirty="0" smtClean="0">
                <a:latin typeface="+mn-lt"/>
                <a:ea typeface="+mn-ea"/>
                <a:cs typeface="+mn-ea"/>
                <a:sym typeface="+mn-lt"/>
              </a:rPr>
              <a:t>掼蛋的初、中、高级打法</a:t>
            </a:r>
            <a:endParaRPr lang="zh-CN" altLang="de-DE" sz="4000" dirty="0">
              <a:latin typeface="+mn-lt"/>
              <a:ea typeface="+mn-ea"/>
              <a:cs typeface="+mn-ea"/>
              <a:sym typeface="+mn-lt"/>
            </a:endParaRPr>
          </a:p>
        </p:txBody>
      </p:sp>
      <p:sp>
        <p:nvSpPr>
          <p:cNvPr id="9" name="文本框 8"/>
          <p:cNvSpPr txBox="1"/>
          <p:nvPr/>
        </p:nvSpPr>
        <p:spPr>
          <a:xfrm>
            <a:off x="3203867" y="3171182"/>
            <a:ext cx="1023516" cy="889909"/>
          </a:xfrm>
          <a:prstGeom prst="rect">
            <a:avLst/>
          </a:prstGeom>
          <a:noFill/>
          <a:ln w="117475">
            <a:noFill/>
          </a:ln>
        </p:spPr>
        <p:txBody>
          <a:bodyPr wrap="none" rtlCol="0">
            <a:prstTxWarp prst="textPlain">
              <a:avLst/>
            </a:prstTxWarp>
            <a:spAutoFit/>
          </a:bodyPr>
          <a:lstStyle/>
          <a:p>
            <a:pPr>
              <a:lnSpc>
                <a:spcPct val="150000"/>
              </a:lnSpc>
            </a:pPr>
            <a:r>
              <a:rPr lang="en-US" altLang="zh-CN" spc="100" dirty="0">
                <a:solidFill>
                  <a:schemeClr val="accent3"/>
                </a:solidFill>
                <a:cs typeface="+mn-ea"/>
                <a:sym typeface="+mn-lt"/>
              </a:rPr>
              <a:t>/</a:t>
            </a:r>
            <a:r>
              <a:rPr lang="en-US" altLang="zh-CN" sz="100" spc="100" dirty="0">
                <a:solidFill>
                  <a:schemeClr val="accent3"/>
                </a:solidFill>
                <a:cs typeface="+mn-ea"/>
                <a:sym typeface="+mn-lt"/>
              </a:rPr>
              <a:t> </a:t>
            </a:r>
            <a:r>
              <a:rPr lang="en-US" altLang="zh-CN" spc="100" dirty="0" smtClean="0">
                <a:solidFill>
                  <a:schemeClr val="accent3"/>
                </a:solidFill>
                <a:cs typeface="+mn-ea"/>
                <a:sym typeface="+mn-lt"/>
              </a:rPr>
              <a:t>05</a:t>
            </a:r>
            <a:endParaRPr lang="zh-CN" altLang="en-US" spc="100" dirty="0">
              <a:solidFill>
                <a:schemeClr val="accent3"/>
              </a:solidFill>
              <a:cs typeface="+mn-ea"/>
              <a:sym typeface="+mn-lt"/>
            </a:endParaRPr>
          </a:p>
        </p:txBody>
      </p:sp>
    </p:spTree>
    <p:custDataLst>
      <p:tags r:id="rId1"/>
    </p:custDataLst>
    <p:extLst>
      <p:ext uri="{BB962C8B-B14F-4D97-AF65-F5344CB8AC3E}">
        <p14:creationId xmlns:p14="http://schemas.microsoft.com/office/powerpoint/2010/main" val="4476469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456017"/>
            <a:ext cx="10850563" cy="476669"/>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5.1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初级篇</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319547" y="1258035"/>
            <a:ext cx="5347584" cy="3416320"/>
          </a:xfrm>
          <a:prstGeom prst="rect">
            <a:avLst/>
          </a:prstGeom>
          <a:noFill/>
        </p:spPr>
        <p:txBody>
          <a:bodyPr wrap="square" rtlCol="0">
            <a:spAutoFit/>
          </a:bodyPr>
          <a:lstStyle/>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一、有牌尽量跟牌，顺利走完全程</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二、记住口诀</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三、注意问牌</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四、记住关键牌的出现</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五、力争不添麻烦</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六、尽量配合搭档</a:t>
            </a:r>
            <a:endParaRPr lang="zh-CN" altLang="en-US" sz="2400" kern="0" dirty="0">
              <a:solidFill>
                <a:prstClr val="black">
                  <a:lumMod val="85000"/>
                  <a:lumOff val="15000"/>
                </a:prstClr>
              </a:solidFill>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4887058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5.2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中级篇</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140558" y="1269939"/>
            <a:ext cx="9093961" cy="4524315"/>
          </a:xfrm>
          <a:prstGeom prst="rect">
            <a:avLst/>
          </a:prstGeom>
          <a:noFill/>
        </p:spPr>
        <p:txBody>
          <a:bodyPr wrap="square" rtlCol="0">
            <a:spAutoFit/>
          </a:bodyPr>
          <a:lstStyle/>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一、有全面的战术与思考</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二、注意口诀的逻辑并与打牌进程相结合进行思考</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三、全面与同伴配合</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四、注意上家、</a:t>
            </a:r>
            <a:r>
              <a:rPr lang="zh-CN" altLang="en-US" sz="2400" b="1" kern="0" smtClean="0">
                <a:solidFill>
                  <a:prstClr val="black">
                    <a:lumMod val="85000"/>
                    <a:lumOff val="15000"/>
                  </a:prstClr>
                </a:solidFill>
                <a:latin typeface="楷体" panose="02010609060101010101" pitchFamily="49" charset="-122"/>
                <a:ea typeface="楷体" panose="02010609060101010101" pitchFamily="49" charset="-122"/>
              </a:rPr>
              <a:t>下家和对家的</a:t>
            </a: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大致情况</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五、记住重要牌点、牌型的出现，任何一家十张以上时，基本能知道剩余多少张</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六、错位出牌法</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七、有意放纵法</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201797190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456017"/>
            <a:ext cx="10850563" cy="476669"/>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5.3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高级篇</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78608" y="1346812"/>
            <a:ext cx="9963972" cy="3970318"/>
          </a:xfrm>
          <a:prstGeom prst="rect">
            <a:avLst/>
          </a:prstGeom>
          <a:noFill/>
        </p:spPr>
        <p:txBody>
          <a:bodyPr wrap="square" rtlCol="0">
            <a:spAutoFit/>
          </a:bodyPr>
          <a:lstStyle/>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一、有开局、局中和残局意识，并有相应的战略方案</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二、摒弃口诀、全面的逻辑思考</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三、记住全牌并能复盘</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四、看住上家、控制下家（让上家憋屈，让下家难受</a:t>
            </a:r>
            <a:r>
              <a:rPr lang="zh-CN" altLang="en-US" sz="2400" b="1" kern="0" smtClean="0">
                <a:solidFill>
                  <a:prstClr val="black">
                    <a:lumMod val="85000"/>
                    <a:lumOff val="15000"/>
                  </a:prstClr>
                </a:solidFill>
                <a:latin typeface="楷体" panose="02010609060101010101" pitchFamily="49" charset="-122"/>
                <a:ea typeface="楷体" panose="02010609060101010101" pitchFamily="49" charset="-122"/>
              </a:rPr>
              <a:t>，让对家舒服</a:t>
            </a: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五、</a:t>
            </a:r>
            <a:r>
              <a:rPr lang="zh-CN" altLang="en-US" sz="2400" b="1" kern="0" dirty="0">
                <a:solidFill>
                  <a:prstClr val="black">
                    <a:lumMod val="85000"/>
                    <a:lumOff val="15000"/>
                  </a:prstClr>
                </a:solidFill>
                <a:latin typeface="楷体" panose="02010609060101010101" pitchFamily="49" charset="-122"/>
                <a:ea typeface="楷体" panose="02010609060101010101" pitchFamily="49" charset="-122"/>
              </a:rPr>
              <a:t>密切与搭档配合</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六、</a:t>
            </a:r>
            <a:r>
              <a:rPr lang="zh-CN" altLang="en-US" sz="2400" b="1" kern="0" dirty="0">
                <a:solidFill>
                  <a:prstClr val="black">
                    <a:lumMod val="85000"/>
                    <a:lumOff val="15000"/>
                  </a:prstClr>
                </a:solidFill>
                <a:latin typeface="楷体" panose="02010609060101010101" pitchFamily="49" charset="-122"/>
                <a:ea typeface="楷体" panose="02010609060101010101" pitchFamily="49" charset="-122"/>
              </a:rPr>
              <a:t>弱牌争胜</a:t>
            </a: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战略（藏住最大牌，一击致胜）</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七、信号的传递与接收（获益最大原则）</a:t>
            </a:r>
            <a:endParaRPr lang="zh-CN" altLang="en-US" sz="2400" kern="0" dirty="0">
              <a:solidFill>
                <a:prstClr val="black">
                  <a:lumMod val="85000"/>
                  <a:lumOff val="15000"/>
                </a:prstClr>
              </a:solidFill>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341357212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nSpc>
                <a:spcPct val="120000"/>
              </a:lnSpc>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5.4</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开局</a:t>
            </a:r>
            <a:r>
              <a:rPr lang="zh-CN" altLang="en-US" sz="2400" dirty="0">
                <a:solidFill>
                  <a:srgbClr val="0F2C5D"/>
                </a:solidFill>
                <a:latin typeface="黑体" panose="02010609060101010101" charset="-122"/>
                <a:ea typeface="黑体" panose="02010609060101010101" charset="-122"/>
                <a:cs typeface="黑体" panose="02010609060101010101" charset="-122"/>
              </a:rPr>
              <a:t>、局中和</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残局及相应战略</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78608" y="1258035"/>
            <a:ext cx="10326714" cy="4524315"/>
          </a:xfrm>
          <a:prstGeom prst="rect">
            <a:avLst/>
          </a:prstGeom>
          <a:noFill/>
        </p:spPr>
        <p:txBody>
          <a:bodyPr wrap="square" rtlCol="0">
            <a:spAutoFit/>
          </a:bodyPr>
          <a:lstStyle/>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一、开局</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开局之首：理牌；其次：全面估量；第三：目标；第四：首出人出牌思考</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二</a:t>
            </a:r>
            <a:r>
              <a:rPr lang="zh-CN" altLang="en-US" sz="2400" b="1" kern="0" dirty="0">
                <a:solidFill>
                  <a:prstClr val="black">
                    <a:lumMod val="85000"/>
                    <a:lumOff val="15000"/>
                  </a:prstClr>
                </a:solidFill>
                <a:latin typeface="楷体" panose="02010609060101010101" pitchFamily="49" charset="-122"/>
                <a:ea typeface="楷体" panose="02010609060101010101" pitchFamily="49" charset="-122"/>
              </a:rPr>
              <a:t>、局</a:t>
            </a: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中</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一般某一</a:t>
            </a:r>
            <a:r>
              <a:rPr lang="zh-CN" altLang="en-US" sz="2400" b="1" kern="0" dirty="0">
                <a:solidFill>
                  <a:prstClr val="black">
                    <a:lumMod val="85000"/>
                    <a:lumOff val="15000"/>
                  </a:prstClr>
                </a:solidFill>
                <a:latin typeface="楷体" panose="02010609060101010101" pitchFamily="49" charset="-122"/>
                <a:ea typeface="楷体" panose="02010609060101010101" pitchFamily="49" charset="-122"/>
              </a:rPr>
              <a:t>牌手出过两</a:t>
            </a: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轮牌并超过六张之后，即进入局中阶段。未超过六张，但出三轮以上之后，基本也进入局中阶段。（全面考虑，就是说某牌手的小牌、散牌出的差不多了，就进入局中阶段了）</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三</a:t>
            </a:r>
            <a:r>
              <a:rPr lang="zh-CN" altLang="en-US" sz="2400" b="1" kern="0" dirty="0">
                <a:solidFill>
                  <a:prstClr val="black">
                    <a:lumMod val="85000"/>
                    <a:lumOff val="15000"/>
                  </a:prstClr>
                </a:solidFill>
                <a:latin typeface="楷体" panose="02010609060101010101" pitchFamily="49" charset="-122"/>
                <a:ea typeface="楷体" panose="02010609060101010101" pitchFamily="49" charset="-122"/>
              </a:rPr>
              <a:t>、</a:t>
            </a: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残局</a:t>
            </a:r>
            <a:endParaRPr lang="en-US" altLang="zh-CN" sz="2400" b="1"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b="1" kern="0" dirty="0" smtClean="0">
                <a:solidFill>
                  <a:prstClr val="black">
                    <a:lumMod val="85000"/>
                    <a:lumOff val="15000"/>
                  </a:prstClr>
                </a:solidFill>
                <a:latin typeface="楷体" panose="02010609060101010101" pitchFamily="49" charset="-122"/>
                <a:ea typeface="楷体" panose="02010609060101010101" pitchFamily="49" charset="-122"/>
              </a:rPr>
              <a:t>进入十张以内后，就算进入残局阶段</a:t>
            </a:r>
            <a:endParaRPr lang="zh-CN" altLang="en-US" sz="2400" b="1" kern="0" dirty="0">
              <a:solidFill>
                <a:prstClr val="black">
                  <a:lumMod val="85000"/>
                  <a:lumOff val="15000"/>
                </a:prstClr>
              </a:solidFill>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338544644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227382" y="2363492"/>
            <a:ext cx="2910265" cy="1697599"/>
          </a:xfrm>
        </p:spPr>
        <p:txBody>
          <a:bodyPr>
            <a:noAutofit/>
          </a:bodyPr>
          <a:lstStyle/>
          <a:p>
            <a:pPr lvl="0" algn="ctr" eaLnBrk="0" fontAlgn="base" hangingPunct="0">
              <a:lnSpc>
                <a:spcPct val="150000"/>
              </a:lnSpc>
              <a:spcAft>
                <a:spcPct val="0"/>
              </a:spcAft>
              <a:defRPr/>
            </a:pPr>
            <a:r>
              <a:rPr lang="zh-CN" altLang="en-US" sz="4000" dirty="0" smtClean="0">
                <a:latin typeface="+mn-lt"/>
                <a:ea typeface="+mn-ea"/>
                <a:cs typeface="+mn-ea"/>
                <a:sym typeface="+mn-lt"/>
              </a:rPr>
              <a:t>牌技与牌德</a:t>
            </a:r>
            <a:endParaRPr lang="zh-CN" altLang="de-DE" sz="4000" dirty="0">
              <a:latin typeface="+mn-lt"/>
              <a:ea typeface="+mn-ea"/>
              <a:cs typeface="+mn-ea"/>
              <a:sym typeface="+mn-lt"/>
            </a:endParaRPr>
          </a:p>
        </p:txBody>
      </p:sp>
      <p:sp>
        <p:nvSpPr>
          <p:cNvPr id="9" name="文本框 8"/>
          <p:cNvSpPr txBox="1"/>
          <p:nvPr/>
        </p:nvSpPr>
        <p:spPr>
          <a:xfrm>
            <a:off x="3203867" y="3171182"/>
            <a:ext cx="1023516" cy="889909"/>
          </a:xfrm>
          <a:prstGeom prst="rect">
            <a:avLst/>
          </a:prstGeom>
          <a:noFill/>
          <a:ln w="117475">
            <a:noFill/>
          </a:ln>
        </p:spPr>
        <p:txBody>
          <a:bodyPr wrap="none" rtlCol="0">
            <a:prstTxWarp prst="textPlain">
              <a:avLst/>
            </a:prstTxWarp>
            <a:spAutoFit/>
          </a:bodyPr>
          <a:lstStyle/>
          <a:p>
            <a:pPr>
              <a:lnSpc>
                <a:spcPct val="150000"/>
              </a:lnSpc>
            </a:pPr>
            <a:r>
              <a:rPr lang="en-US" altLang="zh-CN" spc="100" dirty="0">
                <a:solidFill>
                  <a:schemeClr val="accent3"/>
                </a:solidFill>
                <a:cs typeface="+mn-ea"/>
                <a:sym typeface="+mn-lt"/>
              </a:rPr>
              <a:t>/</a:t>
            </a:r>
            <a:r>
              <a:rPr lang="en-US" altLang="zh-CN" sz="100" spc="100" dirty="0">
                <a:solidFill>
                  <a:schemeClr val="accent3"/>
                </a:solidFill>
                <a:cs typeface="+mn-ea"/>
                <a:sym typeface="+mn-lt"/>
              </a:rPr>
              <a:t> </a:t>
            </a:r>
            <a:r>
              <a:rPr lang="en-US" altLang="zh-CN" spc="100" dirty="0" smtClean="0">
                <a:solidFill>
                  <a:schemeClr val="accent3"/>
                </a:solidFill>
                <a:cs typeface="+mn-ea"/>
                <a:sym typeface="+mn-lt"/>
              </a:rPr>
              <a:t>06</a:t>
            </a:r>
            <a:endParaRPr lang="zh-CN" altLang="en-US" spc="100" dirty="0">
              <a:solidFill>
                <a:schemeClr val="accent3"/>
              </a:solidFill>
              <a:cs typeface="+mn-ea"/>
              <a:sym typeface="+mn-lt"/>
            </a:endParaRPr>
          </a:p>
        </p:txBody>
      </p:sp>
    </p:spTree>
    <p:custDataLst>
      <p:tags r:id="rId1"/>
    </p:custDataLst>
    <p:extLst>
      <p:ext uri="{BB962C8B-B14F-4D97-AF65-F5344CB8AC3E}">
        <p14:creationId xmlns:p14="http://schemas.microsoft.com/office/powerpoint/2010/main" val="42847194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456017"/>
            <a:ext cx="10850563" cy="476669"/>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6.1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牌技与牌德</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289444" y="2935915"/>
            <a:ext cx="9200243" cy="738664"/>
          </a:xfrm>
          <a:prstGeom prst="rect">
            <a:avLst/>
          </a:prstGeom>
          <a:noFill/>
        </p:spPr>
        <p:txBody>
          <a:bodyPr wrap="square" rtlCol="0">
            <a:spAutoFit/>
          </a:bodyPr>
          <a:lstStyle/>
          <a:p>
            <a:pPr fontAlgn="auto">
              <a:lnSpc>
                <a:spcPct val="150000"/>
              </a:lnSpc>
            </a:pPr>
            <a:r>
              <a:rPr lang="zh-CN" altLang="en-US" sz="2800" kern="0" dirty="0" smtClean="0">
                <a:solidFill>
                  <a:prstClr val="black">
                    <a:lumMod val="85000"/>
                    <a:lumOff val="15000"/>
                  </a:prstClr>
                </a:solidFill>
                <a:latin typeface="楷体" panose="02010609060101010101" pitchFamily="49" charset="-122"/>
                <a:ea typeface="楷体" panose="02010609060101010101" pitchFamily="49" charset="-122"/>
              </a:rPr>
              <a:t>牌技是学习、投入与思考的结果；牌德是品行素质的体现</a:t>
            </a:r>
            <a:endParaRPr lang="zh-CN" altLang="en-US" sz="2800" kern="0" dirty="0">
              <a:solidFill>
                <a:prstClr val="black">
                  <a:lumMod val="85000"/>
                  <a:lumOff val="15000"/>
                </a:prstClr>
              </a:solidFill>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110849842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227382" y="2363492"/>
            <a:ext cx="2910265" cy="1697599"/>
          </a:xfrm>
        </p:spPr>
        <p:txBody>
          <a:bodyPr>
            <a:noAutofit/>
          </a:bodyPr>
          <a:lstStyle/>
          <a:p>
            <a:pPr lvl="0" algn="ctr" eaLnBrk="0" fontAlgn="base" hangingPunct="0">
              <a:lnSpc>
                <a:spcPct val="150000"/>
              </a:lnSpc>
              <a:spcAft>
                <a:spcPct val="0"/>
              </a:spcAft>
              <a:defRPr/>
            </a:pPr>
            <a:r>
              <a:rPr lang="zh-CN" altLang="en-US" sz="4000" dirty="0" smtClean="0">
                <a:latin typeface="+mn-lt"/>
                <a:ea typeface="+mn-ea"/>
                <a:cs typeface="+mn-ea"/>
                <a:sym typeface="+mn-lt"/>
              </a:rPr>
              <a:t>整理与总结</a:t>
            </a:r>
            <a:endParaRPr lang="zh-CN" altLang="de-DE" sz="4000" dirty="0">
              <a:latin typeface="+mn-lt"/>
              <a:ea typeface="+mn-ea"/>
              <a:cs typeface="+mn-ea"/>
              <a:sym typeface="+mn-lt"/>
            </a:endParaRPr>
          </a:p>
        </p:txBody>
      </p:sp>
      <p:sp>
        <p:nvSpPr>
          <p:cNvPr id="9" name="文本框 8"/>
          <p:cNvSpPr txBox="1"/>
          <p:nvPr/>
        </p:nvSpPr>
        <p:spPr>
          <a:xfrm>
            <a:off x="3203867" y="3171182"/>
            <a:ext cx="1023516" cy="889909"/>
          </a:xfrm>
          <a:prstGeom prst="rect">
            <a:avLst/>
          </a:prstGeom>
          <a:noFill/>
          <a:ln w="117475">
            <a:noFill/>
          </a:ln>
        </p:spPr>
        <p:txBody>
          <a:bodyPr wrap="none" rtlCol="0">
            <a:prstTxWarp prst="textPlain">
              <a:avLst/>
            </a:prstTxWarp>
            <a:spAutoFit/>
          </a:bodyPr>
          <a:lstStyle/>
          <a:p>
            <a:pPr>
              <a:lnSpc>
                <a:spcPct val="150000"/>
              </a:lnSpc>
            </a:pPr>
            <a:r>
              <a:rPr lang="en-US" altLang="zh-CN" spc="100" dirty="0">
                <a:solidFill>
                  <a:schemeClr val="accent3"/>
                </a:solidFill>
                <a:cs typeface="+mn-ea"/>
                <a:sym typeface="+mn-lt"/>
              </a:rPr>
              <a:t>/</a:t>
            </a:r>
            <a:r>
              <a:rPr lang="en-US" altLang="zh-CN" sz="100" spc="100" dirty="0">
                <a:solidFill>
                  <a:schemeClr val="accent3"/>
                </a:solidFill>
                <a:cs typeface="+mn-ea"/>
                <a:sym typeface="+mn-lt"/>
              </a:rPr>
              <a:t> </a:t>
            </a:r>
            <a:r>
              <a:rPr lang="en-US" altLang="zh-CN" spc="100" dirty="0" smtClean="0">
                <a:solidFill>
                  <a:schemeClr val="accent3"/>
                </a:solidFill>
                <a:cs typeface="+mn-ea"/>
                <a:sym typeface="+mn-lt"/>
              </a:rPr>
              <a:t>07</a:t>
            </a:r>
            <a:endParaRPr lang="zh-CN" altLang="en-US" spc="100" dirty="0">
              <a:solidFill>
                <a:schemeClr val="accent3"/>
              </a:solidFill>
              <a:cs typeface="+mn-ea"/>
              <a:sym typeface="+mn-lt"/>
            </a:endParaRPr>
          </a:p>
        </p:txBody>
      </p:sp>
    </p:spTree>
    <p:custDataLst>
      <p:tags r:id="rId1"/>
    </p:custDataLst>
    <p:extLst>
      <p:ext uri="{BB962C8B-B14F-4D97-AF65-F5344CB8AC3E}">
        <p14:creationId xmlns:p14="http://schemas.microsoft.com/office/powerpoint/2010/main" val="6732504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7.1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掼蛋中</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的整理总结</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727807" y="1258035"/>
            <a:ext cx="10025743" cy="4801314"/>
          </a:xfrm>
          <a:prstGeom prst="rect">
            <a:avLst/>
          </a:prstGeom>
        </p:spPr>
        <p:txBody>
          <a:bodyPr wrap="square">
            <a:spAutoFit/>
          </a:bodyPr>
          <a:lstStyle/>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对手单张出清后，你的最小单张都是具有优势的。反之，你若单张出清，则尽早拆牌。另：不要养成一直是单张从小出到大的习惯，要经常变化，让别人不知道你是不是在拆牌。</a:t>
            </a:r>
          </a:p>
          <a:p>
            <a:pPr algn="just">
              <a:spcAft>
                <a:spcPts val="0"/>
              </a:spcAft>
            </a:pPr>
            <a:r>
              <a:rPr lang="en-US"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 </a:t>
            </a:r>
            <a:endPar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要思考别人能阻击你多少次（了解自己的同时，也了解别人，能够上手几次，另：尽量不让别人在优势的牌开型上多次上手）</a:t>
            </a:r>
          </a:p>
          <a:p>
            <a:pPr algn="just">
              <a:spcAft>
                <a:spcPts val="0"/>
              </a:spcAft>
            </a:pPr>
            <a:r>
              <a:rPr lang="en-US"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 </a:t>
            </a:r>
            <a:endPar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放过下家，也许是在帮</a:t>
            </a:r>
            <a:r>
              <a:rPr lang="zh-CN" altLang="zh-CN" kern="100" dirty="0" smtClean="0">
                <a:solidFill>
                  <a:srgbClr val="FF0000"/>
                </a:solidFill>
                <a:latin typeface="等线" panose="02010600030101010101" pitchFamily="2" charset="-122"/>
                <a:ea typeface="等线" panose="02010600030101010101" pitchFamily="2" charset="-122"/>
                <a:cs typeface="宋体" panose="02010600030101010101" pitchFamily="2" charset="-122"/>
              </a:rPr>
              <a:t>你对家</a:t>
            </a:r>
            <a:r>
              <a:rPr lang="zh-CN" altLang="en-US" kern="100" dirty="0" smtClean="0">
                <a:solidFill>
                  <a:srgbClr val="FF0000"/>
                </a:solidFill>
                <a:latin typeface="等线" panose="02010600030101010101" pitchFamily="2" charset="-122"/>
                <a:ea typeface="等线" panose="02010600030101010101" pitchFamily="2" charset="-122"/>
                <a:cs typeface="宋体" panose="02010600030101010101" pitchFamily="2" charset="-122"/>
              </a:rPr>
              <a:t>（尤其是你没有搭档需要的牌型，同时预测下家能出这类牌型时）</a:t>
            </a:r>
            <a:r>
              <a:rPr lang="zh-CN" altLang="zh-CN" kern="100" dirty="0" smtClean="0">
                <a:solidFill>
                  <a:srgbClr val="FF0000"/>
                </a:solidFill>
                <a:latin typeface="等线" panose="02010600030101010101" pitchFamily="2" charset="-122"/>
                <a:ea typeface="等线" panose="02010600030101010101" pitchFamily="2" charset="-122"/>
                <a:cs typeface="宋体" panose="02010600030101010101" pitchFamily="2" charset="-122"/>
              </a:rPr>
              <a:t>，</a:t>
            </a: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也可能是帮到你。</a:t>
            </a: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无信息时的控牌，有信息时的控牌</a:t>
            </a: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管上不管下</a:t>
            </a: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为什么要炸？何时该炸？大小炸弹的使用（新手从小打到大，缺点有二：一是不一定止住；二是会暴露信息——比如出了最大的同花顺，基本可以估计到他没炸了</a:t>
            </a:r>
            <a:r>
              <a:rPr lang="zh-CN" altLang="zh-CN" kern="100" dirty="0" smtClean="0">
                <a:solidFill>
                  <a:srgbClr val="FF0000"/>
                </a:solidFill>
                <a:latin typeface="等线" panose="02010600030101010101" pitchFamily="2" charset="-122"/>
                <a:ea typeface="等线" panose="02010600030101010101" pitchFamily="2" charset="-122"/>
                <a:cs typeface="宋体" panose="02010600030101010101" pitchFamily="2" charset="-122"/>
              </a:rPr>
              <a:t>）</a:t>
            </a:r>
            <a:r>
              <a:rPr lang="zh-CN" altLang="en-US" kern="100" dirty="0" smtClean="0">
                <a:solidFill>
                  <a:srgbClr val="FF0000"/>
                </a:solidFill>
                <a:latin typeface="等线" panose="02010600030101010101" pitchFamily="2" charset="-122"/>
                <a:ea typeface="等线" panose="02010600030101010101" pitchFamily="2" charset="-122"/>
                <a:cs typeface="宋体" panose="02010600030101010101" pitchFamily="2" charset="-122"/>
              </a:rPr>
              <a:t>，当你顶级牌时，尽量使用大炸弹，否则就用小炸弹</a:t>
            </a:r>
            <a:r>
              <a:rPr lang="en-US" altLang="zh-CN" kern="100" dirty="0" smtClean="0">
                <a:solidFill>
                  <a:srgbClr val="FF0000"/>
                </a:solidFill>
                <a:latin typeface="等线" panose="02010600030101010101" pitchFamily="2" charset="-122"/>
                <a:ea typeface="等线" panose="02010600030101010101" pitchFamily="2" charset="-122"/>
                <a:cs typeface="宋体" panose="02010600030101010101" pitchFamily="2" charset="-122"/>
              </a:rPr>
              <a:t>——</a:t>
            </a:r>
            <a:r>
              <a:rPr lang="zh-CN" altLang="en-US" kern="100" dirty="0" smtClean="0">
                <a:solidFill>
                  <a:srgbClr val="FF0000"/>
                </a:solidFill>
                <a:latin typeface="等线" panose="02010600030101010101" pitchFamily="2" charset="-122"/>
                <a:ea typeface="等线" panose="02010600030101010101" pitchFamily="2" charset="-122"/>
                <a:cs typeface="宋体" panose="02010600030101010101" pitchFamily="2" charset="-122"/>
              </a:rPr>
              <a:t>当顶张牌的效用。</a:t>
            </a:r>
            <a:endPar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残局走掉的几种局面！自主崩牌走，留风走。顺过及顺过留炸</a:t>
            </a:r>
            <a:r>
              <a:rPr lang="zh-CN" altLang="zh-CN" kern="100" dirty="0" smtClean="0">
                <a:solidFill>
                  <a:srgbClr val="FF0000"/>
                </a:solidFill>
                <a:latin typeface="等线" panose="02010600030101010101" pitchFamily="2" charset="-122"/>
                <a:ea typeface="等线" panose="02010600030101010101" pitchFamily="2" charset="-122"/>
                <a:cs typeface="宋体" panose="02010600030101010101" pitchFamily="2" charset="-122"/>
              </a:rPr>
              <a:t>。对家送</a:t>
            </a: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走。（考虑搭档和对手的出牌习惯而决定最后留的牌）</a:t>
            </a: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残局时的牌要整</a:t>
            </a:r>
            <a:r>
              <a:rPr lang="zh-CN" altLang="zh-CN" kern="100" dirty="0" smtClean="0">
                <a:solidFill>
                  <a:srgbClr val="FF0000"/>
                </a:solidFill>
                <a:latin typeface="等线" panose="02010600030101010101" pitchFamily="2" charset="-122"/>
                <a:ea typeface="等线" panose="02010600030101010101" pitchFamily="2" charset="-122"/>
                <a:cs typeface="宋体" panose="02010600030101010101" pitchFamily="2" charset="-122"/>
              </a:rPr>
              <a:t>手</a:t>
            </a:r>
            <a:r>
              <a:rPr lang="zh-CN" altLang="en-US" kern="100" dirty="0" smtClean="0">
                <a:solidFill>
                  <a:srgbClr val="FF0000"/>
                </a:solidFill>
                <a:latin typeface="等线" panose="02010600030101010101" pitchFamily="2" charset="-122"/>
                <a:ea typeface="等线" panose="02010600030101010101" pitchFamily="2" charset="-122"/>
                <a:cs typeface="宋体" panose="02010600030101010101" pitchFamily="2" charset="-122"/>
              </a:rPr>
              <a:t>，否则就是害人精，会害死你的搭档的，会让你失去朋友</a:t>
            </a:r>
            <a:r>
              <a:rPr lang="zh-CN" altLang="zh-CN" kern="100" dirty="0" smtClean="0">
                <a:solidFill>
                  <a:srgbClr val="FF0000"/>
                </a:solidFill>
                <a:latin typeface="等线" panose="02010600030101010101" pitchFamily="2" charset="-122"/>
                <a:ea typeface="等线" panose="02010600030101010101" pitchFamily="2" charset="-122"/>
                <a:cs typeface="宋体" panose="02010600030101010101" pitchFamily="2" charset="-122"/>
              </a:rPr>
              <a:t>。</a:t>
            </a:r>
            <a:endParaRPr lang="en-US" altLang="zh-CN" kern="100" dirty="0" smtClean="0">
              <a:solidFill>
                <a:srgbClr val="FF0000"/>
              </a:solidFill>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r>
              <a:rPr lang="zh-CN" altLang="zh-CN" kern="100" dirty="0" smtClean="0">
                <a:solidFill>
                  <a:srgbClr val="FF0000"/>
                </a:solidFill>
                <a:latin typeface="等线" panose="02010600030101010101" pitchFamily="2" charset="-122"/>
                <a:ea typeface="等线" panose="02010600030101010101" pitchFamily="2" charset="-122"/>
                <a:cs typeface="宋体" panose="02010600030101010101" pitchFamily="2" charset="-122"/>
              </a:rPr>
              <a:t>（</a:t>
            </a: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因为牌少后，别人知道你的数量而容易控制你）</a:t>
            </a:r>
            <a:endParaRPr lang="zh-CN" altLang="zh-CN" kern="100" dirty="0">
              <a:solidFill>
                <a:srgbClr val="FF0000"/>
              </a:solidFill>
              <a:effectLst/>
              <a:latin typeface="等线" panose="02010600030101010101" pitchFamily="2" charset="-122"/>
              <a:ea typeface="等线" panose="02010600030101010101" pitchFamily="2" charset="-122"/>
              <a:cs typeface="宋体" panose="02010600030101010101" pitchFamily="2" charset="-122"/>
            </a:endParaRPr>
          </a:p>
        </p:txBody>
      </p:sp>
    </p:spTree>
    <p:custDataLst>
      <p:tags r:id="rId1"/>
    </p:custDataLst>
    <p:extLst>
      <p:ext uri="{BB962C8B-B14F-4D97-AF65-F5344CB8AC3E}">
        <p14:creationId xmlns:p14="http://schemas.microsoft.com/office/powerpoint/2010/main" val="91182314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456017"/>
            <a:ext cx="10850563" cy="476669"/>
          </a:xfrm>
        </p:spPr>
        <p:txBody>
          <a:bodyPr vert="horz" lIns="91440" tIns="45720" rIns="91440" bIns="45720" rtlCol="0" anchor="b">
            <a:spAutoFit/>
          </a:bodyPr>
          <a:lstStyle/>
          <a:p>
            <a:pPr>
              <a:lnSpc>
                <a:spcPct val="120000"/>
              </a:lnSpc>
            </a:pPr>
            <a:r>
              <a:rPr lang="en-US" altLang="zh-CN" sz="2400" dirty="0">
                <a:solidFill>
                  <a:srgbClr val="0F2C5D"/>
                </a:solidFill>
                <a:latin typeface="黑体" panose="02010609060101010101" charset="-122"/>
                <a:ea typeface="黑体" panose="02010609060101010101" charset="-122"/>
                <a:cs typeface="黑体" panose="02010609060101010101" charset="-122"/>
              </a:rPr>
              <a:t>7.1 </a:t>
            </a:r>
            <a:r>
              <a:rPr lang="zh-CN" altLang="en-US" sz="2400" dirty="0">
                <a:solidFill>
                  <a:srgbClr val="0F2C5D"/>
                </a:solidFill>
                <a:latin typeface="黑体" panose="02010609060101010101" charset="-122"/>
                <a:ea typeface="黑体" panose="02010609060101010101" charset="-122"/>
                <a:cs typeface="黑体" panose="02010609060101010101" charset="-122"/>
              </a:rPr>
              <a:t>掼蛋中的整理总结</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778608" y="1179908"/>
            <a:ext cx="10106269" cy="5078313"/>
          </a:xfrm>
          <a:prstGeom prst="rect">
            <a:avLst/>
          </a:prstGeom>
        </p:spPr>
        <p:txBody>
          <a:bodyPr wrap="square">
            <a:spAutoFit/>
          </a:bodyPr>
          <a:lstStyle/>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第一要务，记住自己的</a:t>
            </a:r>
            <a:r>
              <a:rPr lang="zh-CN" altLang="zh-CN" kern="100" dirty="0" smtClean="0">
                <a:solidFill>
                  <a:srgbClr val="FF0000"/>
                </a:solidFill>
                <a:latin typeface="等线" panose="02010600030101010101" pitchFamily="2" charset="-122"/>
                <a:ea typeface="等线" panose="02010600030101010101" pitchFamily="2" charset="-122"/>
                <a:cs typeface="宋体" panose="02010600030101010101" pitchFamily="2" charset="-122"/>
              </a:rPr>
              <a:t>牌</a:t>
            </a:r>
            <a:r>
              <a:rPr lang="zh-CN" altLang="en-US" kern="100" dirty="0" smtClean="0">
                <a:solidFill>
                  <a:srgbClr val="FF0000"/>
                </a:solidFill>
                <a:latin typeface="等线" panose="02010600030101010101" pitchFamily="2" charset="-122"/>
                <a:ea typeface="等线" panose="02010600030101010101" pitchFamily="2" charset="-122"/>
                <a:cs typeface="宋体" panose="02010600030101010101" pitchFamily="2" charset="-122"/>
              </a:rPr>
              <a:t>，收好（藏好，别被别人看见）</a:t>
            </a:r>
            <a:endPar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记牌的原则和方法：最起码记住王和主出的张数，了解红配的情况。</a:t>
            </a: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好牌慢走，中牌快走，差牌关键时间控制。（最差的牌是几乎一手控制也没有，一般差牌是有一两次控制）</a:t>
            </a: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全牌看，顺过几次</a:t>
            </a:r>
            <a:r>
              <a:rPr lang="en-US"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a:t>
            </a: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控制几次而出清牌。</a:t>
            </a:r>
          </a:p>
          <a:p>
            <a:pPr algn="just">
              <a:spcAft>
                <a:spcPts val="0"/>
              </a:spcAft>
            </a:pPr>
            <a:r>
              <a:rPr lang="en-US"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 </a:t>
            </a:r>
            <a:endPar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收贡后还牌的原则（看自己的手数决定是否还单张——还一个单张，相当于少用一次控制）</a:t>
            </a: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顺过相当于少用了半个控制</a:t>
            </a:r>
            <a:r>
              <a:rPr lang="zh-CN" altLang="zh-CN" kern="100">
                <a:solidFill>
                  <a:srgbClr val="FF0000"/>
                </a:solidFill>
                <a:latin typeface="等线" panose="02010600030101010101" pitchFamily="2" charset="-122"/>
                <a:ea typeface="等线" panose="02010600030101010101" pitchFamily="2" charset="-122"/>
                <a:cs typeface="宋体" panose="02010600030101010101" pitchFamily="2" charset="-122"/>
              </a:rPr>
              <a:t>。</a:t>
            </a:r>
            <a:r>
              <a:rPr lang="zh-CN" altLang="zh-CN" kern="100" smtClean="0">
                <a:solidFill>
                  <a:srgbClr val="FF0000"/>
                </a:solidFill>
                <a:latin typeface="等线" panose="02010600030101010101" pitchFamily="2" charset="-122"/>
                <a:ea typeface="等线" panose="02010600030101010101" pitchFamily="2" charset="-122"/>
                <a:cs typeface="宋体" panose="02010600030101010101" pitchFamily="2" charset="-122"/>
              </a:rPr>
              <a:t>帮对家出</a:t>
            </a: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牌</a:t>
            </a:r>
            <a:r>
              <a:rPr lang="zh-CN" altLang="zh-CN" kern="100">
                <a:solidFill>
                  <a:srgbClr val="FF0000"/>
                </a:solidFill>
                <a:latin typeface="等线" panose="02010600030101010101" pitchFamily="2" charset="-122"/>
                <a:ea typeface="等线" panose="02010600030101010101" pitchFamily="2" charset="-122"/>
                <a:cs typeface="宋体" panose="02010600030101010101" pitchFamily="2" charset="-122"/>
              </a:rPr>
              <a:t>，</a:t>
            </a:r>
            <a:r>
              <a:rPr lang="zh-CN" altLang="zh-CN" kern="100" smtClean="0">
                <a:solidFill>
                  <a:srgbClr val="FF0000"/>
                </a:solidFill>
                <a:latin typeface="等线" panose="02010600030101010101" pitchFamily="2" charset="-122"/>
                <a:ea typeface="等线" panose="02010600030101010101" pitchFamily="2" charset="-122"/>
                <a:cs typeface="宋体" panose="02010600030101010101" pitchFamily="2" charset="-122"/>
              </a:rPr>
              <a:t>相当于对家少</a:t>
            </a: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用一次控制（也可以说是半个）。</a:t>
            </a:r>
          </a:p>
          <a:p>
            <a:pPr algn="just">
              <a:spcAft>
                <a:spcPts val="0"/>
              </a:spcAft>
            </a:pPr>
            <a:r>
              <a:rPr lang="en-US"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 </a:t>
            </a:r>
            <a:endPar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贡牌后的评估：贡后就是少了一个控制。双贡后，基本少两个控制。</a:t>
            </a:r>
          </a:p>
          <a:p>
            <a:pPr algn="just">
              <a:spcAft>
                <a:spcPts val="0"/>
              </a:spcAft>
            </a:pPr>
            <a:r>
              <a:rPr lang="en-US"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 </a:t>
            </a:r>
            <a:endPar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进程中的控制。</a:t>
            </a:r>
          </a:p>
          <a:p>
            <a:pPr algn="just">
              <a:spcAft>
                <a:spcPts val="0"/>
              </a:spcAft>
            </a:pPr>
            <a:r>
              <a:rPr lang="en-US"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 </a:t>
            </a:r>
            <a:endPar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打牌中很少不求人：</a:t>
            </a:r>
            <a:r>
              <a:rPr lang="en-US"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5Z+6+5Z+6+5Z</a:t>
            </a:r>
            <a:endPar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也几乎没有全求人的牌</a:t>
            </a:r>
          </a:p>
          <a:p>
            <a:pPr algn="just">
              <a:spcAft>
                <a:spcPts val="0"/>
              </a:spcAft>
            </a:pPr>
            <a:r>
              <a:rPr lang="en-US"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 </a:t>
            </a:r>
            <a:endPar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思考的角度：以我为主；配合为主（搭档间的配合、一方配合、互不配合、三人斗地主）；全局视角；上帝视角</a:t>
            </a:r>
            <a:endParaRPr lang="zh-CN" altLang="zh-CN" kern="100" dirty="0">
              <a:solidFill>
                <a:srgbClr val="FF0000"/>
              </a:solidFill>
              <a:effectLst/>
              <a:latin typeface="等线" panose="02010600030101010101" pitchFamily="2" charset="-122"/>
              <a:ea typeface="等线" panose="02010600030101010101" pitchFamily="2" charset="-122"/>
              <a:cs typeface="宋体" panose="02010600030101010101" pitchFamily="2" charset="-122"/>
            </a:endParaRPr>
          </a:p>
        </p:txBody>
      </p:sp>
    </p:spTree>
    <p:custDataLst>
      <p:tags r:id="rId1"/>
    </p:custDataLst>
    <p:extLst>
      <p:ext uri="{BB962C8B-B14F-4D97-AF65-F5344CB8AC3E}">
        <p14:creationId xmlns:p14="http://schemas.microsoft.com/office/powerpoint/2010/main" val="336714334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456017"/>
            <a:ext cx="10850563" cy="476669"/>
          </a:xfrm>
        </p:spPr>
        <p:txBody>
          <a:bodyPr vert="horz" lIns="91440" tIns="45720" rIns="91440" bIns="45720" rtlCol="0" anchor="b">
            <a:spAutoFit/>
          </a:bodyPr>
          <a:lstStyle/>
          <a:p>
            <a:pPr>
              <a:lnSpc>
                <a:spcPct val="120000"/>
              </a:lnSpc>
            </a:pPr>
            <a:r>
              <a:rPr lang="en-US" altLang="zh-CN" sz="2400" dirty="0">
                <a:solidFill>
                  <a:srgbClr val="0F2C5D"/>
                </a:solidFill>
                <a:latin typeface="黑体" panose="02010609060101010101" charset="-122"/>
                <a:ea typeface="黑体" panose="02010609060101010101" charset="-122"/>
                <a:cs typeface="黑体" panose="02010609060101010101" charset="-122"/>
              </a:rPr>
              <a:t>7.1 </a:t>
            </a:r>
            <a:r>
              <a:rPr lang="zh-CN" altLang="en-US" sz="2400" dirty="0">
                <a:solidFill>
                  <a:srgbClr val="0F2C5D"/>
                </a:solidFill>
                <a:latin typeface="黑体" panose="02010609060101010101" charset="-122"/>
                <a:ea typeface="黑体" panose="02010609060101010101" charset="-122"/>
                <a:cs typeface="黑体" panose="02010609060101010101" charset="-122"/>
              </a:rPr>
              <a:t>掼蛋中的整理总结</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824522" y="1468217"/>
            <a:ext cx="9832313" cy="2862322"/>
          </a:xfrm>
          <a:prstGeom prst="rect">
            <a:avLst/>
          </a:prstGeom>
        </p:spPr>
        <p:txBody>
          <a:bodyPr wrap="square">
            <a:spAutoFit/>
          </a:bodyPr>
          <a:lstStyle/>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红配的使用</a:t>
            </a: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使用红配是为了什么？取得控制</a:t>
            </a:r>
            <a:r>
              <a:rPr lang="en-US"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OR</a:t>
            </a: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减少手数？</a:t>
            </a:r>
          </a:p>
          <a:p>
            <a:pPr algn="just">
              <a:spcAft>
                <a:spcPts val="0"/>
              </a:spcAft>
            </a:pPr>
            <a:r>
              <a:rPr lang="en-US"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 </a:t>
            </a:r>
            <a:endPar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思考题：为什么</a:t>
            </a:r>
            <a:r>
              <a:rPr lang="en-US"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333</a:t>
            </a: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都是大牌？因为别人没有！</a:t>
            </a:r>
          </a:p>
          <a:p>
            <a:pPr algn="just">
              <a:spcAft>
                <a:spcPts val="0"/>
              </a:spcAft>
            </a:pPr>
            <a:r>
              <a:rPr lang="en-US"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 </a:t>
            </a:r>
            <a:endPar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endParaRP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放过敌人也可能是成全自己，给敌人犯错的机会。打牌时，很少有自己全控而走完全程的。就算你能全控而走完全程，你的搭档也被你耽误了。有没有一种情况：就是你全程都压住了敌人，</a:t>
            </a:r>
            <a:r>
              <a:rPr lang="zh-CN" altLang="zh-CN" kern="100">
                <a:solidFill>
                  <a:srgbClr val="FF0000"/>
                </a:solidFill>
                <a:latin typeface="等线" panose="02010600030101010101" pitchFamily="2" charset="-122"/>
                <a:ea typeface="等线" panose="02010600030101010101" pitchFamily="2" charset="-122"/>
                <a:cs typeface="宋体" panose="02010600030101010101" pitchFamily="2" charset="-122"/>
              </a:rPr>
              <a:t>但</a:t>
            </a:r>
            <a:r>
              <a:rPr lang="zh-CN" altLang="zh-CN" kern="100" smtClean="0">
                <a:solidFill>
                  <a:srgbClr val="FF0000"/>
                </a:solidFill>
                <a:latin typeface="等线" panose="02010600030101010101" pitchFamily="2" charset="-122"/>
                <a:ea typeface="等线" panose="02010600030101010101" pitchFamily="2" charset="-122"/>
                <a:cs typeface="宋体" panose="02010600030101010101" pitchFamily="2" charset="-122"/>
              </a:rPr>
              <a:t>你对家恨死</a:t>
            </a: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你了！！！哈哈</a:t>
            </a: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对敌人管与不管，时机非常重要，这就叫控制！</a:t>
            </a:r>
          </a:p>
          <a:p>
            <a:pPr algn="just">
              <a:spcAft>
                <a:spcPts val="0"/>
              </a:spcAft>
            </a:pPr>
            <a:r>
              <a:rPr lang="zh-CN" altLang="zh-CN" kern="100" dirty="0">
                <a:solidFill>
                  <a:srgbClr val="FF0000"/>
                </a:solidFill>
                <a:latin typeface="等线" panose="02010600030101010101" pitchFamily="2" charset="-122"/>
                <a:ea typeface="等线" panose="02010600030101010101" pitchFamily="2" charset="-122"/>
                <a:cs typeface="宋体" panose="02010600030101010101" pitchFamily="2" charset="-122"/>
              </a:rPr>
              <a:t>三手一控、四手一控、全局无控（基本不可能）</a:t>
            </a:r>
            <a:endParaRPr lang="zh-CN" altLang="zh-CN" kern="100" dirty="0">
              <a:solidFill>
                <a:srgbClr val="FF0000"/>
              </a:solidFill>
              <a:effectLst/>
              <a:latin typeface="等线" panose="02010600030101010101" pitchFamily="2" charset="-122"/>
              <a:ea typeface="等线" panose="02010600030101010101" pitchFamily="2" charset="-122"/>
              <a:cs typeface="宋体" panose="02010600030101010101" pitchFamily="2" charset="-122"/>
            </a:endParaRPr>
          </a:p>
        </p:txBody>
      </p:sp>
    </p:spTree>
    <p:custDataLst>
      <p:tags r:id="rId1"/>
    </p:custDataLst>
    <p:extLst>
      <p:ext uri="{BB962C8B-B14F-4D97-AF65-F5344CB8AC3E}">
        <p14:creationId xmlns:p14="http://schemas.microsoft.com/office/powerpoint/2010/main" val="373454210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456017"/>
            <a:ext cx="10850563" cy="476669"/>
          </a:xfrm>
        </p:spPr>
        <p:txBody>
          <a:bodyPr vert="horz" lIns="91440" tIns="45720" rIns="91440" bIns="45720" rtlCol="0" anchor="b">
            <a:spAutoFit/>
          </a:bodyPr>
          <a:lstStyle/>
          <a:p>
            <a:pPr>
              <a:lnSpc>
                <a:spcPct val="120000"/>
              </a:lnSpc>
            </a:pPr>
            <a:r>
              <a:rPr lang="en-US" altLang="zh-CN" sz="2400" dirty="0">
                <a:solidFill>
                  <a:srgbClr val="0F2C5D"/>
                </a:solidFill>
                <a:latin typeface="黑体" panose="02010609060101010101" charset="-122"/>
                <a:ea typeface="黑体" panose="02010609060101010101" charset="-122"/>
                <a:cs typeface="黑体" panose="02010609060101010101" charset="-122"/>
              </a:rPr>
              <a:t>7.1 </a:t>
            </a:r>
            <a:r>
              <a:rPr lang="zh-CN" altLang="en-US" sz="2400" dirty="0">
                <a:solidFill>
                  <a:srgbClr val="0F2C5D"/>
                </a:solidFill>
                <a:latin typeface="黑体" panose="02010609060101010101" charset="-122"/>
                <a:ea typeface="黑体" panose="02010609060101010101" charset="-122"/>
                <a:cs typeface="黑体" panose="02010609060101010101" charset="-122"/>
              </a:rPr>
              <a:t>掼蛋中的整理总结</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778608" y="3060712"/>
            <a:ext cx="9993505" cy="1477328"/>
          </a:xfrm>
          <a:prstGeom prst="rect">
            <a:avLst/>
          </a:prstGeom>
        </p:spPr>
        <p:txBody>
          <a:bodyPr wrap="square">
            <a:spAutoFit/>
          </a:bodyPr>
          <a:lstStyle/>
          <a:p>
            <a:pPr algn="just">
              <a:spcAft>
                <a:spcPts val="0"/>
              </a:spcAft>
            </a:pPr>
            <a:r>
              <a:rPr lang="zh-CN" altLang="zh-CN" kern="100" dirty="0">
                <a:latin typeface="等线" panose="02010600030101010101" pitchFamily="2" charset="-122"/>
                <a:ea typeface="等线" panose="02010600030101010101" pitchFamily="2" charset="-122"/>
                <a:cs typeface="宋体" panose="02010600030101010101" pitchFamily="2" charset="-122"/>
              </a:rPr>
              <a:t>掼蛋俗语用通俗易懂的语言体现了掼蛋打法和技巧：如，情况不明，对子先行</a:t>
            </a:r>
            <a:r>
              <a:rPr lang="en-US" altLang="zh-CN" kern="100" dirty="0">
                <a:latin typeface="等线" panose="02010600030101010101" pitchFamily="2" charset="-122"/>
                <a:ea typeface="等线" panose="02010600030101010101" pitchFamily="2" charset="-122"/>
                <a:cs typeface="宋体" panose="02010600030101010101" pitchFamily="2" charset="-122"/>
              </a:rPr>
              <a:t>; </a:t>
            </a:r>
            <a:r>
              <a:rPr lang="zh-CN" altLang="zh-CN" kern="100" dirty="0">
                <a:latin typeface="等线" panose="02010600030101010101" pitchFamily="2" charset="-122"/>
                <a:ea typeface="等线" panose="02010600030101010101" pitchFamily="2" charset="-122"/>
                <a:cs typeface="宋体" panose="02010600030101010101" pitchFamily="2" charset="-122"/>
              </a:rPr>
              <a:t>要想坏，三不带</a:t>
            </a:r>
            <a:r>
              <a:rPr lang="en-US" altLang="zh-CN" kern="100" dirty="0">
                <a:latin typeface="等线" panose="02010600030101010101" pitchFamily="2" charset="-122"/>
                <a:ea typeface="等线" panose="02010600030101010101" pitchFamily="2" charset="-122"/>
                <a:cs typeface="宋体" panose="02010600030101010101" pitchFamily="2" charset="-122"/>
              </a:rPr>
              <a:t>;</a:t>
            </a:r>
            <a:r>
              <a:rPr lang="zh-CN" altLang="zh-CN" kern="100" dirty="0">
                <a:latin typeface="等线" panose="02010600030101010101" pitchFamily="2" charset="-122"/>
                <a:ea typeface="等线" panose="02010600030101010101" pitchFamily="2" charset="-122"/>
                <a:cs typeface="宋体" panose="02010600030101010101" pitchFamily="2" charset="-122"/>
              </a:rPr>
              <a:t>双下打一张，头游响当当；忍一手，海阔天空。炸一旦，彻底完蛋；牌型不对，炸弹面对；出牌回不来，拆的自己台；</a:t>
            </a:r>
            <a:r>
              <a:rPr lang="zh-CN" altLang="zh-CN" kern="100">
                <a:latin typeface="等线" panose="02010600030101010101" pitchFamily="2" charset="-122"/>
                <a:ea typeface="等线" panose="02010600030101010101" pitchFamily="2" charset="-122"/>
                <a:cs typeface="宋体" panose="02010600030101010101" pitchFamily="2" charset="-122"/>
              </a:rPr>
              <a:t>出</a:t>
            </a:r>
            <a:r>
              <a:rPr lang="zh-CN" altLang="zh-CN" kern="100" smtClean="0">
                <a:latin typeface="等线" panose="02010600030101010101" pitchFamily="2" charset="-122"/>
                <a:ea typeface="等线" panose="02010600030101010101" pitchFamily="2" charset="-122"/>
                <a:cs typeface="宋体" panose="02010600030101010101" pitchFamily="2" charset="-122"/>
              </a:rPr>
              <a:t>牌对家接</a:t>
            </a:r>
            <a:r>
              <a:rPr lang="zh-CN" altLang="zh-CN" kern="100" dirty="0">
                <a:latin typeface="等线" panose="02010600030101010101" pitchFamily="2" charset="-122"/>
                <a:ea typeface="等线" panose="02010600030101010101" pitchFamily="2" charset="-122"/>
                <a:cs typeface="宋体" panose="02010600030101010101" pitchFamily="2" charset="-122"/>
              </a:rPr>
              <a:t>，此局定大捷；你动我不动</a:t>
            </a:r>
            <a:r>
              <a:rPr lang="en-US" altLang="zh-CN" kern="100" dirty="0">
                <a:latin typeface="等线" panose="02010600030101010101" pitchFamily="2" charset="-122"/>
                <a:ea typeface="等线" panose="02010600030101010101" pitchFamily="2" charset="-122"/>
                <a:cs typeface="宋体" panose="02010600030101010101" pitchFamily="2" charset="-122"/>
              </a:rPr>
              <a:t>,</a:t>
            </a:r>
            <a:r>
              <a:rPr lang="zh-CN" altLang="zh-CN" kern="100" dirty="0">
                <a:latin typeface="等线" panose="02010600030101010101" pitchFamily="2" charset="-122"/>
                <a:ea typeface="等线" panose="02010600030101010101" pitchFamily="2" charset="-122"/>
                <a:cs typeface="宋体" panose="02010600030101010101" pitchFamily="2" charset="-122"/>
              </a:rPr>
              <a:t>我动你不动，掼蛋有分工；</a:t>
            </a:r>
            <a:r>
              <a:rPr lang="en-US" altLang="zh-CN" kern="100" dirty="0">
                <a:latin typeface="等线" panose="02010600030101010101" pitchFamily="2" charset="-122"/>
                <a:ea typeface="等线" panose="02010600030101010101" pitchFamily="2" charset="-122"/>
                <a:cs typeface="宋体" panose="02010600030101010101" pitchFamily="2" charset="-122"/>
              </a:rPr>
              <a:t>10</a:t>
            </a:r>
            <a:r>
              <a:rPr lang="zh-CN" altLang="zh-CN" kern="100" dirty="0">
                <a:latin typeface="等线" panose="02010600030101010101" pitchFamily="2" charset="-122"/>
                <a:ea typeface="等线" panose="02010600030101010101" pitchFamily="2" charset="-122"/>
                <a:cs typeface="宋体" panose="02010600030101010101" pitchFamily="2" charset="-122"/>
              </a:rPr>
              <a:t>、</a:t>
            </a:r>
            <a:r>
              <a:rPr lang="en-US" altLang="zh-CN" kern="100" dirty="0">
                <a:latin typeface="等线" panose="02010600030101010101" pitchFamily="2" charset="-122"/>
                <a:ea typeface="等线" panose="02010600030101010101" pitchFamily="2" charset="-122"/>
                <a:cs typeface="宋体" panose="02010600030101010101" pitchFamily="2" charset="-122"/>
              </a:rPr>
              <a:t>J</a:t>
            </a:r>
            <a:r>
              <a:rPr lang="zh-CN" altLang="zh-CN" kern="100" dirty="0">
                <a:latin typeface="等线" panose="02010600030101010101" pitchFamily="2" charset="-122"/>
                <a:ea typeface="等线" panose="02010600030101010101" pitchFamily="2" charset="-122"/>
                <a:cs typeface="宋体" panose="02010600030101010101" pitchFamily="2" charset="-122"/>
              </a:rPr>
              <a:t>、</a:t>
            </a:r>
            <a:r>
              <a:rPr lang="en-US" altLang="zh-CN" kern="100" dirty="0">
                <a:latin typeface="等线" panose="02010600030101010101" pitchFamily="2" charset="-122"/>
                <a:ea typeface="等线" panose="02010600030101010101" pitchFamily="2" charset="-122"/>
                <a:cs typeface="宋体" panose="02010600030101010101" pitchFamily="2" charset="-122"/>
              </a:rPr>
              <a:t>Q</a:t>
            </a:r>
            <a:r>
              <a:rPr lang="zh-CN" altLang="zh-CN" kern="100" dirty="0">
                <a:latin typeface="等线" panose="02010600030101010101" pitchFamily="2" charset="-122"/>
                <a:ea typeface="等线" panose="02010600030101010101" pitchFamily="2" charset="-122"/>
                <a:cs typeface="宋体" panose="02010600030101010101" pitchFamily="2" charset="-122"/>
              </a:rPr>
              <a:t>、</a:t>
            </a:r>
            <a:r>
              <a:rPr lang="en-US" altLang="zh-CN" kern="100" dirty="0">
                <a:latin typeface="等线" panose="02010600030101010101" pitchFamily="2" charset="-122"/>
                <a:ea typeface="等线" panose="02010600030101010101" pitchFamily="2" charset="-122"/>
                <a:cs typeface="宋体" panose="02010600030101010101" pitchFamily="2" charset="-122"/>
              </a:rPr>
              <a:t>K</a:t>
            </a:r>
            <a:r>
              <a:rPr lang="zh-CN" altLang="zh-CN" kern="100" dirty="0">
                <a:latin typeface="等线" panose="02010600030101010101" pitchFamily="2" charset="-122"/>
                <a:ea typeface="等线" panose="02010600030101010101" pitchFamily="2" charset="-122"/>
                <a:cs typeface="宋体" panose="02010600030101010101" pitchFamily="2" charset="-122"/>
              </a:rPr>
              <a:t>、</a:t>
            </a:r>
            <a:r>
              <a:rPr lang="en-US" altLang="zh-CN" kern="100" dirty="0">
                <a:latin typeface="等线" panose="02010600030101010101" pitchFamily="2" charset="-122"/>
                <a:ea typeface="等线" panose="02010600030101010101" pitchFamily="2" charset="-122"/>
                <a:cs typeface="宋体" panose="02010600030101010101" pitchFamily="2" charset="-122"/>
              </a:rPr>
              <a:t>A</a:t>
            </a:r>
            <a:r>
              <a:rPr lang="zh-CN" altLang="zh-CN" kern="100" dirty="0">
                <a:latin typeface="等线" panose="02010600030101010101" pitchFamily="2" charset="-122"/>
                <a:ea typeface="等线" panose="02010600030101010101" pitchFamily="2" charset="-122"/>
                <a:cs typeface="宋体" panose="02010600030101010101" pitchFamily="2" charset="-122"/>
              </a:rPr>
              <a:t>，顺子打到头，别人没想头；你打顺来我打夯，</a:t>
            </a:r>
            <a:r>
              <a:rPr lang="zh-CN" altLang="zh-CN" kern="100">
                <a:latin typeface="等线" panose="02010600030101010101" pitchFamily="2" charset="-122"/>
                <a:ea typeface="等线" panose="02010600030101010101" pitchFamily="2" charset="-122"/>
                <a:cs typeface="宋体" panose="02010600030101010101" pitchFamily="2" charset="-122"/>
              </a:rPr>
              <a:t>气</a:t>
            </a:r>
            <a:r>
              <a:rPr lang="zh-CN" altLang="zh-CN" kern="100" smtClean="0">
                <a:latin typeface="等线" panose="02010600030101010101" pitchFamily="2" charset="-122"/>
                <a:ea typeface="等线" panose="02010600030101010101" pitchFamily="2" charset="-122"/>
                <a:cs typeface="宋体" panose="02010600030101010101" pitchFamily="2" charset="-122"/>
              </a:rPr>
              <a:t>的对家要</a:t>
            </a:r>
            <a:r>
              <a:rPr lang="zh-CN" altLang="zh-CN" kern="100" dirty="0">
                <a:latin typeface="等线" panose="02010600030101010101" pitchFamily="2" charset="-122"/>
                <a:ea typeface="等线" panose="02010600030101010101" pitchFamily="2" charset="-122"/>
                <a:cs typeface="宋体" panose="02010600030101010101" pitchFamily="2" charset="-122"/>
              </a:rPr>
              <a:t>动</a:t>
            </a:r>
            <a:r>
              <a:rPr lang="en-US" altLang="zh-CN" kern="100" dirty="0">
                <a:latin typeface="等线" panose="02010600030101010101" pitchFamily="2" charset="-122"/>
                <a:ea typeface="等线" panose="02010600030101010101" pitchFamily="2" charset="-122"/>
                <a:cs typeface="宋体" panose="02010600030101010101" pitchFamily="2" charset="-122"/>
              </a:rPr>
              <a:t>“</a:t>
            </a:r>
            <a:r>
              <a:rPr lang="zh-CN" altLang="zh-CN" kern="100" dirty="0">
                <a:latin typeface="等线" panose="02010600030101010101" pitchFamily="2" charset="-122"/>
                <a:ea typeface="等线" panose="02010600030101010101" pitchFamily="2" charset="-122"/>
                <a:cs typeface="宋体" panose="02010600030101010101" pitchFamily="2" charset="-122"/>
              </a:rPr>
              <a:t>枪</a:t>
            </a:r>
            <a:r>
              <a:rPr lang="en-US" altLang="zh-CN" kern="100" dirty="0">
                <a:latin typeface="等线" panose="02010600030101010101" pitchFamily="2" charset="-122"/>
                <a:ea typeface="等线" panose="02010600030101010101" pitchFamily="2" charset="-122"/>
                <a:cs typeface="宋体" panose="02010600030101010101" pitchFamily="2" charset="-122"/>
              </a:rPr>
              <a:t>”</a:t>
            </a:r>
            <a:r>
              <a:rPr lang="zh-CN" altLang="zh-CN" kern="100" dirty="0">
                <a:latin typeface="等线" panose="02010600030101010101" pitchFamily="2" charset="-122"/>
                <a:ea typeface="等线" panose="02010600030101010101" pitchFamily="2" charset="-122"/>
                <a:cs typeface="宋体" panose="02010600030101010101" pitchFamily="2" charset="-122"/>
              </a:rPr>
              <a:t>；炸</a:t>
            </a:r>
            <a:r>
              <a:rPr lang="en-US" altLang="zh-CN" kern="100" dirty="0">
                <a:latin typeface="等线" panose="02010600030101010101" pitchFamily="2" charset="-122"/>
                <a:ea typeface="等线" panose="02010600030101010101" pitchFamily="2" charset="-122"/>
                <a:cs typeface="宋体" panose="02010600030101010101" pitchFamily="2" charset="-122"/>
              </a:rPr>
              <a:t>7</a:t>
            </a:r>
            <a:r>
              <a:rPr lang="zh-CN" altLang="zh-CN" kern="100" dirty="0">
                <a:latin typeface="等线" panose="02010600030101010101" pitchFamily="2" charset="-122"/>
                <a:ea typeface="等线" panose="02010600030101010101" pitchFamily="2" charset="-122"/>
                <a:cs typeface="宋体" panose="02010600030101010101" pitchFamily="2" charset="-122"/>
              </a:rPr>
              <a:t>不炸</a:t>
            </a:r>
            <a:r>
              <a:rPr lang="en-US" altLang="zh-CN" kern="100" dirty="0">
                <a:latin typeface="等线" panose="02010600030101010101" pitchFamily="2" charset="-122"/>
                <a:ea typeface="等线" panose="02010600030101010101" pitchFamily="2" charset="-122"/>
                <a:cs typeface="宋体" panose="02010600030101010101" pitchFamily="2" charset="-122"/>
              </a:rPr>
              <a:t>8</a:t>
            </a:r>
            <a:r>
              <a:rPr lang="zh-CN" altLang="zh-CN" kern="100" dirty="0">
                <a:latin typeface="等线" panose="02010600030101010101" pitchFamily="2" charset="-122"/>
                <a:ea typeface="等线" panose="02010600030101010101" pitchFamily="2" charset="-122"/>
                <a:cs typeface="宋体" panose="02010600030101010101" pitchFamily="2" charset="-122"/>
              </a:rPr>
              <a:t>；赢了不吱声，说明城府深；输了不投降，表明很顽强。等等。</a:t>
            </a:r>
            <a:endParaRPr lang="zh-CN" altLang="zh-CN" kern="100" dirty="0">
              <a:effectLst/>
              <a:latin typeface="等线" panose="02010600030101010101" pitchFamily="2" charset="-122"/>
              <a:ea typeface="等线" panose="02010600030101010101" pitchFamily="2" charset="-122"/>
              <a:cs typeface="宋体" panose="02010600030101010101" pitchFamily="2" charset="-122"/>
            </a:endParaRPr>
          </a:p>
        </p:txBody>
      </p:sp>
      <p:sp>
        <p:nvSpPr>
          <p:cNvPr id="6" name="矩形 5"/>
          <p:cNvSpPr/>
          <p:nvPr/>
        </p:nvSpPr>
        <p:spPr>
          <a:xfrm>
            <a:off x="709245" y="1258035"/>
            <a:ext cx="9993505" cy="1477328"/>
          </a:xfrm>
          <a:prstGeom prst="rect">
            <a:avLst/>
          </a:prstGeom>
        </p:spPr>
        <p:txBody>
          <a:bodyPr wrap="square">
            <a:spAutoFit/>
          </a:bodyPr>
          <a:lstStyle/>
          <a:p>
            <a:pPr algn="just">
              <a:spcAft>
                <a:spcPts val="0"/>
              </a:spcAft>
            </a:pPr>
            <a:r>
              <a:rPr lang="zh-CN" altLang="en-US" kern="100" dirty="0" smtClean="0">
                <a:solidFill>
                  <a:srgbClr val="FF0000"/>
                </a:solidFill>
                <a:effectLst/>
                <a:latin typeface="等线" panose="02010600030101010101" pitchFamily="2" charset="-122"/>
                <a:ea typeface="等线" panose="02010600030101010101" pitchFamily="2" charset="-122"/>
                <a:cs typeface="宋体" panose="02010600030101010101" pitchFamily="2" charset="-122"/>
              </a:rPr>
              <a:t>掼蛋就是争上游的一种，牌出尽为赢。所以通盘逻辑就是思考如何出尽牌。但仅仅这么思考，你可能会打的很好，</a:t>
            </a:r>
            <a:r>
              <a:rPr lang="zh-CN" altLang="en-US" kern="100" smtClean="0">
                <a:solidFill>
                  <a:srgbClr val="FF0000"/>
                </a:solidFill>
                <a:effectLst/>
                <a:latin typeface="等线" panose="02010600030101010101" pitchFamily="2" charset="-122"/>
                <a:ea typeface="等线" panose="02010600030101010101" pitchFamily="2" charset="-122"/>
                <a:cs typeface="宋体" panose="02010600030101010101" pitchFamily="2" charset="-122"/>
              </a:rPr>
              <a:t>但你对家一直</a:t>
            </a:r>
            <a:r>
              <a:rPr lang="zh-CN" altLang="en-US" kern="100" dirty="0" smtClean="0">
                <a:solidFill>
                  <a:srgbClr val="FF0000"/>
                </a:solidFill>
                <a:effectLst/>
                <a:latin typeface="等线" panose="02010600030101010101" pitchFamily="2" charset="-122"/>
                <a:ea typeface="等线" panose="02010600030101010101" pitchFamily="2" charset="-122"/>
                <a:cs typeface="宋体" panose="02010600030101010101" pitchFamily="2" charset="-122"/>
              </a:rPr>
              <a:t>骂你。或者你也</a:t>
            </a:r>
            <a:r>
              <a:rPr lang="zh-CN" altLang="en-US" kern="100" smtClean="0">
                <a:solidFill>
                  <a:srgbClr val="FF0000"/>
                </a:solidFill>
                <a:effectLst/>
                <a:latin typeface="等线" panose="02010600030101010101" pitchFamily="2" charset="-122"/>
                <a:ea typeface="等线" panose="02010600030101010101" pitchFamily="2" charset="-122"/>
                <a:cs typeface="宋体" panose="02010600030101010101" pitchFamily="2" charset="-122"/>
              </a:rPr>
              <a:t>在骂对家。</a:t>
            </a:r>
            <a:r>
              <a:rPr lang="zh-CN" altLang="en-US" kern="100" dirty="0" smtClean="0">
                <a:solidFill>
                  <a:srgbClr val="FF0000"/>
                </a:solidFill>
                <a:effectLst/>
                <a:latin typeface="等线" panose="02010600030101010101" pitchFamily="2" charset="-122"/>
                <a:ea typeface="等线" panose="02010600030101010101" pitchFamily="2" charset="-122"/>
                <a:cs typeface="宋体" panose="02010600030101010101" pitchFamily="2" charset="-122"/>
              </a:rPr>
              <a:t>出现这种情况就是搭档双方没有配合好，才会出现的问题。另外，我们经常看到打牌的搭档双方面红耳赤。为什么，就是因为只站在各自立场，或者只站在这一局牌的立场来讨论。应该站在逻辑的立场，同时通过打牌中获得的信息的角度来讨论才行。避免用上帝视角讨论牌。</a:t>
            </a:r>
            <a:endParaRPr lang="zh-CN" altLang="zh-CN" kern="100" dirty="0">
              <a:solidFill>
                <a:srgbClr val="FF0000"/>
              </a:solidFill>
              <a:effectLst/>
              <a:latin typeface="等线" panose="02010600030101010101" pitchFamily="2" charset="-122"/>
              <a:ea typeface="等线" panose="02010600030101010101" pitchFamily="2" charset="-122"/>
              <a:cs typeface="宋体" panose="02010600030101010101" pitchFamily="2" charset="-122"/>
            </a:endParaRPr>
          </a:p>
        </p:txBody>
      </p:sp>
    </p:spTree>
    <p:custDataLst>
      <p:tags r:id="rId1"/>
    </p:custDataLst>
    <p:extLst>
      <p:ext uri="{BB962C8B-B14F-4D97-AF65-F5344CB8AC3E}">
        <p14:creationId xmlns:p14="http://schemas.microsoft.com/office/powerpoint/2010/main" val="286228183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456017"/>
            <a:ext cx="10850563" cy="476669"/>
          </a:xfrm>
        </p:spPr>
        <p:txBody>
          <a:bodyPr vert="horz" lIns="91440" tIns="45720" rIns="91440" bIns="45720" rtlCol="0" anchor="b">
            <a:spAutoFit/>
          </a:bodyPr>
          <a:lstStyle/>
          <a:p>
            <a:pPr>
              <a:lnSpc>
                <a:spcPct val="120000"/>
              </a:lnSpc>
            </a:pPr>
            <a:r>
              <a:rPr lang="en-US" altLang="zh-CN" sz="2400" dirty="0">
                <a:solidFill>
                  <a:srgbClr val="0F2C5D"/>
                </a:solidFill>
                <a:latin typeface="黑体" panose="02010609060101010101" charset="-122"/>
                <a:ea typeface="黑体" panose="02010609060101010101" charset="-122"/>
                <a:cs typeface="黑体" panose="02010609060101010101" charset="-122"/>
              </a:rPr>
              <a:t>7.1 </a:t>
            </a:r>
            <a:r>
              <a:rPr lang="zh-CN" altLang="en-US" sz="2400" dirty="0">
                <a:solidFill>
                  <a:srgbClr val="0F2C5D"/>
                </a:solidFill>
                <a:latin typeface="黑体" panose="02010609060101010101" charset="-122"/>
                <a:ea typeface="黑体" panose="02010609060101010101" charset="-122"/>
                <a:cs typeface="黑体" panose="02010609060101010101" charset="-122"/>
              </a:rPr>
              <a:t>掼蛋中的整理总结</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073357" y="1297635"/>
            <a:ext cx="8268337" cy="1754326"/>
          </a:xfrm>
          <a:prstGeom prst="rect">
            <a:avLst/>
          </a:prstGeom>
          <a:noFill/>
        </p:spPr>
        <p:txBody>
          <a:bodyPr wrap="square" rtlCol="0">
            <a:spAutoFit/>
          </a:bodyPr>
          <a:lstStyle/>
          <a:p>
            <a:pPr fontAlgn="auto">
              <a:lnSpc>
                <a:spcPct val="150000"/>
              </a:lnSpc>
            </a:pP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打骗牌：</a:t>
            </a:r>
            <a:endParaRPr lang="en-US" altLang="zh-CN"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对方是高手：</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33-KKorAA</a:t>
            </a:r>
          </a:p>
          <a:p>
            <a:pPr fontAlgn="auto">
              <a:lnSpc>
                <a:spcPct val="150000"/>
              </a:lnSpc>
            </a:pP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中级牌手：</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33-JJ</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AA</a:t>
            </a:r>
          </a:p>
          <a:p>
            <a:pPr fontAlgn="auto">
              <a:lnSpc>
                <a:spcPct val="150000"/>
              </a:lnSpc>
            </a:pP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初级牌手：</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33-10 10</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 </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AA</a:t>
            </a:r>
            <a:endParaRPr lang="zh-CN" altLang="en-US" kern="0" dirty="0">
              <a:solidFill>
                <a:prstClr val="black">
                  <a:lumMod val="85000"/>
                  <a:lumOff val="15000"/>
                </a:prstClr>
              </a:solidFill>
              <a:latin typeface="楷体" panose="02010609060101010101" pitchFamily="49" charset="-122"/>
              <a:ea typeface="楷体" panose="02010609060101010101" pitchFamily="49" charset="-122"/>
            </a:endParaRPr>
          </a:p>
        </p:txBody>
      </p:sp>
      <p:sp>
        <p:nvSpPr>
          <p:cNvPr id="9" name="文本框 8"/>
          <p:cNvSpPr txBox="1"/>
          <p:nvPr/>
        </p:nvSpPr>
        <p:spPr>
          <a:xfrm>
            <a:off x="1140558" y="2978562"/>
            <a:ext cx="10069634" cy="1754326"/>
          </a:xfrm>
          <a:prstGeom prst="rect">
            <a:avLst/>
          </a:prstGeom>
          <a:noFill/>
        </p:spPr>
        <p:txBody>
          <a:bodyPr wrap="square" rtlCol="0">
            <a:spAutoFit/>
          </a:bodyPr>
          <a:lstStyle/>
          <a:p>
            <a:pPr fontAlgn="auto">
              <a:lnSpc>
                <a:spcPct val="150000"/>
              </a:lnSpc>
            </a:pP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通过组合计算，一手</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27</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张牌，有一副炸弹的概率约：</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1.37</a:t>
            </a:r>
          </a:p>
          <a:p>
            <a:pPr fontAlgn="auto">
              <a:lnSpc>
                <a:spcPct val="150000"/>
              </a:lnSpc>
            </a:pP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有两副炸弹概率约为：</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1.058</a:t>
            </a:r>
          </a:p>
          <a:p>
            <a:pPr fontAlgn="auto">
              <a:lnSpc>
                <a:spcPct val="150000"/>
              </a:lnSpc>
            </a:pP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上述计算的结果与打牌经验并不是很相符合：四人斗地主时，一个人有两炸的几率大概是三副中有一副（结合手里大王和</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2</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的情况叫地主两档的情形）。当然这是</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25</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张牌的情形。</a:t>
            </a:r>
            <a:endParaRPr lang="zh-CN" altLang="en-US" kern="0" dirty="0">
              <a:solidFill>
                <a:prstClr val="black">
                  <a:lumMod val="85000"/>
                  <a:lumOff val="15000"/>
                </a:prstClr>
              </a:solidFill>
              <a:latin typeface="楷体" panose="02010609060101010101" pitchFamily="49" charset="-122"/>
              <a:ea typeface="楷体" panose="02010609060101010101" pitchFamily="49" charset="-122"/>
            </a:endParaRPr>
          </a:p>
        </p:txBody>
      </p:sp>
      <p:sp>
        <p:nvSpPr>
          <p:cNvPr id="13" name="文本框 12"/>
          <p:cNvSpPr txBox="1"/>
          <p:nvPr/>
        </p:nvSpPr>
        <p:spPr>
          <a:xfrm>
            <a:off x="1073357" y="4801501"/>
            <a:ext cx="8268337" cy="923330"/>
          </a:xfrm>
          <a:prstGeom prst="rect">
            <a:avLst/>
          </a:prstGeom>
          <a:noFill/>
        </p:spPr>
        <p:txBody>
          <a:bodyPr wrap="square" rtlCol="0">
            <a:spAutoFit/>
          </a:bodyPr>
          <a:lstStyle/>
          <a:p>
            <a:pPr fontAlgn="auto">
              <a:lnSpc>
                <a:spcPct val="150000"/>
              </a:lnSpc>
            </a:pP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一手</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27</a:t>
            </a: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张牌，有纯的三连对概率约：</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44.5%</a:t>
            </a:r>
          </a:p>
          <a:p>
            <a:pPr fontAlgn="auto">
              <a:lnSpc>
                <a:spcPct val="150000"/>
              </a:lnSpc>
            </a:pP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有两连三张的概率约为：</a:t>
            </a:r>
            <a:r>
              <a:rPr lang="en-US" altLang="zh-CN" kern="0" dirty="0" smtClean="0">
                <a:solidFill>
                  <a:prstClr val="black">
                    <a:lumMod val="85000"/>
                    <a:lumOff val="15000"/>
                  </a:prstClr>
                </a:solidFill>
                <a:latin typeface="楷体" panose="02010609060101010101" pitchFamily="49" charset="-122"/>
                <a:ea typeface="楷体" panose="02010609060101010101" pitchFamily="49" charset="-122"/>
              </a:rPr>
              <a:t>55.6%</a:t>
            </a:r>
            <a:endParaRPr lang="zh-CN" altLang="en-US" kern="0" dirty="0">
              <a:solidFill>
                <a:prstClr val="black">
                  <a:lumMod val="85000"/>
                  <a:lumOff val="15000"/>
                </a:prstClr>
              </a:solidFill>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139727720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456017"/>
            <a:ext cx="10850563" cy="476669"/>
          </a:xfrm>
        </p:spPr>
        <p:txBody>
          <a:bodyPr vert="horz" lIns="91440" tIns="45720" rIns="91440" bIns="45720" rtlCol="0" anchor="b">
            <a:spAutoFit/>
          </a:bodyPr>
          <a:lstStyle/>
          <a:p>
            <a:pPr>
              <a:lnSpc>
                <a:spcPct val="120000"/>
              </a:lnSpc>
            </a:pPr>
            <a:r>
              <a:rPr lang="en-US" altLang="zh-CN" sz="2400" dirty="0">
                <a:solidFill>
                  <a:srgbClr val="0F2C5D"/>
                </a:solidFill>
                <a:latin typeface="黑体" panose="02010609060101010101" charset="-122"/>
                <a:ea typeface="黑体" panose="02010609060101010101" charset="-122"/>
                <a:cs typeface="黑体" panose="02010609060101010101" charset="-122"/>
              </a:rPr>
              <a:t>7.1 </a:t>
            </a:r>
            <a:r>
              <a:rPr lang="zh-CN" altLang="en-US" sz="2400" dirty="0">
                <a:solidFill>
                  <a:srgbClr val="0F2C5D"/>
                </a:solidFill>
                <a:latin typeface="黑体" panose="02010609060101010101" charset="-122"/>
                <a:ea typeface="黑体" panose="02010609060101010101" charset="-122"/>
                <a:cs typeface="黑体" panose="02010609060101010101" charset="-122"/>
              </a:rPr>
              <a:t>掼蛋中的整理总结</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073357" y="1297635"/>
            <a:ext cx="8268337" cy="442878"/>
          </a:xfrm>
          <a:prstGeom prst="rect">
            <a:avLst/>
          </a:prstGeom>
          <a:noFill/>
        </p:spPr>
        <p:txBody>
          <a:bodyPr wrap="square" rtlCol="0">
            <a:spAutoFit/>
          </a:bodyPr>
          <a:lstStyle/>
          <a:p>
            <a:pPr fontAlgn="auto">
              <a:lnSpc>
                <a:spcPct val="150000"/>
              </a:lnSpc>
            </a:pP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对手之间的妥协</a:t>
            </a:r>
            <a:endParaRPr lang="zh-CN" altLang="en-US" kern="0" dirty="0">
              <a:solidFill>
                <a:prstClr val="black">
                  <a:lumMod val="85000"/>
                  <a:lumOff val="15000"/>
                </a:prstClr>
              </a:solidFill>
              <a:latin typeface="楷体" panose="02010609060101010101" pitchFamily="49" charset="-122"/>
              <a:ea typeface="楷体" panose="02010609060101010101" pitchFamily="49" charset="-122"/>
            </a:endParaRPr>
          </a:p>
        </p:txBody>
      </p:sp>
      <p:sp>
        <p:nvSpPr>
          <p:cNvPr id="3" name="矩形 2"/>
          <p:cNvSpPr/>
          <p:nvPr/>
        </p:nvSpPr>
        <p:spPr>
          <a:xfrm>
            <a:off x="778607" y="1859340"/>
            <a:ext cx="9924143" cy="3139321"/>
          </a:xfrm>
          <a:prstGeom prst="rect">
            <a:avLst/>
          </a:prstGeom>
        </p:spPr>
        <p:txBody>
          <a:bodyPr wrap="square">
            <a:spAutoFit/>
          </a:bodyPr>
          <a:lstStyle/>
          <a:p>
            <a:r>
              <a:rPr lang="zh-CN" altLang="en-US" dirty="0">
                <a:latin typeface="楷体" panose="02010609060101010101" pitchFamily="49" charset="-122"/>
                <a:ea typeface="楷体" panose="02010609060101010101" pitchFamily="49" charset="-122"/>
              </a:rPr>
              <a:t>掼蛋中的炸弹，即火牌，分别为头火、同花、王火三种类型。无火不成牌，头火是常用炸弹，据统计，牌局中头火的使用率高达</a:t>
            </a:r>
            <a:r>
              <a:rPr lang="en-US" altLang="zh-CN" dirty="0">
                <a:latin typeface="楷体" panose="02010609060101010101" pitchFamily="49" charset="-122"/>
                <a:ea typeface="楷体" panose="02010609060101010101" pitchFamily="49" charset="-122"/>
              </a:rPr>
              <a:t>88.2%</a:t>
            </a:r>
            <a:r>
              <a:rPr lang="zh-CN" altLang="en-US" dirty="0">
                <a:latin typeface="楷体" panose="02010609060101010101" pitchFamily="49" charset="-122"/>
                <a:ea typeface="楷体" panose="02010609060101010101" pitchFamily="49" charset="-122"/>
              </a:rPr>
              <a:t>，平均每局中有</a:t>
            </a:r>
            <a:r>
              <a:rPr lang="en-US" altLang="zh-CN" dirty="0">
                <a:latin typeface="楷体" panose="02010609060101010101" pitchFamily="49" charset="-122"/>
                <a:ea typeface="楷体" panose="02010609060101010101" pitchFamily="49" charset="-122"/>
              </a:rPr>
              <a:t>7.5</a:t>
            </a:r>
            <a:r>
              <a:rPr lang="zh-CN" altLang="en-US" dirty="0">
                <a:latin typeface="楷体" panose="02010609060101010101" pitchFamily="49" charset="-122"/>
                <a:ea typeface="楷体" panose="02010609060101010101" pitchFamily="49" charset="-122"/>
              </a:rPr>
              <a:t>副头火被使用。所以能组火的牌尽量组火，毕竟火牌的威胁力非其他牌型可比。</a:t>
            </a:r>
          </a:p>
          <a:p>
            <a:endParaRPr lang="zh-CN" altLang="en-US"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有人统计了掼蛋实战中“逢人配”的用法，配牌配火的比例为</a:t>
            </a:r>
            <a:r>
              <a:rPr lang="en-US" altLang="zh-CN" dirty="0">
                <a:latin typeface="楷体" panose="02010609060101010101" pitchFamily="49" charset="-122"/>
                <a:ea typeface="楷体" panose="02010609060101010101" pitchFamily="49" charset="-122"/>
              </a:rPr>
              <a:t>85%</a:t>
            </a:r>
            <a:r>
              <a:rPr lang="zh-CN" altLang="en-US" dirty="0">
                <a:latin typeface="楷体" panose="02010609060101010101" pitchFamily="49" charset="-122"/>
                <a:ea typeface="楷体" panose="02010609060101010101" pitchFamily="49" charset="-122"/>
              </a:rPr>
              <a:t>，其中配</a:t>
            </a:r>
            <a:r>
              <a:rPr lang="en-US" altLang="zh-CN" dirty="0">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头火的占</a:t>
            </a:r>
            <a:r>
              <a:rPr lang="en-US" altLang="zh-CN" dirty="0">
                <a:latin typeface="楷体" panose="02010609060101010101" pitchFamily="49" charset="-122"/>
                <a:ea typeface="楷体" panose="02010609060101010101" pitchFamily="49" charset="-122"/>
              </a:rPr>
              <a:t>50.8%</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5</a:t>
            </a:r>
            <a:r>
              <a:rPr lang="zh-CN" altLang="en-US" dirty="0">
                <a:latin typeface="楷体" panose="02010609060101010101" pitchFamily="49" charset="-122"/>
                <a:ea typeface="楷体" panose="02010609060101010101" pitchFamily="49" charset="-122"/>
              </a:rPr>
              <a:t>头及以上的占</a:t>
            </a:r>
            <a:r>
              <a:rPr lang="en-US" altLang="zh-CN" dirty="0">
                <a:latin typeface="楷体" panose="02010609060101010101" pitchFamily="49" charset="-122"/>
                <a:ea typeface="楷体" panose="02010609060101010101" pitchFamily="49" charset="-122"/>
              </a:rPr>
              <a:t>15.8%</a:t>
            </a:r>
            <a:r>
              <a:rPr lang="zh-CN" altLang="en-US" dirty="0">
                <a:latin typeface="楷体" panose="02010609060101010101" pitchFamily="49" charset="-122"/>
                <a:ea typeface="楷体" panose="02010609060101010101" pitchFamily="49" charset="-122"/>
              </a:rPr>
              <a:t>，配同花顺的占</a:t>
            </a:r>
            <a:r>
              <a:rPr lang="en-US" altLang="zh-CN" dirty="0">
                <a:latin typeface="楷体" panose="02010609060101010101" pitchFamily="49" charset="-122"/>
                <a:ea typeface="楷体" panose="02010609060101010101" pitchFamily="49" charset="-122"/>
              </a:rPr>
              <a:t>33.4%</a:t>
            </a:r>
            <a:r>
              <a:rPr lang="zh-CN" altLang="en-US" dirty="0">
                <a:latin typeface="楷体" panose="02010609060101010101" pitchFamily="49" charset="-122"/>
                <a:ea typeface="楷体" panose="02010609060101010101" pitchFamily="49" charset="-122"/>
              </a:rPr>
              <a:t>；配其他牌型占比</a:t>
            </a:r>
            <a:r>
              <a:rPr lang="en-US" altLang="zh-CN" dirty="0">
                <a:latin typeface="楷体" panose="02010609060101010101" pitchFamily="49" charset="-122"/>
                <a:ea typeface="楷体" panose="02010609060101010101" pitchFamily="49" charset="-122"/>
              </a:rPr>
              <a:t>11.7%</a:t>
            </a:r>
            <a:r>
              <a:rPr lang="zh-CN" altLang="en-US" dirty="0">
                <a:latin typeface="楷体" panose="02010609060101010101" pitchFamily="49" charset="-122"/>
                <a:ea typeface="楷体" panose="02010609060101010101" pitchFamily="49" charset="-122"/>
              </a:rPr>
              <a:t>，弃配占比</a:t>
            </a:r>
            <a:r>
              <a:rPr lang="en-US" altLang="zh-CN" dirty="0">
                <a:latin typeface="楷体" panose="02010609060101010101" pitchFamily="49" charset="-122"/>
                <a:ea typeface="楷体" panose="02010609060101010101" pitchFamily="49" charset="-122"/>
              </a:rPr>
              <a:t>3.3%</a:t>
            </a:r>
            <a:r>
              <a:rPr lang="zh-CN" altLang="en-US" dirty="0">
                <a:latin typeface="楷体" panose="02010609060101010101" pitchFamily="49" charset="-122"/>
                <a:ea typeface="楷体" panose="02010609060101010101" pitchFamily="49" charset="-122"/>
              </a:rPr>
              <a:t>。由此可见，配牌配四头火是最经济适用的搭配方式</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endParaRPr lang="en-US" altLang="zh-CN" dirty="0">
              <a:solidFill>
                <a:srgbClr val="FF0000"/>
              </a:solidFill>
              <a:latin typeface="楷体" panose="02010609060101010101" pitchFamily="49" charset="-122"/>
              <a:ea typeface="楷体" panose="02010609060101010101" pitchFamily="49" charset="-122"/>
            </a:endParaRPr>
          </a:p>
          <a:p>
            <a:r>
              <a:rPr lang="zh-CN" altLang="en-US" dirty="0" smtClean="0">
                <a:solidFill>
                  <a:srgbClr val="FF0000"/>
                </a:solidFill>
                <a:latin typeface="楷体" panose="02010609060101010101" pitchFamily="49" charset="-122"/>
                <a:ea typeface="楷体" panose="02010609060101010101" pitchFamily="49" charset="-122"/>
              </a:rPr>
              <a:t>出炸弹的时机：你出炸弹的目的是什么？阻止、抢牌权自己走或给对家顺？路子不对，换自己的路子？敌方无某路牌？强牌炸上家，弱牌才考虑炸下家。往往不能判断上家的牌是否强，自己的搭档能不能管上？</a:t>
            </a:r>
            <a:endParaRPr lang="zh-CN" altLang="en-US" dirty="0">
              <a:solidFill>
                <a:srgbClr val="FF0000"/>
              </a:solidFill>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209921406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456017"/>
            <a:ext cx="10850563" cy="476669"/>
          </a:xfrm>
        </p:spPr>
        <p:txBody>
          <a:bodyPr vert="horz" lIns="91440" tIns="45720" rIns="91440" bIns="45720" rtlCol="0" anchor="b">
            <a:spAutoFit/>
          </a:bodyPr>
          <a:lstStyle/>
          <a:p>
            <a:pPr>
              <a:lnSpc>
                <a:spcPct val="120000"/>
              </a:lnSpc>
            </a:pPr>
            <a:r>
              <a:rPr lang="en-US" altLang="zh-CN" sz="2400" dirty="0">
                <a:solidFill>
                  <a:srgbClr val="0F2C5D"/>
                </a:solidFill>
                <a:latin typeface="黑体" panose="02010609060101010101" charset="-122"/>
                <a:ea typeface="黑体" panose="02010609060101010101" charset="-122"/>
                <a:cs typeface="黑体" panose="02010609060101010101" charset="-122"/>
              </a:rPr>
              <a:t>7.1 </a:t>
            </a:r>
            <a:r>
              <a:rPr lang="zh-CN" altLang="en-US" sz="2400" dirty="0">
                <a:solidFill>
                  <a:srgbClr val="0F2C5D"/>
                </a:solidFill>
                <a:latin typeface="黑体" panose="02010609060101010101" charset="-122"/>
                <a:ea typeface="黑体" panose="02010609060101010101" charset="-122"/>
                <a:cs typeface="黑体" panose="02010609060101010101" charset="-122"/>
              </a:rPr>
              <a:t>掼蛋中的整理总结</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78607" y="1267815"/>
            <a:ext cx="8268337" cy="442878"/>
          </a:xfrm>
          <a:prstGeom prst="rect">
            <a:avLst/>
          </a:prstGeom>
          <a:noFill/>
        </p:spPr>
        <p:txBody>
          <a:bodyPr wrap="square" rtlCol="0">
            <a:spAutoFit/>
          </a:bodyPr>
          <a:lstStyle/>
          <a:p>
            <a:pPr fontAlgn="auto">
              <a:lnSpc>
                <a:spcPct val="150000"/>
              </a:lnSpc>
            </a:pPr>
            <a:r>
              <a:rPr lang="zh-CN" altLang="en-US" kern="0" dirty="0" smtClean="0">
                <a:solidFill>
                  <a:prstClr val="black">
                    <a:lumMod val="85000"/>
                    <a:lumOff val="15000"/>
                  </a:prstClr>
                </a:solidFill>
                <a:latin typeface="楷体" panose="02010609060101010101" pitchFamily="49" charset="-122"/>
                <a:ea typeface="楷体" panose="02010609060101010101" pitchFamily="49" charset="-122"/>
              </a:rPr>
              <a:t>残局思考</a:t>
            </a:r>
            <a:endParaRPr lang="zh-CN" altLang="en-US" kern="0" dirty="0">
              <a:solidFill>
                <a:prstClr val="black">
                  <a:lumMod val="85000"/>
                  <a:lumOff val="15000"/>
                </a:prstClr>
              </a:solidFill>
              <a:latin typeface="楷体" panose="02010609060101010101" pitchFamily="49" charset="-122"/>
              <a:ea typeface="楷体" panose="02010609060101010101" pitchFamily="49" charset="-122"/>
            </a:endParaRPr>
          </a:p>
        </p:txBody>
      </p:sp>
      <p:sp>
        <p:nvSpPr>
          <p:cNvPr id="3" name="矩形 2"/>
          <p:cNvSpPr/>
          <p:nvPr/>
        </p:nvSpPr>
        <p:spPr>
          <a:xfrm>
            <a:off x="778607" y="1859340"/>
            <a:ext cx="9924143" cy="4247317"/>
          </a:xfrm>
          <a:prstGeom prst="rect">
            <a:avLst/>
          </a:prstGeom>
        </p:spPr>
        <p:txBody>
          <a:bodyPr wrap="square">
            <a:spAutoFit/>
          </a:bodyPr>
          <a:lstStyle/>
          <a:p>
            <a:r>
              <a:rPr lang="zh-CN" altLang="en-US" dirty="0" smtClean="0">
                <a:latin typeface="楷体" panose="02010609060101010101" pitchFamily="49" charset="-122"/>
                <a:ea typeface="楷体" panose="02010609060101010101" pitchFamily="49" charset="-122"/>
              </a:rPr>
              <a:t>为什么进了十张要关注起来，因为</a:t>
            </a:r>
            <a:r>
              <a:rPr lang="en-US" altLang="zh-CN" dirty="0" smtClean="0">
                <a:latin typeface="楷体" panose="02010609060101010101" pitchFamily="49" charset="-122"/>
                <a:ea typeface="楷体" panose="02010609060101010101" pitchFamily="49" charset="-122"/>
              </a:rPr>
              <a:t>10</a:t>
            </a:r>
            <a:r>
              <a:rPr lang="zh-CN" altLang="en-US" dirty="0" smtClean="0">
                <a:latin typeface="楷体" panose="02010609060101010101" pitchFamily="49" charset="-122"/>
                <a:ea typeface="楷体" panose="02010609060101010101" pitchFamily="49" charset="-122"/>
              </a:rPr>
              <a:t>张牌，两手是可以走掉的，所以你不能给他任何顺牌的机会。很多掼蛋口诀，告诉你的就是这点。口诀是让你不犯极低级错误，但不一定能往让你打正确。</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反向思考，那就是当你的搭档剩</a:t>
            </a:r>
            <a:r>
              <a:rPr lang="en-US" altLang="zh-CN" dirty="0" smtClean="0">
                <a:latin typeface="楷体" panose="02010609060101010101" pitchFamily="49" charset="-122"/>
                <a:ea typeface="楷体" panose="02010609060101010101" pitchFamily="49" charset="-122"/>
              </a:rPr>
              <a:t>10</a:t>
            </a:r>
            <a:r>
              <a:rPr lang="zh-CN" altLang="en-US" dirty="0" smtClean="0">
                <a:latin typeface="楷体" panose="02010609060101010101" pitchFamily="49" charset="-122"/>
                <a:ea typeface="楷体" panose="02010609060101010101" pitchFamily="49" charset="-122"/>
              </a:rPr>
              <a:t>张以内的时候，你尽量出牌正确，让他能够顺掉一手牌后，走掉手中的牌。</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当对家或敌手只剩</a:t>
            </a:r>
            <a:r>
              <a:rPr lang="en-US" altLang="zh-CN" dirty="0" smtClean="0">
                <a:latin typeface="楷体" panose="02010609060101010101" pitchFamily="49" charset="-122"/>
                <a:ea typeface="楷体" panose="02010609060101010101" pitchFamily="49" charset="-122"/>
              </a:rPr>
              <a:t>10</a:t>
            </a:r>
            <a:r>
              <a:rPr lang="zh-CN" altLang="en-US" dirty="0" smtClean="0">
                <a:latin typeface="楷体" panose="02010609060101010101" pitchFamily="49" charset="-122"/>
                <a:ea typeface="楷体" panose="02010609060101010101" pitchFamily="49" charset="-122"/>
              </a:rPr>
              <a:t>张牌时，你脑袋里都在想啥？（他还剩</a:t>
            </a:r>
            <a:r>
              <a:rPr lang="en-US" altLang="zh-CN" dirty="0" smtClean="0">
                <a:latin typeface="楷体" panose="02010609060101010101" pitchFamily="49" charset="-122"/>
                <a:ea typeface="楷体" panose="02010609060101010101" pitchFamily="49" charset="-122"/>
              </a:rPr>
              <a:t>10</a:t>
            </a:r>
            <a:r>
              <a:rPr lang="zh-CN" altLang="en-US" dirty="0" smtClean="0">
                <a:latin typeface="楷体" panose="02010609060101010101" pitchFamily="49" charset="-122"/>
                <a:ea typeface="楷体" panose="02010609060101010101" pitchFamily="49" charset="-122"/>
              </a:rPr>
              <a:t>张了，他怎么就剩</a:t>
            </a:r>
            <a:r>
              <a:rPr lang="en-US" altLang="zh-CN" dirty="0" smtClean="0">
                <a:latin typeface="楷体" panose="02010609060101010101" pitchFamily="49" charset="-122"/>
                <a:ea typeface="楷体" panose="02010609060101010101" pitchFamily="49" charset="-122"/>
              </a:rPr>
              <a:t>10</a:t>
            </a:r>
            <a:r>
              <a:rPr lang="zh-CN" altLang="en-US" dirty="0" smtClean="0">
                <a:latin typeface="楷体" panose="02010609060101010101" pitchFamily="49" charset="-122"/>
                <a:ea typeface="楷体" panose="02010609060101010101" pitchFamily="49" charset="-122"/>
              </a:rPr>
              <a:t>张了呢，他的</a:t>
            </a:r>
            <a:r>
              <a:rPr lang="en-US" altLang="zh-CN" dirty="0" smtClean="0">
                <a:latin typeface="楷体" panose="02010609060101010101" pitchFamily="49" charset="-122"/>
                <a:ea typeface="楷体" panose="02010609060101010101" pitchFamily="49" charset="-122"/>
              </a:rPr>
              <a:t>10</a:t>
            </a:r>
            <a:r>
              <a:rPr lang="zh-CN" altLang="en-US" dirty="0" smtClean="0">
                <a:latin typeface="楷体" panose="02010609060101010101" pitchFamily="49" charset="-122"/>
                <a:ea typeface="楷体" panose="02010609060101010101" pitchFamily="49" charset="-122"/>
              </a:rPr>
              <a:t>张都是什么东西呢？</a:t>
            </a:r>
            <a:r>
              <a:rPr lang="en-US" altLang="zh-CN" dirty="0" smtClean="0">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zh-CN" altLang="en-US" dirty="0">
                <a:solidFill>
                  <a:srgbClr val="FF0000"/>
                </a:solidFill>
                <a:latin typeface="楷体" panose="02010609060101010101" pitchFamily="49" charset="-122"/>
                <a:ea typeface="楷体" panose="02010609060101010101" pitchFamily="49" charset="-122"/>
              </a:rPr>
              <a:t>猜得中就按猜中的</a:t>
            </a:r>
            <a:r>
              <a:rPr lang="zh-CN" altLang="en-US" dirty="0" smtClean="0">
                <a:solidFill>
                  <a:srgbClr val="FF0000"/>
                </a:solidFill>
                <a:latin typeface="楷体" panose="02010609060101010101" pitchFamily="49" charset="-122"/>
                <a:ea typeface="楷体" panose="02010609060101010101" pitchFamily="49" charset="-122"/>
              </a:rPr>
              <a:t>出；猜不中就试，不想试就按手里的牌出，顺带看能不能碰巧让对家顺走。不想猜，就以自己为主。但很多时候，搭档会因为你没送他，而耿耿于怀。</a:t>
            </a:r>
            <a:endParaRPr lang="en-US" altLang="zh-CN" dirty="0">
              <a:solidFill>
                <a:srgbClr val="FF0000"/>
              </a:solidFill>
              <a:latin typeface="楷体" panose="02010609060101010101" pitchFamily="49" charset="-122"/>
              <a:ea typeface="楷体" panose="02010609060101010101" pitchFamily="49" charset="-122"/>
            </a:endParaRPr>
          </a:p>
          <a:p>
            <a:endParaRPr lang="en-US" altLang="zh-CN" dirty="0" smtClean="0">
              <a:latin typeface="楷体" panose="02010609060101010101" pitchFamily="49" charset="-122"/>
              <a:ea typeface="楷体" panose="02010609060101010101" pitchFamily="49" charset="-122"/>
            </a:endParaRPr>
          </a:p>
          <a:p>
            <a:r>
              <a:rPr lang="en-US" altLang="zh-CN" dirty="0" smtClean="0">
                <a:latin typeface="楷体" panose="02010609060101010101" pitchFamily="49" charset="-122"/>
                <a:ea typeface="楷体" panose="02010609060101010101" pitchFamily="49" charset="-122"/>
              </a:rPr>
              <a:t>10</a:t>
            </a:r>
            <a:r>
              <a:rPr lang="zh-CN" altLang="en-US" dirty="0" smtClean="0">
                <a:latin typeface="楷体" panose="02010609060101010101" pitchFamily="49" charset="-122"/>
                <a:ea typeface="楷体" panose="02010609060101010101" pitchFamily="49" charset="-122"/>
              </a:rPr>
              <a:t>张牌的各种情形：</a:t>
            </a:r>
            <a:r>
              <a:rPr lang="en-US" altLang="zh-CN" dirty="0" smtClean="0">
                <a:latin typeface="楷体" panose="02010609060101010101" pitchFamily="49" charset="-122"/>
                <a:ea typeface="楷体" panose="02010609060101010101" pitchFamily="49" charset="-122"/>
              </a:rPr>
              <a:t>4411</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541</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442</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4222</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55</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433</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46</a:t>
            </a:r>
            <a:endParaRPr lang="en-US" altLang="zh-CN" dirty="0" smtClean="0">
              <a:latin typeface="楷体" panose="02010609060101010101" pitchFamily="49" charset="-122"/>
              <a:ea typeface="楷体" panose="02010609060101010101" pitchFamily="49" charset="-122"/>
            </a:endParaRPr>
          </a:p>
          <a:p>
            <a:r>
              <a:rPr lang="en-US" altLang="zh-CN" dirty="0" smtClean="0">
                <a:latin typeface="楷体" panose="02010609060101010101" pitchFamily="49" charset="-122"/>
                <a:ea typeface="楷体" panose="02010609060101010101" pitchFamily="49" charset="-122"/>
              </a:rPr>
              <a:t>9</a:t>
            </a:r>
            <a:r>
              <a:rPr lang="zh-CN" altLang="en-US" dirty="0" smtClean="0">
                <a:latin typeface="楷体" panose="02010609060101010101" pitchFamily="49" charset="-122"/>
                <a:ea typeface="楷体" panose="02010609060101010101" pitchFamily="49" charset="-122"/>
              </a:rPr>
              <a:t>张牌的各种情形：</a:t>
            </a:r>
            <a:r>
              <a:rPr lang="en-US" altLang="zh-CN" dirty="0" smtClean="0">
                <a:latin typeface="楷体" panose="02010609060101010101" pitchFamily="49" charset="-122"/>
                <a:ea typeface="楷体" panose="02010609060101010101" pitchFamily="49" charset="-122"/>
              </a:rPr>
              <a:t>54</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441</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522</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531</a:t>
            </a:r>
            <a:endParaRPr lang="en-US" altLang="zh-CN" dirty="0" smtClean="0">
              <a:latin typeface="楷体" panose="02010609060101010101" pitchFamily="49" charset="-122"/>
              <a:ea typeface="楷体" panose="02010609060101010101" pitchFamily="49" charset="-122"/>
            </a:endParaRPr>
          </a:p>
          <a:p>
            <a:r>
              <a:rPr lang="en-US" altLang="zh-CN" dirty="0" smtClean="0">
                <a:latin typeface="楷体" panose="02010609060101010101" pitchFamily="49" charset="-122"/>
                <a:ea typeface="楷体" panose="02010609060101010101" pitchFamily="49" charset="-122"/>
              </a:rPr>
              <a:t>8</a:t>
            </a:r>
            <a:r>
              <a:rPr lang="zh-CN" altLang="en-US" dirty="0" smtClean="0">
                <a:latin typeface="楷体" panose="02010609060101010101" pitchFamily="49" charset="-122"/>
                <a:ea typeface="楷体" panose="02010609060101010101" pitchFamily="49" charset="-122"/>
              </a:rPr>
              <a:t>张</a:t>
            </a:r>
            <a:r>
              <a:rPr lang="zh-CN" altLang="en-US" dirty="0">
                <a:latin typeface="楷体" panose="02010609060101010101" pitchFamily="49" charset="-122"/>
                <a:ea typeface="楷体" panose="02010609060101010101" pitchFamily="49" charset="-122"/>
              </a:rPr>
              <a:t>牌的各种情形</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44</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422</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431</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53</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521</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62</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611</a:t>
            </a:r>
          </a:p>
          <a:p>
            <a:r>
              <a:rPr lang="en-US" altLang="zh-CN" dirty="0">
                <a:latin typeface="楷体" panose="02010609060101010101" pitchFamily="49" charset="-122"/>
                <a:ea typeface="楷体" panose="02010609060101010101" pitchFamily="49" charset="-122"/>
              </a:rPr>
              <a:t>7</a:t>
            </a:r>
            <a:r>
              <a:rPr lang="zh-CN" altLang="en-US" dirty="0" smtClean="0">
                <a:latin typeface="楷体" panose="02010609060101010101" pitchFamily="49" charset="-122"/>
                <a:ea typeface="楷体" panose="02010609060101010101" pitchFamily="49" charset="-122"/>
              </a:rPr>
              <a:t>张</a:t>
            </a:r>
            <a:r>
              <a:rPr lang="zh-CN" altLang="en-US" dirty="0">
                <a:latin typeface="楷体" panose="02010609060101010101" pitchFamily="49" charset="-122"/>
                <a:ea typeface="楷体" panose="02010609060101010101" pitchFamily="49" charset="-122"/>
              </a:rPr>
              <a:t>牌的各种情形</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421</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43</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52</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511</a:t>
            </a:r>
          </a:p>
          <a:p>
            <a:r>
              <a:rPr lang="en-US" altLang="zh-CN" dirty="0" smtClean="0">
                <a:latin typeface="楷体" panose="02010609060101010101" pitchFamily="49" charset="-122"/>
                <a:ea typeface="楷体" panose="02010609060101010101" pitchFamily="49" charset="-122"/>
              </a:rPr>
              <a:t>6</a:t>
            </a:r>
            <a:r>
              <a:rPr lang="zh-CN" altLang="en-US" dirty="0" smtClean="0">
                <a:latin typeface="楷体" panose="02010609060101010101" pitchFamily="49" charset="-122"/>
                <a:ea typeface="楷体" panose="02010609060101010101" pitchFamily="49" charset="-122"/>
              </a:rPr>
              <a:t>张</a:t>
            </a:r>
            <a:r>
              <a:rPr lang="zh-CN" altLang="en-US" dirty="0">
                <a:latin typeface="楷体" panose="02010609060101010101" pitchFamily="49" charset="-122"/>
                <a:ea typeface="楷体" panose="02010609060101010101" pitchFamily="49" charset="-122"/>
              </a:rPr>
              <a:t>牌的各种情形</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42</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411</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51</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6</a:t>
            </a:r>
          </a:p>
          <a:p>
            <a:r>
              <a:rPr lang="en-US" altLang="zh-CN" dirty="0" smtClean="0">
                <a:latin typeface="楷体" panose="02010609060101010101" pitchFamily="49" charset="-122"/>
                <a:ea typeface="楷体" panose="02010609060101010101" pitchFamily="49" charset="-122"/>
              </a:rPr>
              <a:t>5</a:t>
            </a:r>
            <a:r>
              <a:rPr lang="zh-CN" altLang="en-US" dirty="0" smtClean="0">
                <a:latin typeface="楷体" panose="02010609060101010101" pitchFamily="49" charset="-122"/>
                <a:ea typeface="楷体" panose="02010609060101010101" pitchFamily="49" charset="-122"/>
              </a:rPr>
              <a:t>张</a:t>
            </a:r>
            <a:r>
              <a:rPr lang="zh-CN" altLang="en-US" dirty="0">
                <a:latin typeface="楷体" panose="02010609060101010101" pitchFamily="49" charset="-122"/>
                <a:ea typeface="楷体" panose="02010609060101010101" pitchFamily="49" charset="-122"/>
              </a:rPr>
              <a:t>牌的各种情形</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41</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5</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32</a:t>
            </a:r>
            <a:endParaRPr lang="zh-CN" altLang="en-US" dirty="0">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368125144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8608" y="397155"/>
            <a:ext cx="10850563" cy="535531"/>
          </a:xfrm>
        </p:spPr>
        <p:txBody>
          <a:bodyPr vert="horz" lIns="91440" tIns="45720" rIns="91440" bIns="45720" rtlCol="0" anchor="b">
            <a:spAutoFit/>
          </a:bodyPr>
          <a:lstStyle/>
          <a:p>
            <a:pPr algn="l">
              <a:lnSpc>
                <a:spcPct val="120000"/>
              </a:lnSpc>
              <a:buClrTx/>
              <a:buSzTx/>
              <a:buFontTx/>
            </a:pPr>
            <a:r>
              <a:rPr lang="en-US" altLang="zh-CN" sz="2400" dirty="0" smtClean="0">
                <a:solidFill>
                  <a:srgbClr val="0F2C5D"/>
                </a:solidFill>
                <a:latin typeface="黑体" panose="02010609060101010101" charset="-122"/>
                <a:ea typeface="黑体" panose="02010609060101010101" charset="-122"/>
                <a:cs typeface="黑体" panose="02010609060101010101" charset="-122"/>
              </a:rPr>
              <a:t>7.1 </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打牌</a:t>
            </a:r>
            <a:r>
              <a:rPr lang="zh-CN" altLang="en-US" sz="2400" dirty="0" smtClean="0">
                <a:solidFill>
                  <a:srgbClr val="0F2C5D"/>
                </a:solidFill>
                <a:latin typeface="黑体" panose="02010609060101010101" charset="-122"/>
                <a:ea typeface="黑体" panose="02010609060101010101" charset="-122"/>
                <a:cs typeface="黑体" panose="02010609060101010101" charset="-122"/>
              </a:rPr>
              <a:t>中的迷糊与迷惘</a:t>
            </a:r>
            <a:endParaRPr lang="zh-CN" altLang="en-US" sz="2400" dirty="0">
              <a:solidFill>
                <a:srgbClr val="0F2C5D"/>
              </a:solidFill>
              <a:latin typeface="黑体" panose="02010609060101010101" charset="-122"/>
              <a:ea typeface="黑体" panose="02010609060101010101" charset="-122"/>
              <a:cs typeface="黑体" panose="02010609060101010101" charset="-122"/>
            </a:endParaRPr>
          </a:p>
        </p:txBody>
      </p:sp>
      <p:cxnSp>
        <p:nvCxnSpPr>
          <p:cNvPr id="10" name="直接连接符 9">
            <a:extLst>
              <a:ext uri="{FF2B5EF4-FFF2-40B4-BE49-F238E27FC236}">
                <a16:creationId xmlns:a16="http://schemas.microsoft.com/office/drawing/2014/main" id="{CF941740-AC03-4D5D-8A2A-29D8BB300DDE}"/>
              </a:ext>
            </a:extLst>
          </p:cNvPr>
          <p:cNvCxnSpPr>
            <a:cxnSpLocks/>
          </p:cNvCxnSpPr>
          <p:nvPr/>
        </p:nvCxnSpPr>
        <p:spPr>
          <a:xfrm>
            <a:off x="778608" y="1095360"/>
            <a:ext cx="9924143" cy="0"/>
          </a:xfrm>
          <a:prstGeom prst="line">
            <a:avLst/>
          </a:prstGeom>
          <a:ln w="25400">
            <a:solidFill>
              <a:srgbClr val="9B0000"/>
            </a:solidFill>
          </a:ln>
        </p:spPr>
        <p:style>
          <a:lnRef idx="1">
            <a:schemeClr val="accent1"/>
          </a:lnRef>
          <a:fillRef idx="0">
            <a:schemeClr val="accent1"/>
          </a:fillRef>
          <a:effectRef idx="0">
            <a:schemeClr val="accent1"/>
          </a:effectRef>
          <a:fontRef idx="minor">
            <a:schemeClr val="tx1"/>
          </a:fontRef>
        </p:style>
      </p:cxnSp>
      <p:sp>
        <p:nvSpPr>
          <p:cNvPr id="11" name="公众号：陈西设计之家。微信搜索即可">
            <a:extLst>
              <a:ext uri="{FF2B5EF4-FFF2-40B4-BE49-F238E27FC236}">
                <a16:creationId xmlns:a16="http://schemas.microsoft.com/office/drawing/2014/main" id="{84AE0376-066B-4E45-9159-4598F6DFC25D}"/>
              </a:ext>
            </a:extLst>
          </p:cNvPr>
          <p:cNvSpPr/>
          <p:nvPr/>
        </p:nvSpPr>
        <p:spPr>
          <a:xfrm>
            <a:off x="778608" y="932686"/>
            <a:ext cx="723900" cy="174579"/>
          </a:xfrm>
          <a:prstGeom prst="rect">
            <a:avLst/>
          </a:prstGeom>
          <a:solidFill>
            <a:srgbClr val="9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319546" y="1258035"/>
            <a:ext cx="8268337" cy="1200329"/>
          </a:xfrm>
          <a:prstGeom prst="rect">
            <a:avLst/>
          </a:prstGeom>
          <a:noFill/>
        </p:spPr>
        <p:txBody>
          <a:bodyPr wrap="square" rtlCol="0">
            <a:spAutoFit/>
          </a:bodyPr>
          <a:lstStyle/>
          <a:p>
            <a:pPr fontAlgn="auto">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迷糊是两眼不看外面牌，一头扎进手牌中</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迷惘是两眼无助来求救，不知是管是放过</a:t>
            </a:r>
            <a:endParaRPr lang="zh-CN" altLang="en-US" sz="2400" kern="0" dirty="0">
              <a:solidFill>
                <a:prstClr val="black">
                  <a:lumMod val="85000"/>
                  <a:lumOff val="15000"/>
                </a:prstClr>
              </a:solidFill>
              <a:latin typeface="楷体" panose="02010609060101010101" pitchFamily="49" charset="-122"/>
              <a:ea typeface="楷体" panose="02010609060101010101" pitchFamily="49" charset="-122"/>
            </a:endParaRPr>
          </a:p>
        </p:txBody>
      </p:sp>
      <p:sp>
        <p:nvSpPr>
          <p:cNvPr id="8" name="文本框 7"/>
          <p:cNvSpPr txBox="1"/>
          <p:nvPr/>
        </p:nvSpPr>
        <p:spPr>
          <a:xfrm>
            <a:off x="1319545" y="2458364"/>
            <a:ext cx="1743251" cy="3416320"/>
          </a:xfrm>
          <a:prstGeom prst="rect">
            <a:avLst/>
          </a:prstGeom>
          <a:noFill/>
        </p:spPr>
        <p:txBody>
          <a:bodyPr wrap="square" rtlCol="0">
            <a:spAutoFit/>
          </a:bodyPr>
          <a:lstStyle/>
          <a:p>
            <a:pPr fontAlgn="auto">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该不该出</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该不该管</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该不该接</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该不该炸</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该不该冲</a:t>
            </a:r>
            <a:endParaRPr lang="en-US" altLang="zh-CN" sz="2400" kern="0" dirty="0" smtClean="0">
              <a:solidFill>
                <a:prstClr val="black">
                  <a:lumMod val="85000"/>
                  <a:lumOff val="15000"/>
                </a:prstClr>
              </a:solidFill>
              <a:latin typeface="楷体" panose="02010609060101010101" pitchFamily="49" charset="-122"/>
              <a:ea typeface="楷体" panose="02010609060101010101" pitchFamily="49" charset="-122"/>
            </a:endParaRPr>
          </a:p>
          <a:p>
            <a:pPr fontAlgn="auto">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该不该守</a:t>
            </a:r>
            <a:endParaRPr lang="zh-CN" altLang="en-US" sz="2400" kern="0" dirty="0">
              <a:solidFill>
                <a:prstClr val="black">
                  <a:lumMod val="85000"/>
                  <a:lumOff val="15000"/>
                </a:prstClr>
              </a:solidFill>
              <a:latin typeface="楷体" panose="02010609060101010101" pitchFamily="49" charset="-122"/>
              <a:ea typeface="楷体" panose="02010609060101010101" pitchFamily="49" charset="-122"/>
            </a:endParaRPr>
          </a:p>
        </p:txBody>
      </p:sp>
      <p:sp>
        <p:nvSpPr>
          <p:cNvPr id="7" name="文本框 6"/>
          <p:cNvSpPr txBox="1"/>
          <p:nvPr/>
        </p:nvSpPr>
        <p:spPr>
          <a:xfrm>
            <a:off x="3745974" y="3683482"/>
            <a:ext cx="6445591" cy="646331"/>
          </a:xfrm>
          <a:prstGeom prst="rect">
            <a:avLst/>
          </a:prstGeom>
          <a:noFill/>
        </p:spPr>
        <p:txBody>
          <a:bodyPr wrap="square" rtlCol="0">
            <a:spAutoFit/>
          </a:bodyPr>
          <a:lstStyle/>
          <a:p>
            <a:pPr fontAlgn="auto">
              <a:lnSpc>
                <a:spcPct val="150000"/>
              </a:lnSpc>
            </a:pPr>
            <a:r>
              <a:rPr lang="zh-CN" altLang="en-US" sz="2400" kern="0" dirty="0" smtClean="0">
                <a:solidFill>
                  <a:prstClr val="black">
                    <a:lumMod val="85000"/>
                    <a:lumOff val="15000"/>
                  </a:prstClr>
                </a:solidFill>
                <a:latin typeface="楷体" panose="02010609060101010101" pitchFamily="49" charset="-122"/>
                <a:ea typeface="楷体" panose="02010609060101010101" pitchFamily="49" charset="-122"/>
              </a:rPr>
              <a:t>所有这些迷糊与迷惘都是不懂牌路与逻辑</a:t>
            </a:r>
            <a:endParaRPr lang="zh-CN" altLang="en-US" sz="2400" kern="0" dirty="0">
              <a:solidFill>
                <a:prstClr val="black">
                  <a:lumMod val="85000"/>
                  <a:lumOff val="15000"/>
                </a:prstClr>
              </a:solidFill>
              <a:latin typeface="楷体" panose="02010609060101010101" pitchFamily="49" charset="-122"/>
              <a:ea typeface="楷体" panose="02010609060101010101" pitchFamily="49" charset="-122"/>
            </a:endParaRPr>
          </a:p>
        </p:txBody>
      </p:sp>
    </p:spTree>
    <p:custDataLst>
      <p:tags r:id="rId1"/>
    </p:custDataLst>
    <p:extLst>
      <p:ext uri="{BB962C8B-B14F-4D97-AF65-F5344CB8AC3E}">
        <p14:creationId xmlns:p14="http://schemas.microsoft.com/office/powerpoint/2010/main" val="62500403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spid="_x0000_s2217" name="think-cell Slide" r:id="rId4" imgW="9525" imgH="9525" progId="">
                  <p:embed/>
                </p:oleObj>
              </mc:Choice>
              <mc:Fallback>
                <p:oleObj name="think-cell Slide" r:id="rId4" imgW="9525" imgH="9525" progId="">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9" y="1589"/>
                        <a:ext cx="1588" cy="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hidden="1"/>
          <p:cNvSpPr/>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150000"/>
              </a:lnSpc>
              <a:spcBef>
                <a:spcPct val="0"/>
              </a:spcBef>
              <a:spcAft>
                <a:spcPct val="0"/>
              </a:spcAft>
            </a:pPr>
            <a:endParaRPr lang="en-US" altLang="zh-CN" sz="2400" dirty="0">
              <a:cs typeface="+mn-ea"/>
              <a:sym typeface="+mn-lt"/>
            </a:endParaRPr>
          </a:p>
        </p:txBody>
      </p:sp>
      <p:grpSp>
        <p:nvGrpSpPr>
          <p:cNvPr id="6" name="组合 5">
            <a:extLst>
              <a:ext uri="{FF2B5EF4-FFF2-40B4-BE49-F238E27FC236}">
                <a16:creationId xmlns:a16="http://schemas.microsoft.com/office/drawing/2014/main" id="{5B2AA874-0EB4-422C-8341-B1596A15B5E6}"/>
              </a:ext>
            </a:extLst>
          </p:cNvPr>
          <p:cNvGrpSpPr/>
          <p:nvPr/>
        </p:nvGrpSpPr>
        <p:grpSpPr>
          <a:xfrm>
            <a:off x="0" y="2519581"/>
            <a:ext cx="5529078" cy="1714893"/>
            <a:chOff x="6830754" y="906406"/>
            <a:chExt cx="5529078" cy="1714893"/>
          </a:xfrm>
        </p:grpSpPr>
        <p:sp>
          <p:nvSpPr>
            <p:cNvPr id="7" name="文本框 6">
              <a:extLst>
                <a:ext uri="{FF2B5EF4-FFF2-40B4-BE49-F238E27FC236}">
                  <a16:creationId xmlns:a16="http://schemas.microsoft.com/office/drawing/2014/main" id="{235603F1-0189-463B-9187-14304B997690}"/>
                </a:ext>
              </a:extLst>
            </p:cNvPr>
            <p:cNvSpPr txBox="1"/>
            <p:nvPr/>
          </p:nvSpPr>
          <p:spPr>
            <a:xfrm>
              <a:off x="6830754" y="906406"/>
              <a:ext cx="5529078" cy="1714893"/>
            </a:xfrm>
            <a:prstGeom prst="rect">
              <a:avLst/>
            </a:prstGeom>
            <a:noFill/>
          </p:spPr>
          <p:txBody>
            <a:bodyPr wrap="none" rtlCol="0">
              <a:spAutoFit/>
            </a:bodyPr>
            <a:lstStyle/>
            <a:p>
              <a:pPr>
                <a:lnSpc>
                  <a:spcPct val="120000"/>
                </a:lnSpc>
              </a:pPr>
              <a:r>
                <a:rPr lang="en-US" altLang="zh-CN" sz="9600" b="1" dirty="0" smtClean="0">
                  <a:solidFill>
                    <a:schemeClr val="accent5">
                      <a:lumMod val="75000"/>
                    </a:schemeClr>
                  </a:solidFill>
                  <a:latin typeface="微软雅黑" panose="020B0503020204020204" pitchFamily="34" charset="-122"/>
                  <a:ea typeface="微软雅黑" panose="020B0503020204020204" pitchFamily="34" charset="-122"/>
                </a:rPr>
                <a:t>THANKS</a:t>
              </a:r>
              <a:endParaRPr lang="zh-CN" altLang="en-US" sz="96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037CF1D5-0203-4841-B219-7AA0D1CBA081}"/>
                </a:ext>
              </a:extLst>
            </p:cNvPr>
            <p:cNvSpPr txBox="1"/>
            <p:nvPr/>
          </p:nvSpPr>
          <p:spPr>
            <a:xfrm>
              <a:off x="6830754" y="1513135"/>
              <a:ext cx="184731" cy="396583"/>
            </a:xfrm>
            <a:prstGeom prst="rect">
              <a:avLst/>
            </a:prstGeom>
            <a:noFill/>
          </p:spPr>
          <p:txBody>
            <a:bodyPr wrap="none" rtlCol="0">
              <a:spAutoFit/>
            </a:bodyPr>
            <a:lstStyle/>
            <a:p>
              <a:pPr>
                <a:lnSpc>
                  <a:spcPct val="120000"/>
                </a:lnSpc>
              </a:pPr>
              <a:endParaRPr lang="zh-CN" altLang="en-US" dirty="0">
                <a:solidFill>
                  <a:schemeClr val="bg1"/>
                </a:solidFill>
                <a:latin typeface="微软雅黑" panose="020B0503020204020204" pitchFamily="34" charset="-122"/>
                <a:ea typeface="微软雅黑" panose="020B0503020204020204" pitchFamily="34" charset="-122"/>
              </a:endParaRPr>
            </a:p>
          </p:txBody>
        </p:sp>
      </p:grpSp>
      <p:sp>
        <p:nvSpPr>
          <p:cNvPr id="10" name="矩形 9"/>
          <p:cNvSpPr/>
          <p:nvPr/>
        </p:nvSpPr>
        <p:spPr>
          <a:xfrm>
            <a:off x="1523989" y="4923777"/>
            <a:ext cx="2643495" cy="442878"/>
          </a:xfrm>
          <a:prstGeom prst="rect">
            <a:avLst/>
          </a:prstGeom>
        </p:spPr>
        <p:txBody>
          <a:bodyPr wrap="square">
            <a:spAutoFit/>
          </a:bodyPr>
          <a:lstStyle/>
          <a:p>
            <a:pPr algn="ctr">
              <a:lnSpc>
                <a:spcPct val="150000"/>
              </a:lnSpc>
            </a:pPr>
            <a:r>
              <a:rPr lang="zh-CN" altLang="en-US" dirty="0" smtClean="0">
                <a:solidFill>
                  <a:schemeClr val="accent5">
                    <a:lumMod val="75000"/>
                  </a:schemeClr>
                </a:solidFill>
                <a:latin typeface="黑体" pitchFamily="49" charset="-122"/>
                <a:ea typeface="黑体" pitchFamily="49" charset="-122"/>
              </a:rPr>
              <a:t>二〇二四年三月</a:t>
            </a:r>
            <a:endParaRPr lang="zh-CN" altLang="zh-CN" sz="2000" b="1" i="1" dirty="0">
              <a:solidFill>
                <a:schemeClr val="accent5">
                  <a:lumMod val="75000"/>
                </a:schemeClr>
              </a:solidFill>
              <a:latin typeface="黑体" pitchFamily="49" charset="-122"/>
              <a:ea typeface="黑体" pitchFamily="49" charset="-122"/>
            </a:endParaRPr>
          </a:p>
        </p:txBody>
      </p:sp>
      <p:sp>
        <p:nvSpPr>
          <p:cNvPr id="11" name="矩形 10"/>
          <p:cNvSpPr/>
          <p:nvPr/>
        </p:nvSpPr>
        <p:spPr>
          <a:xfrm>
            <a:off x="2325959" y="4394459"/>
            <a:ext cx="877163" cy="369332"/>
          </a:xfrm>
          <a:prstGeom prst="rect">
            <a:avLst/>
          </a:prstGeom>
        </p:spPr>
        <p:txBody>
          <a:bodyPr wrap="none">
            <a:spAutoFit/>
          </a:bodyPr>
          <a:lstStyle/>
          <a:p>
            <a:pPr algn="ctr"/>
            <a:r>
              <a:rPr lang="zh-CN" altLang="en-US" dirty="0" smtClean="0">
                <a:solidFill>
                  <a:schemeClr val="accent5">
                    <a:lumMod val="75000"/>
                  </a:schemeClr>
                </a:solidFill>
                <a:effectLst>
                  <a:outerShdw blurRad="38100" dist="38100" dir="2700000" algn="tl">
                    <a:srgbClr val="000000">
                      <a:alpha val="30000"/>
                    </a:srgbClr>
                  </a:outerShdw>
                </a:effectLst>
                <a:cs typeface="+mn-ea"/>
                <a:sym typeface="+mn-lt"/>
              </a:rPr>
              <a:t>张彦波</a:t>
            </a:r>
            <a:endParaRPr lang="pt-BR" altLang="zh-CN" dirty="0">
              <a:solidFill>
                <a:schemeClr val="accent5">
                  <a:lumMod val="75000"/>
                </a:schemeClr>
              </a:solidFill>
              <a:effectLst>
                <a:outerShdw blurRad="38100" dist="38100" dir="2700000" algn="tl">
                  <a:srgbClr val="000000">
                    <a:alpha val="30000"/>
                  </a:srgbClr>
                </a:outerShdw>
              </a:effectLst>
              <a:cs typeface="+mn-ea"/>
              <a:sym typeface="+mn-lt"/>
            </a:endParaRPr>
          </a:p>
        </p:txBody>
      </p:sp>
      <p:sp>
        <p:nvSpPr>
          <p:cNvPr id="13" name="公众号：陈西设计之家。微信搜索即可">
            <a:extLst>
              <a:ext uri="{FF2B5EF4-FFF2-40B4-BE49-F238E27FC236}">
                <a16:creationId xmlns:a16="http://schemas.microsoft.com/office/drawing/2014/main" id="{8EBA006C-B640-4667-A0EE-A64153A87C9E}"/>
              </a:ext>
            </a:extLst>
          </p:cNvPr>
          <p:cNvSpPr/>
          <p:nvPr/>
        </p:nvSpPr>
        <p:spPr>
          <a:xfrm>
            <a:off x="184731" y="979917"/>
            <a:ext cx="2419036" cy="4571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3796544E-EBCB-4CA7-BF6B-E84A8D968130}"/>
              </a:ext>
            </a:extLst>
          </p:cNvPr>
          <p:cNvGrpSpPr/>
          <p:nvPr/>
        </p:nvGrpSpPr>
        <p:grpSpPr>
          <a:xfrm rot="10800000">
            <a:off x="222832" y="1294861"/>
            <a:ext cx="1096224" cy="1348382"/>
            <a:chOff x="11719257" y="5576280"/>
            <a:chExt cx="215568" cy="553058"/>
          </a:xfrm>
        </p:grpSpPr>
        <p:cxnSp>
          <p:nvCxnSpPr>
            <p:cNvPr id="15" name="直接连接符 14">
              <a:extLst>
                <a:ext uri="{FF2B5EF4-FFF2-40B4-BE49-F238E27FC236}">
                  <a16:creationId xmlns:a16="http://schemas.microsoft.com/office/drawing/2014/main" id="{15801F85-C4DE-406F-B7A6-6F1F83991A33}"/>
                </a:ext>
              </a:extLst>
            </p:cNvPr>
            <p:cNvCxnSpPr/>
            <p:nvPr/>
          </p:nvCxnSpPr>
          <p:spPr>
            <a:xfrm rot="10800000" flipV="1">
              <a:off x="11934825" y="5576280"/>
              <a:ext cx="0" cy="553058"/>
            </a:xfrm>
            <a:prstGeom prst="line">
              <a:avLst/>
            </a:prstGeom>
            <a:ln w="28575">
              <a:solidFill>
                <a:srgbClr val="9B0000">
                  <a:alpha val="20000"/>
                </a:srgb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B24F5449-E66C-4D6C-9F94-5013267ABF7F}"/>
                </a:ext>
              </a:extLst>
            </p:cNvPr>
            <p:cNvCxnSpPr>
              <a:cxnSpLocks/>
            </p:cNvCxnSpPr>
            <p:nvPr/>
          </p:nvCxnSpPr>
          <p:spPr>
            <a:xfrm rot="10800000" flipV="1">
              <a:off x="11862969" y="5801831"/>
              <a:ext cx="0" cy="327506"/>
            </a:xfrm>
            <a:prstGeom prst="line">
              <a:avLst/>
            </a:prstGeom>
            <a:ln w="28575">
              <a:solidFill>
                <a:srgbClr val="9B0000">
                  <a:alpha val="20000"/>
                </a:srgb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B0FBFF9F-8CD8-4D78-BA39-FFDCCFEB57A3}"/>
                </a:ext>
              </a:extLst>
            </p:cNvPr>
            <p:cNvCxnSpPr>
              <a:cxnSpLocks/>
            </p:cNvCxnSpPr>
            <p:nvPr/>
          </p:nvCxnSpPr>
          <p:spPr>
            <a:xfrm>
              <a:off x="11791113" y="5927188"/>
              <a:ext cx="0" cy="202150"/>
            </a:xfrm>
            <a:prstGeom prst="line">
              <a:avLst/>
            </a:prstGeom>
            <a:ln w="28575">
              <a:solidFill>
                <a:srgbClr val="9B0000">
                  <a:alpha val="20000"/>
                </a:srgb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560FC21C-B6F1-45F6-B8AF-1FD9A0800969}"/>
                </a:ext>
              </a:extLst>
            </p:cNvPr>
            <p:cNvCxnSpPr>
              <a:cxnSpLocks/>
            </p:cNvCxnSpPr>
            <p:nvPr/>
          </p:nvCxnSpPr>
          <p:spPr>
            <a:xfrm rot="10800000" flipV="1">
              <a:off x="11719257" y="6056838"/>
              <a:ext cx="0" cy="72500"/>
            </a:xfrm>
            <a:prstGeom prst="line">
              <a:avLst/>
            </a:prstGeom>
            <a:ln w="28575">
              <a:solidFill>
                <a:srgbClr val="9B0000">
                  <a:alpha val="20000"/>
                </a:srgb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3796544E-EBCB-4CA7-BF6B-E84A8D968130}"/>
              </a:ext>
            </a:extLst>
          </p:cNvPr>
          <p:cNvGrpSpPr/>
          <p:nvPr/>
        </p:nvGrpSpPr>
        <p:grpSpPr>
          <a:xfrm>
            <a:off x="11374315" y="5933832"/>
            <a:ext cx="563729" cy="748250"/>
            <a:chOff x="11719257" y="5807269"/>
            <a:chExt cx="215568" cy="322069"/>
          </a:xfrm>
        </p:grpSpPr>
        <p:cxnSp>
          <p:nvCxnSpPr>
            <p:cNvPr id="20" name="直接连接符 19">
              <a:extLst>
                <a:ext uri="{FF2B5EF4-FFF2-40B4-BE49-F238E27FC236}">
                  <a16:creationId xmlns:a16="http://schemas.microsoft.com/office/drawing/2014/main" id="{15801F85-C4DE-406F-B7A6-6F1F83991A33}"/>
                </a:ext>
              </a:extLst>
            </p:cNvPr>
            <p:cNvCxnSpPr/>
            <p:nvPr/>
          </p:nvCxnSpPr>
          <p:spPr>
            <a:xfrm>
              <a:off x="11934825" y="5807269"/>
              <a:ext cx="0" cy="322069"/>
            </a:xfrm>
            <a:prstGeom prst="line">
              <a:avLst/>
            </a:prstGeom>
            <a:ln w="28575">
              <a:solidFill>
                <a:srgbClr val="9B0000">
                  <a:alpha val="20000"/>
                </a:srgb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B24F5449-E66C-4D6C-9F94-5013267ABF7F}"/>
                </a:ext>
              </a:extLst>
            </p:cNvPr>
            <p:cNvCxnSpPr>
              <a:cxnSpLocks/>
            </p:cNvCxnSpPr>
            <p:nvPr/>
          </p:nvCxnSpPr>
          <p:spPr>
            <a:xfrm>
              <a:off x="11862969" y="5867400"/>
              <a:ext cx="0" cy="261938"/>
            </a:xfrm>
            <a:prstGeom prst="line">
              <a:avLst/>
            </a:prstGeom>
            <a:ln w="28575">
              <a:solidFill>
                <a:srgbClr val="9B0000">
                  <a:alpha val="20000"/>
                </a:srgbClr>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B0FBFF9F-8CD8-4D78-BA39-FFDCCFEB57A3}"/>
                </a:ext>
              </a:extLst>
            </p:cNvPr>
            <p:cNvCxnSpPr>
              <a:cxnSpLocks/>
            </p:cNvCxnSpPr>
            <p:nvPr/>
          </p:nvCxnSpPr>
          <p:spPr>
            <a:xfrm>
              <a:off x="11791113" y="5927188"/>
              <a:ext cx="0" cy="202150"/>
            </a:xfrm>
            <a:prstGeom prst="line">
              <a:avLst/>
            </a:prstGeom>
            <a:ln w="28575">
              <a:solidFill>
                <a:srgbClr val="9B0000">
                  <a:alpha val="20000"/>
                </a:srgb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560FC21C-B6F1-45F6-B8AF-1FD9A0800969}"/>
                </a:ext>
              </a:extLst>
            </p:cNvPr>
            <p:cNvCxnSpPr>
              <a:cxnSpLocks/>
            </p:cNvCxnSpPr>
            <p:nvPr/>
          </p:nvCxnSpPr>
          <p:spPr>
            <a:xfrm>
              <a:off x="11719257" y="5984338"/>
              <a:ext cx="0" cy="145000"/>
            </a:xfrm>
            <a:prstGeom prst="line">
              <a:avLst/>
            </a:prstGeom>
            <a:ln w="28575">
              <a:solidFill>
                <a:srgbClr val="9B0000">
                  <a:alpha val="20000"/>
                </a:srgbClr>
              </a:solidFill>
            </a:ln>
          </p:spPr>
          <p:style>
            <a:lnRef idx="1">
              <a:schemeClr val="accent1"/>
            </a:lnRef>
            <a:fillRef idx="0">
              <a:schemeClr val="accent1"/>
            </a:fillRef>
            <a:effectRef idx="0">
              <a:schemeClr val="accent1"/>
            </a:effectRef>
            <a:fontRef idx="minor">
              <a:schemeClr val="tx1"/>
            </a:fontRef>
          </p:style>
        </p:cxnSp>
      </p:grpSp>
    </p:spTree>
    <p:custDataLst>
      <p:tags r:id="rId2"/>
    </p:custDataLst>
    <p:extLst>
      <p:ext uri="{BB962C8B-B14F-4D97-AF65-F5344CB8AC3E}">
        <p14:creationId xmlns:p14="http://schemas.microsoft.com/office/powerpoint/2010/main" val="2613333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ppt_x"/>
                                          </p:val>
                                        </p:tav>
                                        <p:tav tm="100000">
                                          <p:val>
                                            <p:strVal val="#ppt_x"/>
                                          </p:val>
                                        </p:tav>
                                      </p:tavLst>
                                    </p:anim>
                                    <p:anim calcmode="lin" valueType="num">
                                      <p:cBhvr additive="base">
                                        <p:cTn id="8" dur="75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tags/tag1.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2.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3.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4.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5.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6.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7.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8.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9.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0.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11.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12.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13.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14.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15.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16.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17.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18.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19.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20.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21.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22.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23.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24.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25.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26.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27.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28.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29.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30.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31.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32.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33.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34.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35.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36.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37.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38.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39.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40.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41.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42.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43.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44.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45.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46.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47.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48.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49.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50.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51.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52.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53.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54.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55.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56.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57.xml><?xml version="1.0" encoding="utf-8"?>
<p:tagLst xmlns:a="http://schemas.openxmlformats.org/drawingml/2006/main" xmlns:r="http://schemas.openxmlformats.org/officeDocument/2006/relationships" xmlns:p="http://schemas.openxmlformats.org/presentationml/2006/main">
  <p:tag name="ISLIDE.TEMPLATE" val="https://www.islide.cc;"/>
  <p:tag name="ISLIDE.ICON" val="#13172;#169183;#169188;#169183;#169019;#136596;#95748;#49649;#138240;#179744;"/>
</p:tagLst>
</file>

<file path=ppt/tags/tag58.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kuaqg1c">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vert="eaVert" wrap="square" rtlCol="0">
        <a:spAutoFit/>
      </a:bodyPr>
      <a:lstStyle>
        <a:defPPr>
          <a:defRPr sz="48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5081</TotalTime>
  <Words>12634</Words>
  <Application>Microsoft Office PowerPoint</Application>
  <PresentationFormat>宽屏</PresentationFormat>
  <Paragraphs>497</Paragraphs>
  <Slides>60</Slides>
  <Notes>2</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1</vt:i4>
      </vt:variant>
      <vt:variant>
        <vt:lpstr>幻灯片标题</vt:lpstr>
      </vt:variant>
      <vt:variant>
        <vt:i4>60</vt:i4>
      </vt:variant>
    </vt:vector>
  </HeadingPairs>
  <TitlesOfParts>
    <vt:vector size="73" baseType="lpstr">
      <vt:lpstr>等线</vt:lpstr>
      <vt:lpstr>黑体</vt:lpstr>
      <vt:lpstr>楷体</vt:lpstr>
      <vt:lpstr>宋体</vt:lpstr>
      <vt:lpstr>微软雅黑</vt:lpstr>
      <vt:lpstr>Arial</vt:lpstr>
      <vt:lpstr>Calibri</vt:lpstr>
      <vt:lpstr>Cambria Math</vt:lpstr>
      <vt:lpstr>Times New Roman</vt:lpstr>
      <vt:lpstr>Wingdings</vt:lpstr>
      <vt:lpstr>第一PPT，www.1ppt.com</vt:lpstr>
      <vt:lpstr>自定义设计方案</vt:lpstr>
      <vt:lpstr>think-cell Slide</vt:lpstr>
      <vt:lpstr>PowerPoint 演示文稿</vt:lpstr>
      <vt:lpstr>三分钟学会掼蛋</vt:lpstr>
      <vt:lpstr>1.1 掼蛋的基本打法及规则</vt:lpstr>
      <vt:lpstr>1.2 掼蛋为什么这么快在全国范围普及</vt:lpstr>
      <vt:lpstr>掼蛋的全局估量与思考</vt:lpstr>
      <vt:lpstr>2.1 掼蛋的逻辑</vt:lpstr>
      <vt:lpstr>2.1 掼蛋的逻辑</vt:lpstr>
      <vt:lpstr>2.1 掼蛋的逻辑</vt:lpstr>
      <vt:lpstr>2.2 掼蛋的几种获胜途径</vt:lpstr>
      <vt:lpstr>整体的技巧与原则</vt:lpstr>
      <vt:lpstr>3.1 掼蛋中对牌的认识</vt:lpstr>
      <vt:lpstr>3.2 整手牌价值分析</vt:lpstr>
      <vt:lpstr>3.2 整手牌价值分析</vt:lpstr>
      <vt:lpstr>3.3 整理手中的牌</vt:lpstr>
      <vt:lpstr>3.3 整理手中的牌</vt:lpstr>
      <vt:lpstr>3.3 整理手中的牌</vt:lpstr>
      <vt:lpstr>3.4 掼蛋中对牌型的认知</vt:lpstr>
      <vt:lpstr>3.5 掼蛋中对出牌的认识</vt:lpstr>
      <vt:lpstr>3.5 掼蛋中对出牌的认识</vt:lpstr>
      <vt:lpstr>3.6 掼蛋中炸弹的运用</vt:lpstr>
      <vt:lpstr>3.6 掼蛋中炸弹的运用</vt:lpstr>
      <vt:lpstr>3.6 掼蛋中炸弹的运用</vt:lpstr>
      <vt:lpstr>3.6 掼蛋中炸弹的运用</vt:lpstr>
      <vt:lpstr>3.6 掼蛋中炸弹的运用</vt:lpstr>
      <vt:lpstr>3.6 掼蛋中炸弹的运用</vt:lpstr>
      <vt:lpstr>掼蛋中的信息学</vt:lpstr>
      <vt:lpstr>3.1 扑克牌中的信息学</vt:lpstr>
      <vt:lpstr>3.1.1 扑克牌中的概率</vt:lpstr>
      <vt:lpstr>3.1.1 扑克牌中的概率</vt:lpstr>
      <vt:lpstr>3.1.1 扑克牌中的概率</vt:lpstr>
      <vt:lpstr>3.1.1 扑克牌中的概率</vt:lpstr>
      <vt:lpstr>3.1 通过概率推测</vt:lpstr>
      <vt:lpstr>PowerPoint 演示文稿</vt:lpstr>
      <vt:lpstr>3.1 通过概率推测</vt:lpstr>
      <vt:lpstr>3.1 通过概率推测</vt:lpstr>
      <vt:lpstr>PowerPoint 演示文稿</vt:lpstr>
      <vt:lpstr>3.1 通过概率推测</vt:lpstr>
      <vt:lpstr>3.1 通过概率推测</vt:lpstr>
      <vt:lpstr>3.1 通过概率推测</vt:lpstr>
      <vt:lpstr>PowerPoint 演示文稿</vt:lpstr>
      <vt:lpstr>3.2 掼蛋中的信息学</vt:lpstr>
      <vt:lpstr>3.0 掼蛋中的信息学</vt:lpstr>
      <vt:lpstr>3.0 掼蛋中的信息学</vt:lpstr>
      <vt:lpstr>掼蛋的初、中、高级打法</vt:lpstr>
      <vt:lpstr>5.1 初级篇</vt:lpstr>
      <vt:lpstr>5.2 中级篇</vt:lpstr>
      <vt:lpstr>5.3 高级篇</vt:lpstr>
      <vt:lpstr>5.4 开局、局中和残局及相应战略</vt:lpstr>
      <vt:lpstr>牌技与牌德</vt:lpstr>
      <vt:lpstr>6.1 牌技与牌德</vt:lpstr>
      <vt:lpstr>整理与总结</vt:lpstr>
      <vt:lpstr>7.1 掼蛋中的整理总结</vt:lpstr>
      <vt:lpstr>7.1 掼蛋中的整理总结</vt:lpstr>
      <vt:lpstr>7.1 掼蛋中的整理总结</vt:lpstr>
      <vt:lpstr>7.1 掼蛋中的整理总结</vt:lpstr>
      <vt:lpstr>7.1 掼蛋中的整理总结</vt:lpstr>
      <vt:lpstr>7.1 掼蛋中的整理总结</vt:lpstr>
      <vt:lpstr>7.1 掼蛋中的整理总结</vt:lpstr>
      <vt:lpstr>7.1 打牌中的迷糊与迷惘</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商业计划书</dc:title>
  <dc:creator>第一PPT</dc:creator>
  <cp:keywords>www.1ppt.com</cp:keywords>
  <dc:description>www.1ppt.com</dc:description>
  <cp:lastModifiedBy>Windows User</cp:lastModifiedBy>
  <cp:revision>473</cp:revision>
  <cp:lastPrinted>2023-05-09T07:20:29Z</cp:lastPrinted>
  <dcterms:created xsi:type="dcterms:W3CDTF">2020-06-09T08:26:45Z</dcterms:created>
  <dcterms:modified xsi:type="dcterms:W3CDTF">2024-04-17T03:29:25Z</dcterms:modified>
</cp:coreProperties>
</file>